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46"/>
  </p:notesMasterIdLst>
  <p:sldIdLst>
    <p:sldId id="256" r:id="rId2"/>
    <p:sldId id="257" r:id="rId3"/>
    <p:sldId id="295" r:id="rId4"/>
    <p:sldId id="298" r:id="rId5"/>
    <p:sldId id="284" r:id="rId6"/>
    <p:sldId id="263" r:id="rId7"/>
    <p:sldId id="276" r:id="rId8"/>
    <p:sldId id="277" r:id="rId9"/>
    <p:sldId id="275" r:id="rId10"/>
    <p:sldId id="270" r:id="rId11"/>
    <p:sldId id="262" r:id="rId12"/>
    <p:sldId id="288" r:id="rId13"/>
    <p:sldId id="272" r:id="rId14"/>
    <p:sldId id="299" r:id="rId15"/>
    <p:sldId id="300" r:id="rId16"/>
    <p:sldId id="301" r:id="rId17"/>
    <p:sldId id="302" r:id="rId18"/>
    <p:sldId id="303" r:id="rId19"/>
    <p:sldId id="304" r:id="rId20"/>
    <p:sldId id="305" r:id="rId21"/>
    <p:sldId id="306" r:id="rId22"/>
    <p:sldId id="307" r:id="rId23"/>
    <p:sldId id="308" r:id="rId24"/>
    <p:sldId id="309" r:id="rId25"/>
    <p:sldId id="310" r:id="rId26"/>
    <p:sldId id="311" r:id="rId27"/>
    <p:sldId id="312" r:id="rId28"/>
    <p:sldId id="313" r:id="rId29"/>
    <p:sldId id="269" r:id="rId30"/>
    <p:sldId id="314" r:id="rId31"/>
    <p:sldId id="265" r:id="rId32"/>
    <p:sldId id="268" r:id="rId33"/>
    <p:sldId id="266" r:id="rId34"/>
    <p:sldId id="315" r:id="rId35"/>
    <p:sldId id="317" r:id="rId36"/>
    <p:sldId id="316" r:id="rId37"/>
    <p:sldId id="267" r:id="rId38"/>
    <p:sldId id="318" r:id="rId39"/>
    <p:sldId id="258" r:id="rId40"/>
    <p:sldId id="319" r:id="rId41"/>
    <p:sldId id="320" r:id="rId42"/>
    <p:sldId id="321" r:id="rId43"/>
    <p:sldId id="259" r:id="rId44"/>
    <p:sldId id="260" r:id="rId45"/>
  </p:sldIdLst>
  <p:sldSz cx="9144000" cy="6858000" type="screen4x3"/>
  <p:notesSz cx="6954838" cy="93091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31CA7859-C9E3-4D7F-A838-81B7E84691F8}">
          <p14:sldIdLst>
            <p14:sldId id="256"/>
            <p14:sldId id="257"/>
            <p14:sldId id="295"/>
            <p14:sldId id="298"/>
            <p14:sldId id="284"/>
            <p14:sldId id="263"/>
            <p14:sldId id="276"/>
            <p14:sldId id="277"/>
            <p14:sldId id="275"/>
            <p14:sldId id="270"/>
            <p14:sldId id="262"/>
            <p14:sldId id="288"/>
            <p14:sldId id="272"/>
            <p14:sldId id="299"/>
            <p14:sldId id="300"/>
            <p14:sldId id="301"/>
            <p14:sldId id="302"/>
            <p14:sldId id="303"/>
            <p14:sldId id="304"/>
            <p14:sldId id="305"/>
            <p14:sldId id="306"/>
            <p14:sldId id="307"/>
            <p14:sldId id="308"/>
            <p14:sldId id="309"/>
            <p14:sldId id="310"/>
            <p14:sldId id="311"/>
            <p14:sldId id="312"/>
            <p14:sldId id="313"/>
            <p14:sldId id="269"/>
            <p14:sldId id="314"/>
            <p14:sldId id="265"/>
            <p14:sldId id="268"/>
            <p14:sldId id="266"/>
            <p14:sldId id="315"/>
            <p14:sldId id="317"/>
            <p14:sldId id="316"/>
            <p14:sldId id="267"/>
            <p14:sldId id="318"/>
            <p14:sldId id="258"/>
            <p14:sldId id="319"/>
            <p14:sldId id="320"/>
            <p14:sldId id="321"/>
            <p14:sldId id="259"/>
            <p14:sldId id="260"/>
          </p14:sldIdLst>
        </p14:section>
      </p14:sectionLst>
    </p:ex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34755159-AB4D-FBBC-B652-7F22A1403D08}" name="ashutosh satapathy" initials="as" userId="d35908ac1f75030c" providerId="Windows Live"/>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7621" autoAdjust="0"/>
    <p:restoredTop sz="94660"/>
  </p:normalViewPr>
  <p:slideViewPr>
    <p:cSldViewPr snapToGrid="0">
      <p:cViewPr varScale="1">
        <p:scale>
          <a:sx n="78" d="100"/>
          <a:sy n="78" d="100"/>
        </p:scale>
        <p:origin x="1502" y="62"/>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presProps" Target="presProps.xml"/><Relationship Id="rId50"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viewProps" Target="viewProps.xml"/><Relationship Id="rId8" Type="http://schemas.openxmlformats.org/officeDocument/2006/relationships/slide" Target="slides/slide7.xml"/><Relationship Id="rId51" Type="http://schemas.microsoft.com/office/2018/10/relationships/authors" Target="author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notesMaster" Target="notesMasters/notesMaster1.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13763" cy="467072"/>
          </a:xfrm>
          <a:prstGeom prst="rect">
            <a:avLst/>
          </a:prstGeom>
        </p:spPr>
        <p:txBody>
          <a:bodyPr vert="horz" lIns="92930" tIns="46465" rIns="92930" bIns="46465" rtlCol="0"/>
          <a:lstStyle>
            <a:lvl1pPr algn="l">
              <a:defRPr sz="1200"/>
            </a:lvl1pPr>
          </a:lstStyle>
          <a:p>
            <a:endParaRPr lang="en-US"/>
          </a:p>
        </p:txBody>
      </p:sp>
      <p:sp>
        <p:nvSpPr>
          <p:cNvPr id="3" name="Date Placeholder 2"/>
          <p:cNvSpPr>
            <a:spLocks noGrp="1"/>
          </p:cNvSpPr>
          <p:nvPr>
            <p:ph type="dt" idx="1"/>
          </p:nvPr>
        </p:nvSpPr>
        <p:spPr>
          <a:xfrm>
            <a:off x="3939466" y="0"/>
            <a:ext cx="3013763" cy="467072"/>
          </a:xfrm>
          <a:prstGeom prst="rect">
            <a:avLst/>
          </a:prstGeom>
        </p:spPr>
        <p:txBody>
          <a:bodyPr vert="horz" lIns="92930" tIns="46465" rIns="92930" bIns="46465" rtlCol="0"/>
          <a:lstStyle>
            <a:lvl1pPr algn="r">
              <a:defRPr sz="1200"/>
            </a:lvl1pPr>
          </a:lstStyle>
          <a:p>
            <a:fld id="{71B727E3-9991-4B0C-8167-23E35F3043C3}" type="datetimeFigureOut">
              <a:rPr lang="en-US" smtClean="0"/>
              <a:pPr/>
              <a:t>9/29/2026</a:t>
            </a:fld>
            <a:endParaRPr lang="en-US"/>
          </a:p>
        </p:txBody>
      </p:sp>
      <p:sp>
        <p:nvSpPr>
          <p:cNvPr id="4" name="Slide Image Placeholder 3"/>
          <p:cNvSpPr>
            <a:spLocks noGrp="1" noRot="1" noChangeAspect="1"/>
          </p:cNvSpPr>
          <p:nvPr>
            <p:ph type="sldImg" idx="2"/>
          </p:nvPr>
        </p:nvSpPr>
        <p:spPr>
          <a:xfrm>
            <a:off x="1384300" y="1163638"/>
            <a:ext cx="4186238" cy="3141662"/>
          </a:xfrm>
          <a:prstGeom prst="rect">
            <a:avLst/>
          </a:prstGeom>
          <a:noFill/>
          <a:ln w="12700">
            <a:solidFill>
              <a:prstClr val="black"/>
            </a:solidFill>
          </a:ln>
        </p:spPr>
        <p:txBody>
          <a:bodyPr vert="horz" lIns="92930" tIns="46465" rIns="92930" bIns="46465" rtlCol="0" anchor="ctr"/>
          <a:lstStyle/>
          <a:p>
            <a:endParaRPr lang="en-US"/>
          </a:p>
        </p:txBody>
      </p:sp>
      <p:sp>
        <p:nvSpPr>
          <p:cNvPr id="5" name="Notes Placeholder 4"/>
          <p:cNvSpPr>
            <a:spLocks noGrp="1"/>
          </p:cNvSpPr>
          <p:nvPr>
            <p:ph type="body" sz="quarter" idx="3"/>
          </p:nvPr>
        </p:nvSpPr>
        <p:spPr>
          <a:xfrm>
            <a:off x="695484" y="4480004"/>
            <a:ext cx="5563870" cy="3665458"/>
          </a:xfrm>
          <a:prstGeom prst="rect">
            <a:avLst/>
          </a:prstGeom>
        </p:spPr>
        <p:txBody>
          <a:bodyPr vert="horz" lIns="92930" tIns="46465" rIns="92930" bIns="46465"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842030"/>
            <a:ext cx="3013763" cy="467071"/>
          </a:xfrm>
          <a:prstGeom prst="rect">
            <a:avLst/>
          </a:prstGeom>
        </p:spPr>
        <p:txBody>
          <a:bodyPr vert="horz" lIns="92930" tIns="46465" rIns="92930" bIns="46465" rtlCol="0" anchor="b"/>
          <a:lstStyle>
            <a:lvl1pPr algn="l">
              <a:defRPr sz="1200"/>
            </a:lvl1pPr>
          </a:lstStyle>
          <a:p>
            <a:endParaRPr lang="en-US"/>
          </a:p>
        </p:txBody>
      </p:sp>
      <p:sp>
        <p:nvSpPr>
          <p:cNvPr id="7" name="Slide Number Placeholder 6"/>
          <p:cNvSpPr>
            <a:spLocks noGrp="1"/>
          </p:cNvSpPr>
          <p:nvPr>
            <p:ph type="sldNum" sz="quarter" idx="5"/>
          </p:nvPr>
        </p:nvSpPr>
        <p:spPr>
          <a:xfrm>
            <a:off x="3939466" y="8842030"/>
            <a:ext cx="3013763" cy="467071"/>
          </a:xfrm>
          <a:prstGeom prst="rect">
            <a:avLst/>
          </a:prstGeom>
        </p:spPr>
        <p:txBody>
          <a:bodyPr vert="horz" lIns="92930" tIns="46465" rIns="92930" bIns="46465" rtlCol="0" anchor="b"/>
          <a:lstStyle>
            <a:lvl1pPr algn="r">
              <a:defRPr sz="1200"/>
            </a:lvl1pPr>
          </a:lstStyle>
          <a:p>
            <a:fld id="{78B3C13F-8C70-4967-B114-F8782C3B91C0}" type="slidenum">
              <a:rPr lang="en-US" smtClean="0"/>
              <a:pPr/>
              <a:t>‹#›</a:t>
            </a:fld>
            <a:endParaRPr lang="en-US"/>
          </a:p>
        </p:txBody>
      </p:sp>
    </p:spTree>
    <p:extLst>
      <p:ext uri="{BB962C8B-B14F-4D97-AF65-F5344CB8AC3E}">
        <p14:creationId xmlns:p14="http://schemas.microsoft.com/office/powerpoint/2010/main" val="419601081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2137260-8792-8BED-6E79-52AB7ED248D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C16CEB8-9992-F3BC-7C8A-16F3CCB42F9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AD9E11A-A47D-CD00-9E79-42EF2CDEE3BF}"/>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2E1EBC43-CA18-276C-7CB2-28E990E34162}"/>
              </a:ext>
            </a:extLst>
          </p:cNvPr>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60247470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122363"/>
            <a:ext cx="7772400" cy="2387600"/>
          </a:xfr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6C6A3A6F-B049-4A3C-A314-6C5DC6ABA413}" type="datetime1">
              <a:rPr lang="en-US" smtClean="0"/>
              <a:pPr/>
              <a:t>9/29/2026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90542D4-23E8-43E0-BA8E-C972DA1A005D}" type="slidenum">
              <a:rPr lang="en-US" smtClean="0"/>
              <a:pPr/>
              <a:t>‹#›</a:t>
            </a:fld>
            <a:endParaRPr lang="en-US"/>
          </a:p>
        </p:txBody>
      </p:sp>
    </p:spTree>
    <p:extLst>
      <p:ext uri="{BB962C8B-B14F-4D97-AF65-F5344CB8AC3E}">
        <p14:creationId xmlns:p14="http://schemas.microsoft.com/office/powerpoint/2010/main" val="421768415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80A0579-E4EA-4069-8E9E-A5661942CE83}" type="datetime1">
              <a:rPr lang="en-US" smtClean="0"/>
              <a:pPr/>
              <a:t>9/29/2026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90542D4-23E8-43E0-BA8E-C972DA1A005D}" type="slidenum">
              <a:rPr lang="en-US" smtClean="0"/>
              <a:pPr/>
              <a:t>‹#›</a:t>
            </a:fld>
            <a:endParaRPr lang="en-US"/>
          </a:p>
        </p:txBody>
      </p:sp>
    </p:spTree>
    <p:extLst>
      <p:ext uri="{BB962C8B-B14F-4D97-AF65-F5344CB8AC3E}">
        <p14:creationId xmlns:p14="http://schemas.microsoft.com/office/powerpoint/2010/main" val="320354683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39"/>
            <a:ext cx="78867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623888" y="4589464"/>
            <a:ext cx="7886700" cy="1500187"/>
          </a:xfrm>
        </p:spPr>
        <p:txBody>
          <a:bodyPr/>
          <a:lstStyle>
            <a:lvl1pPr marL="0" indent="0">
              <a:buNone/>
              <a:defRPr sz="24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DCBAC4A0-A0AB-494A-9349-6940CE23F0BB}" type="datetime1">
              <a:rPr lang="en-US" smtClean="0"/>
              <a:pPr/>
              <a:t>9/29/2026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90542D4-23E8-43E0-BA8E-C972DA1A005D}" type="slidenum">
              <a:rPr lang="en-US" smtClean="0"/>
              <a:pPr/>
              <a:t>‹#›</a:t>
            </a:fld>
            <a:endParaRPr lang="en-US"/>
          </a:p>
        </p:txBody>
      </p:sp>
    </p:spTree>
    <p:extLst>
      <p:ext uri="{BB962C8B-B14F-4D97-AF65-F5344CB8AC3E}">
        <p14:creationId xmlns:p14="http://schemas.microsoft.com/office/powerpoint/2010/main" val="252234969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28650" y="1825625"/>
            <a:ext cx="38862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629150" y="1825625"/>
            <a:ext cx="38862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8409F13F-E3C0-47E7-81E7-2D67CDFD97CE}" type="datetime1">
              <a:rPr lang="en-US" smtClean="0"/>
              <a:pPr/>
              <a:t>9/29/2026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90542D4-23E8-43E0-BA8E-C972DA1A005D}" type="slidenum">
              <a:rPr lang="en-US" smtClean="0"/>
              <a:pPr/>
              <a:t>‹#›</a:t>
            </a:fld>
            <a:endParaRPr lang="en-US"/>
          </a:p>
        </p:txBody>
      </p:sp>
    </p:spTree>
    <p:extLst>
      <p:ext uri="{BB962C8B-B14F-4D97-AF65-F5344CB8AC3E}">
        <p14:creationId xmlns:p14="http://schemas.microsoft.com/office/powerpoint/2010/main" val="225833656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29841" y="365126"/>
            <a:ext cx="78867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629842" y="1681163"/>
            <a:ext cx="3868340"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29842" y="2505075"/>
            <a:ext cx="3868340"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629150" y="1681163"/>
            <a:ext cx="3887391"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29150" y="2505075"/>
            <a:ext cx="3887391"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E2CB4F48-C21C-4E8E-AA43-BB8E3BD2F306}" type="datetime1">
              <a:rPr lang="en-US" smtClean="0"/>
              <a:pPr/>
              <a:t>9/29/2026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D90542D4-23E8-43E0-BA8E-C972DA1A005D}" type="slidenum">
              <a:rPr lang="en-US" smtClean="0"/>
              <a:pPr/>
              <a:t>‹#›</a:t>
            </a:fld>
            <a:endParaRPr lang="en-US"/>
          </a:p>
        </p:txBody>
      </p:sp>
    </p:spTree>
    <p:extLst>
      <p:ext uri="{BB962C8B-B14F-4D97-AF65-F5344CB8AC3E}">
        <p14:creationId xmlns:p14="http://schemas.microsoft.com/office/powerpoint/2010/main" val="53310015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9990D7BC-B940-4993-A11F-8FBB77BA204E}" type="datetime1">
              <a:rPr lang="en-US" smtClean="0"/>
              <a:pPr/>
              <a:t>9/29/2026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D90542D4-23E8-43E0-BA8E-C972DA1A005D}" type="slidenum">
              <a:rPr lang="en-US" smtClean="0"/>
              <a:pPr/>
              <a:t>‹#›</a:t>
            </a:fld>
            <a:endParaRPr lang="en-US"/>
          </a:p>
        </p:txBody>
      </p:sp>
    </p:spTree>
    <p:extLst>
      <p:ext uri="{BB962C8B-B14F-4D97-AF65-F5344CB8AC3E}">
        <p14:creationId xmlns:p14="http://schemas.microsoft.com/office/powerpoint/2010/main" val="398187487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F6094854-92A4-4BB6-9F1F-69BBC71788FF}" type="datetime1">
              <a:rPr lang="en-US" smtClean="0"/>
              <a:pPr/>
              <a:t>9/29/2026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D90542D4-23E8-43E0-BA8E-C972DA1A005D}" type="slidenum">
              <a:rPr lang="en-US" smtClean="0"/>
              <a:pPr/>
              <a:t>‹#›</a:t>
            </a:fld>
            <a:endParaRPr lang="en-US"/>
          </a:p>
        </p:txBody>
      </p:sp>
    </p:spTree>
    <p:extLst>
      <p:ext uri="{BB962C8B-B14F-4D97-AF65-F5344CB8AC3E}">
        <p14:creationId xmlns:p14="http://schemas.microsoft.com/office/powerpoint/2010/main" val="184454669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3887391" y="987426"/>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8CC6CBDC-D391-4FA9-8D6F-9BC119CA0B97}" type="datetime1">
              <a:rPr lang="en-US" smtClean="0"/>
              <a:pPr/>
              <a:t>9/29/2026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90542D4-23E8-43E0-BA8E-C972DA1A005D}" type="slidenum">
              <a:rPr lang="en-US" smtClean="0"/>
              <a:pPr/>
              <a:t>‹#›</a:t>
            </a:fld>
            <a:endParaRPr lang="en-US"/>
          </a:p>
        </p:txBody>
      </p:sp>
    </p:spTree>
    <p:extLst>
      <p:ext uri="{BB962C8B-B14F-4D97-AF65-F5344CB8AC3E}">
        <p14:creationId xmlns:p14="http://schemas.microsoft.com/office/powerpoint/2010/main" val="49360281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3887391" y="987426"/>
            <a:ext cx="462915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129F212E-DE5B-4D49-B277-6F5AF26D6AF0}" type="datetime1">
              <a:rPr lang="en-US" smtClean="0"/>
              <a:pPr/>
              <a:t>9/29/2026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90542D4-23E8-43E0-BA8E-C972DA1A005D}" type="slidenum">
              <a:rPr lang="en-US" smtClean="0"/>
              <a:pPr/>
              <a:t>‹#›</a:t>
            </a:fld>
            <a:endParaRPr lang="en-US"/>
          </a:p>
        </p:txBody>
      </p:sp>
    </p:spTree>
    <p:extLst>
      <p:ext uri="{BB962C8B-B14F-4D97-AF65-F5344CB8AC3E}">
        <p14:creationId xmlns:p14="http://schemas.microsoft.com/office/powerpoint/2010/main" val="173135174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E0F1400-0AF8-4881-9500-1BCE077EF02C}" type="datetime1">
              <a:rPr lang="en-US" smtClean="0"/>
              <a:pPr/>
              <a:t>9/29/2026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90542D4-23E8-43E0-BA8E-C972DA1A005D}" type="slidenum">
              <a:rPr lang="en-US" smtClean="0"/>
              <a:pPr/>
              <a:t>‹#›</a:t>
            </a:fld>
            <a:endParaRPr lang="en-US"/>
          </a:p>
        </p:txBody>
      </p:sp>
    </p:spTree>
    <p:extLst>
      <p:ext uri="{BB962C8B-B14F-4D97-AF65-F5344CB8AC3E}">
        <p14:creationId xmlns:p14="http://schemas.microsoft.com/office/powerpoint/2010/main" val="416550429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365125"/>
            <a:ext cx="1971675"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628650" y="365125"/>
            <a:ext cx="5800725"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B520AC9-8025-43C3-9D7A-B30453D05E68}" type="datetime1">
              <a:rPr lang="en-US" smtClean="0"/>
              <a:pPr/>
              <a:t>9/29/2026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90542D4-23E8-43E0-BA8E-C972DA1A005D}" type="slidenum">
              <a:rPr lang="en-US" smtClean="0"/>
              <a:pPr/>
              <a:t>‹#›</a:t>
            </a:fld>
            <a:endParaRPr lang="en-US"/>
          </a:p>
        </p:txBody>
      </p:sp>
    </p:spTree>
    <p:extLst>
      <p:ext uri="{BB962C8B-B14F-4D97-AF65-F5344CB8AC3E}">
        <p14:creationId xmlns:p14="http://schemas.microsoft.com/office/powerpoint/2010/main" val="271631567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cSld name="DEFAULT">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45270548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0" y="365126"/>
            <a:ext cx="78867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628650" y="6356351"/>
            <a:ext cx="20574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05C9A0F-356B-4543-BBC4-6729314C25D3}" type="datetime1">
              <a:rPr lang="en-US" smtClean="0"/>
              <a:pPr/>
              <a:t>9/29/2026</a:t>
            </a:fld>
            <a:endParaRPr lang="en-US"/>
          </a:p>
        </p:txBody>
      </p:sp>
      <p:sp>
        <p:nvSpPr>
          <p:cNvPr id="5" name="Footer Placeholder 4"/>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457950" y="6356351"/>
            <a:ext cx="20574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90542D4-23E8-43E0-BA8E-C972DA1A005D}" type="slidenum">
              <a:rPr lang="en-US" smtClean="0"/>
              <a:pPr/>
              <a:t>‹#›</a:t>
            </a:fld>
            <a:endParaRPr lang="en-US"/>
          </a:p>
        </p:txBody>
      </p:sp>
    </p:spTree>
    <p:extLst>
      <p:ext uri="{BB962C8B-B14F-4D97-AF65-F5344CB8AC3E}">
        <p14:creationId xmlns:p14="http://schemas.microsoft.com/office/powerpoint/2010/main" val="2031720640"/>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2.xml"/></Relationships>
</file>

<file path=ppt/slides/_rels/slide3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2.xml"/></Relationships>
</file>

<file path=ppt/slides/_rels/slide3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2.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2.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2.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2.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2.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1C46DB-D9D6-99F1-B8FD-FBA99021C9C4}"/>
              </a:ext>
            </a:extLst>
          </p:cNvPr>
          <p:cNvSpPr>
            <a:spLocks noGrp="1"/>
          </p:cNvSpPr>
          <p:nvPr>
            <p:ph type="ctrTitle"/>
          </p:nvPr>
        </p:nvSpPr>
        <p:spPr>
          <a:xfrm>
            <a:off x="583802" y="1335137"/>
            <a:ext cx="7772400" cy="1506402"/>
          </a:xfrm>
        </p:spPr>
        <p:txBody>
          <a:bodyPr>
            <a:noAutofit/>
          </a:bodyPr>
          <a:lstStyle/>
          <a:p>
            <a:r>
              <a:rPr lang="en-IN" sz="3200" b="1" dirty="0">
                <a:latin typeface="Calisto MT" panose="02040603050505030304" pitchFamily="18" charset="0"/>
              </a:rPr>
              <a:t>Abstention-Aware Plant Disease Recognition Using Diverse Deep Ensembles and Agentic Evidence Retrieval</a:t>
            </a:r>
            <a:endParaRPr lang="en-IN" sz="3200" dirty="0">
              <a:latin typeface="Calisto MT" panose="02040603050505030304" pitchFamily="18" charset="0"/>
            </a:endParaRPr>
          </a:p>
        </p:txBody>
      </p:sp>
      <p:sp>
        <p:nvSpPr>
          <p:cNvPr id="3" name="Subtitle 2">
            <a:extLst>
              <a:ext uri="{FF2B5EF4-FFF2-40B4-BE49-F238E27FC236}">
                <a16:creationId xmlns:a16="http://schemas.microsoft.com/office/drawing/2014/main" id="{65BD8221-192B-76DF-DF92-A9F15F83713B}"/>
              </a:ext>
            </a:extLst>
          </p:cNvPr>
          <p:cNvSpPr>
            <a:spLocks noGrp="1"/>
          </p:cNvSpPr>
          <p:nvPr>
            <p:ph type="subTitle" idx="1"/>
          </p:nvPr>
        </p:nvSpPr>
        <p:spPr>
          <a:xfrm>
            <a:off x="583802" y="4402356"/>
            <a:ext cx="4178431" cy="1518782"/>
          </a:xfrm>
        </p:spPr>
        <p:txBody>
          <a:bodyPr>
            <a:normAutofit fontScale="92500" lnSpcReduction="10000"/>
          </a:bodyPr>
          <a:lstStyle/>
          <a:p>
            <a:pPr>
              <a:lnSpc>
                <a:spcPct val="110000"/>
              </a:lnSpc>
            </a:pPr>
            <a:r>
              <a:rPr lang="en-US" sz="2000" b="1" dirty="0">
                <a:solidFill>
                  <a:schemeClr val="accent2">
                    <a:lumMod val="75000"/>
                  </a:schemeClr>
                </a:solidFill>
                <a:latin typeface="Calisto MT" panose="02040603050505030304" pitchFamily="18" charset="0"/>
              </a:rPr>
              <a:t>Batch Members</a:t>
            </a:r>
          </a:p>
          <a:p>
            <a:pPr>
              <a:lnSpc>
                <a:spcPct val="110000"/>
              </a:lnSpc>
            </a:pPr>
            <a:r>
              <a:rPr lang="en-US" sz="2000" b="1" dirty="0">
                <a:latin typeface="Calisto MT" panose="02040603050505030304" pitchFamily="18" charset="0"/>
              </a:rPr>
              <a:t>PENUGONDA SANTHOSH KUMAR - (238W1A4253)</a:t>
            </a:r>
          </a:p>
          <a:p>
            <a:pPr>
              <a:lnSpc>
                <a:spcPct val="110000"/>
              </a:lnSpc>
            </a:pPr>
            <a:r>
              <a:rPr lang="en-US" sz="2000" b="1" dirty="0">
                <a:latin typeface="Calisto MT" panose="02040603050505030304" pitchFamily="18" charset="0"/>
              </a:rPr>
              <a:t>SHAIK IRSHAD - (238W1A4256)</a:t>
            </a:r>
            <a:endParaRPr lang="en-US" sz="1000" dirty="0"/>
          </a:p>
        </p:txBody>
      </p:sp>
      <p:sp>
        <p:nvSpPr>
          <p:cNvPr id="4" name="Subtitle 2">
            <a:extLst>
              <a:ext uri="{FF2B5EF4-FFF2-40B4-BE49-F238E27FC236}">
                <a16:creationId xmlns:a16="http://schemas.microsoft.com/office/drawing/2014/main" id="{7E82CFBC-36EF-B095-71E8-4AA9D64C0EFE}"/>
              </a:ext>
            </a:extLst>
          </p:cNvPr>
          <p:cNvSpPr txBox="1">
            <a:spLocks/>
          </p:cNvSpPr>
          <p:nvPr/>
        </p:nvSpPr>
        <p:spPr>
          <a:xfrm>
            <a:off x="4826825" y="4493796"/>
            <a:ext cx="3529377" cy="1335902"/>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nSpc>
                <a:spcPct val="110000"/>
              </a:lnSpc>
            </a:pPr>
            <a:r>
              <a:rPr lang="en-US" sz="2000" b="1" dirty="0">
                <a:solidFill>
                  <a:schemeClr val="accent2">
                    <a:lumMod val="75000"/>
                  </a:schemeClr>
                </a:solidFill>
                <a:latin typeface="Calisto MT" panose="02040603050505030304" pitchFamily="18" charset="0"/>
              </a:rPr>
              <a:t>Under the Guidance of</a:t>
            </a:r>
          </a:p>
          <a:p>
            <a:r>
              <a:rPr lang="en-US" sz="1900" b="1" dirty="0">
                <a:latin typeface="Calisto MT" panose="02040603050505030304" pitchFamily="18" charset="0"/>
              </a:rPr>
              <a:t>Dr. P. SUKANYA</a:t>
            </a:r>
          </a:p>
          <a:p>
            <a:r>
              <a:rPr lang="en-US" sz="1900" b="1" dirty="0">
                <a:latin typeface="Calisto MT" panose="02040603050505030304" pitchFamily="18" charset="0"/>
              </a:rPr>
              <a:t>Senior Assistant Professor</a:t>
            </a:r>
            <a:endParaRPr lang="en-US" dirty="0"/>
          </a:p>
          <a:p>
            <a:endParaRPr lang="en-US" dirty="0"/>
          </a:p>
        </p:txBody>
      </p:sp>
      <p:sp>
        <p:nvSpPr>
          <p:cNvPr id="6" name="Title 1">
            <a:extLst>
              <a:ext uri="{FF2B5EF4-FFF2-40B4-BE49-F238E27FC236}">
                <a16:creationId xmlns:a16="http://schemas.microsoft.com/office/drawing/2014/main" id="{46D2FCE7-A20E-157E-20FA-2B09A5121833}"/>
              </a:ext>
            </a:extLst>
          </p:cNvPr>
          <p:cNvSpPr txBox="1">
            <a:spLocks/>
          </p:cNvSpPr>
          <p:nvPr/>
        </p:nvSpPr>
        <p:spPr>
          <a:xfrm>
            <a:off x="685800" y="2990196"/>
            <a:ext cx="7772400" cy="1263503"/>
          </a:xfrm>
          <a:prstGeom prst="rect">
            <a:avLst/>
          </a:prstGeom>
        </p:spPr>
        <p:txBody>
          <a:bodyPr vert="horz" lIns="91440" tIns="45720" rIns="91440" bIns="45720" rtlCol="0" anchor="b">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nSpc>
                <a:spcPct val="150000"/>
              </a:lnSpc>
            </a:pPr>
            <a:r>
              <a:rPr lang="en-US" sz="2000" b="1" dirty="0">
                <a:solidFill>
                  <a:schemeClr val="tx2">
                    <a:lumMod val="50000"/>
                  </a:schemeClr>
                </a:solidFill>
                <a:latin typeface="Calisto MT" panose="02040603050505030304" pitchFamily="18" charset="0"/>
                <a:cs typeface="JasmineUPC" panose="02020603050405020304" pitchFamily="18" charset="-34"/>
              </a:rPr>
              <a:t>23CS7552: B. Tech Mini Project (0</a:t>
            </a:r>
            <a:r>
              <a:rPr lang="en-US" sz="2000" b="1" baseline="30000" dirty="0">
                <a:solidFill>
                  <a:schemeClr val="tx2">
                    <a:lumMod val="50000"/>
                  </a:schemeClr>
                </a:solidFill>
                <a:latin typeface="Calisto MT" panose="02040603050505030304" pitchFamily="18" charset="0"/>
                <a:cs typeface="JasmineUPC" panose="02020603050405020304" pitchFamily="18" charset="-34"/>
              </a:rPr>
              <a:t>th </a:t>
            </a:r>
            <a:r>
              <a:rPr lang="en-US" sz="2000" b="1" dirty="0">
                <a:solidFill>
                  <a:schemeClr val="tx2">
                    <a:lumMod val="50000"/>
                  </a:schemeClr>
                </a:solidFill>
                <a:latin typeface="Calisto MT" panose="02040603050505030304" pitchFamily="18" charset="0"/>
                <a:cs typeface="JasmineUPC" panose="02020603050405020304" pitchFamily="18" charset="-34"/>
              </a:rPr>
              <a:t>Review)</a:t>
            </a:r>
          </a:p>
          <a:p>
            <a:pPr>
              <a:lnSpc>
                <a:spcPct val="150000"/>
              </a:lnSpc>
            </a:pPr>
            <a:r>
              <a:rPr lang="en-US" sz="1800" b="1" dirty="0">
                <a:solidFill>
                  <a:schemeClr val="tx2">
                    <a:lumMod val="50000"/>
                  </a:schemeClr>
                </a:solidFill>
                <a:latin typeface="Calisto MT" panose="02040603050505030304" pitchFamily="18" charset="0"/>
                <a:cs typeface="JasmineUPC" panose="02020603050405020304" pitchFamily="18" charset="-34"/>
              </a:rPr>
              <a:t>August 18, 2026</a:t>
            </a:r>
          </a:p>
          <a:p>
            <a:pPr>
              <a:lnSpc>
                <a:spcPct val="150000"/>
              </a:lnSpc>
            </a:pPr>
            <a:r>
              <a:rPr lang="en-US" sz="1800" b="1" dirty="0">
                <a:solidFill>
                  <a:schemeClr val="tx2">
                    <a:lumMod val="50000"/>
                  </a:schemeClr>
                </a:solidFill>
                <a:latin typeface="Calisto MT" panose="02040603050505030304" pitchFamily="18" charset="0"/>
                <a:cs typeface="JasmineUPC" panose="02020603050405020304" pitchFamily="18" charset="-34"/>
              </a:rPr>
              <a:t>Batch No: 11</a:t>
            </a:r>
          </a:p>
        </p:txBody>
      </p:sp>
      <p:sp>
        <p:nvSpPr>
          <p:cNvPr id="7" name="Title 1">
            <a:extLst>
              <a:ext uri="{FF2B5EF4-FFF2-40B4-BE49-F238E27FC236}">
                <a16:creationId xmlns:a16="http://schemas.microsoft.com/office/drawing/2014/main" id="{F0E7157D-0ED4-652A-8A59-DCC1031DA9E7}"/>
              </a:ext>
            </a:extLst>
          </p:cNvPr>
          <p:cNvSpPr txBox="1">
            <a:spLocks/>
          </p:cNvSpPr>
          <p:nvPr/>
        </p:nvSpPr>
        <p:spPr>
          <a:xfrm>
            <a:off x="906670" y="60484"/>
            <a:ext cx="7126664" cy="1125996"/>
          </a:xfrm>
          <a:prstGeom prst="rect">
            <a:avLst/>
          </a:prstGeom>
        </p:spPr>
        <p:txBody>
          <a:bodyPr vert="horz" lIns="91440" tIns="45720" rIns="91440" bIns="45720" rtlCol="0" anchor="b">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US" sz="2000" b="1" dirty="0">
                <a:latin typeface="Calisto MT" panose="02040603050505030304" pitchFamily="18" charset="0"/>
                <a:cs typeface="JasmineUPC" panose="02020603050405020304" pitchFamily="18" charset="-34"/>
              </a:rPr>
              <a:t>VR SIDDHARTHA ENGINEERING COLLEGE, VIJAYAWADA</a:t>
            </a:r>
          </a:p>
          <a:p>
            <a:r>
              <a:rPr lang="en-US" sz="2000" b="1" dirty="0">
                <a:latin typeface="Calisto MT" panose="02040603050505030304" pitchFamily="18" charset="0"/>
                <a:cs typeface="JasmineUPC" panose="02020603050405020304" pitchFamily="18" charset="-34"/>
              </a:rPr>
              <a:t>Department of Computer Science and Engineering</a:t>
            </a:r>
          </a:p>
        </p:txBody>
      </p:sp>
      <p:pic>
        <p:nvPicPr>
          <p:cNvPr id="11" name="Picture 10" descr="A picture containing diagram&#10;&#10;Description automatically generated">
            <a:extLst>
              <a:ext uri="{FF2B5EF4-FFF2-40B4-BE49-F238E27FC236}">
                <a16:creationId xmlns:a16="http://schemas.microsoft.com/office/drawing/2014/main" id="{2F0778DE-E80B-339F-BA7E-B056A92517C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72778" y="161404"/>
            <a:ext cx="950349" cy="1118057"/>
          </a:xfrm>
          <a:prstGeom prst="rect">
            <a:avLst/>
          </a:prstGeom>
        </p:spPr>
      </p:pic>
      <p:pic>
        <p:nvPicPr>
          <p:cNvPr id="13" name="Picture 12" descr="Logo&#10;&#10;Description automatically generated">
            <a:extLst>
              <a:ext uri="{FF2B5EF4-FFF2-40B4-BE49-F238E27FC236}">
                <a16:creationId xmlns:a16="http://schemas.microsoft.com/office/drawing/2014/main" id="{1D9962D5-2778-4C7F-FC4C-2CB25B3178F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678301" y="153465"/>
            <a:ext cx="1118057" cy="1118057"/>
          </a:xfrm>
          <a:prstGeom prst="rect">
            <a:avLst/>
          </a:prstGeom>
        </p:spPr>
      </p:pic>
      <p:sp>
        <p:nvSpPr>
          <p:cNvPr id="16" name="Slide Number Placeholder 15">
            <a:extLst>
              <a:ext uri="{FF2B5EF4-FFF2-40B4-BE49-F238E27FC236}">
                <a16:creationId xmlns:a16="http://schemas.microsoft.com/office/drawing/2014/main" id="{6C680849-8AC5-7306-7F26-02AD56BFE4F8}"/>
              </a:ext>
            </a:extLst>
          </p:cNvPr>
          <p:cNvSpPr>
            <a:spLocks noGrp="1"/>
          </p:cNvSpPr>
          <p:nvPr>
            <p:ph type="sldNum" sz="quarter" idx="12"/>
          </p:nvPr>
        </p:nvSpPr>
        <p:spPr/>
        <p:txBody>
          <a:bodyPr/>
          <a:lstStyle/>
          <a:p>
            <a:fld id="{D90542D4-23E8-43E0-BA8E-C972DA1A005D}" type="slidenum">
              <a:rPr lang="en-US" smtClean="0"/>
              <a:pPr/>
              <a:t>1</a:t>
            </a:fld>
            <a:endParaRPr lang="en-US" dirty="0"/>
          </a:p>
        </p:txBody>
      </p:sp>
    </p:spTree>
    <p:extLst>
      <p:ext uri="{BB962C8B-B14F-4D97-AF65-F5344CB8AC3E}">
        <p14:creationId xmlns:p14="http://schemas.microsoft.com/office/powerpoint/2010/main" val="359263769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738971-B764-E045-F92B-01E3322A0123}"/>
              </a:ext>
            </a:extLst>
          </p:cNvPr>
          <p:cNvSpPr>
            <a:spLocks noGrp="1"/>
          </p:cNvSpPr>
          <p:nvPr>
            <p:ph type="title"/>
          </p:nvPr>
        </p:nvSpPr>
        <p:spPr>
          <a:xfrm>
            <a:off x="628650" y="214298"/>
            <a:ext cx="7886700" cy="709530"/>
          </a:xfrm>
        </p:spPr>
        <p:txBody>
          <a:bodyPr/>
          <a:lstStyle/>
          <a:p>
            <a:r>
              <a:rPr lang="en-US" sz="3600" b="1" dirty="0">
                <a:solidFill>
                  <a:schemeClr val="accent2">
                    <a:lumMod val="50000"/>
                  </a:schemeClr>
                </a:solidFill>
                <a:latin typeface="Calisto MT" panose="02040603050505030304" pitchFamily="18" charset="0"/>
              </a:rPr>
              <a:t>Abstract</a:t>
            </a:r>
            <a:endParaRPr lang="en-US" b="1" dirty="0">
              <a:solidFill>
                <a:schemeClr val="accent2">
                  <a:lumMod val="50000"/>
                </a:schemeClr>
              </a:solidFill>
              <a:latin typeface="Calisto MT" panose="02040603050505030304" pitchFamily="18" charset="0"/>
            </a:endParaRPr>
          </a:p>
        </p:txBody>
      </p:sp>
      <p:sp>
        <p:nvSpPr>
          <p:cNvPr id="3" name="Content Placeholder 2">
            <a:extLst>
              <a:ext uri="{FF2B5EF4-FFF2-40B4-BE49-F238E27FC236}">
                <a16:creationId xmlns:a16="http://schemas.microsoft.com/office/drawing/2014/main" id="{E5D502BE-F636-7D1D-85F0-BAFFD3E05E1C}"/>
              </a:ext>
            </a:extLst>
          </p:cNvPr>
          <p:cNvSpPr>
            <a:spLocks noGrp="1"/>
          </p:cNvSpPr>
          <p:nvPr>
            <p:ph idx="1"/>
          </p:nvPr>
        </p:nvSpPr>
        <p:spPr>
          <a:xfrm>
            <a:off x="456056" y="1013522"/>
            <a:ext cx="8231887" cy="5253135"/>
          </a:xfrm>
        </p:spPr>
        <p:txBody>
          <a:bodyPr>
            <a:normAutofit/>
          </a:bodyPr>
          <a:lstStyle/>
          <a:p>
            <a:pPr marL="0" indent="0" algn="just">
              <a:buNone/>
            </a:pPr>
            <a:r>
              <a:rPr lang="en-IN" sz="1800" dirty="0">
                <a:latin typeface="Calisto MT" panose="02040603050505030304" pitchFamily="18" charset="0"/>
              </a:rPr>
              <a:t>Plant diseases can substantially reduce crop productivity, particularly when farmers lack timely access to agricultural experts. Although deep-learning systems have achieved high classification accuracy, many are trained and evaluated on controlled images and may produce overconfident predictions when exposed to field photographs, unfamiliar crops, poor lighting, or unseen symptoms. This project proposes a lightweight, evidence-grounded plant-disease screening system that combines diverse deep-learning classifiers with an agentic orchestration layer. Multiple independently trained models analyse the submitted leaf image. A </a:t>
            </a:r>
            <a:r>
              <a:rPr lang="en-IN" sz="1800" dirty="0" err="1">
                <a:latin typeface="Calisto MT" panose="02040603050505030304" pitchFamily="18" charset="0"/>
              </a:rPr>
              <a:t>LangGraph</a:t>
            </a:r>
            <a:r>
              <a:rPr lang="en-IN" sz="1800" dirty="0">
                <a:latin typeface="Calisto MT" panose="02040603050505030304" pitchFamily="18" charset="0"/>
              </a:rPr>
              <a:t> workflow aggregates calibrated predictions, measures model agreement, checks image quality and out-of-distribution indicators, and decides whether to provide a disease prediction or abstain. For reliable cases, an evidence agent retrieves relevant agricultural literature and produces a structured explanation covering symptoms, likely causes, preventive practices, and safe next steps with source-linked citations. For uncertain cases, the system clearly reports disagreement and recommends expert verification rather than forcing a diagnosis. Evaluation will compare individual models, majority voting, confidence-based selection, and the proposed abstention mechanism on laboratory and independent field datasets. A </a:t>
            </a:r>
            <a:r>
              <a:rPr lang="en-IN" sz="1800" dirty="0" err="1">
                <a:latin typeface="Calisto MT" panose="02040603050505030304" pitchFamily="18" charset="0"/>
              </a:rPr>
              <a:t>Streamlit</a:t>
            </a:r>
            <a:r>
              <a:rPr lang="en-IN" sz="1800" dirty="0">
                <a:latin typeface="Calisto MT" panose="02040603050505030304" pitchFamily="18" charset="0"/>
              </a:rPr>
              <a:t> interface will demonstrate accessible deployment for farmers, students, and agricultural extension workers.</a:t>
            </a:r>
            <a:endParaRPr lang="en-US" sz="1800" b="1" dirty="0">
              <a:latin typeface="Calisto MT" panose="02040603050505030304" pitchFamily="18" charset="0"/>
            </a:endParaRPr>
          </a:p>
        </p:txBody>
      </p:sp>
      <p:sp>
        <p:nvSpPr>
          <p:cNvPr id="5" name="Slide Number Placeholder 4">
            <a:extLst>
              <a:ext uri="{FF2B5EF4-FFF2-40B4-BE49-F238E27FC236}">
                <a16:creationId xmlns:a16="http://schemas.microsoft.com/office/drawing/2014/main" id="{02E3089C-7D4B-76D0-EDD6-D1FEEE855B77}"/>
              </a:ext>
            </a:extLst>
          </p:cNvPr>
          <p:cNvSpPr>
            <a:spLocks noGrp="1"/>
          </p:cNvSpPr>
          <p:nvPr>
            <p:ph type="sldNum" sz="quarter" idx="12"/>
          </p:nvPr>
        </p:nvSpPr>
        <p:spPr/>
        <p:txBody>
          <a:bodyPr/>
          <a:lstStyle/>
          <a:p>
            <a:fld id="{D90542D4-23E8-43E0-BA8E-C972DA1A005D}" type="slidenum">
              <a:rPr lang="en-US" sz="1400" b="1" smtClean="0">
                <a:solidFill>
                  <a:schemeClr val="tx1"/>
                </a:solidFill>
                <a:latin typeface="Calisto MT" panose="02040603050505030304" pitchFamily="18" charset="0"/>
              </a:rPr>
              <a:pPr/>
              <a:t>2</a:t>
            </a:fld>
            <a:endParaRPr lang="en-US" sz="1400" b="1" dirty="0">
              <a:solidFill>
                <a:schemeClr val="tx1"/>
              </a:solidFill>
              <a:latin typeface="Calisto MT" panose="02040603050505030304" pitchFamily="18" charset="0"/>
            </a:endParaRPr>
          </a:p>
        </p:txBody>
      </p:sp>
    </p:spTree>
    <p:extLst>
      <p:ext uri="{BB962C8B-B14F-4D97-AF65-F5344CB8AC3E}">
        <p14:creationId xmlns:p14="http://schemas.microsoft.com/office/powerpoint/2010/main" val="377568006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64563B-FAF7-5514-5D27-315DEAC98CD5}"/>
              </a:ext>
            </a:extLst>
          </p:cNvPr>
          <p:cNvSpPr>
            <a:spLocks noGrp="1"/>
          </p:cNvSpPr>
          <p:nvPr>
            <p:ph type="title"/>
          </p:nvPr>
        </p:nvSpPr>
        <p:spPr>
          <a:xfrm>
            <a:off x="628650" y="365127"/>
            <a:ext cx="7886700" cy="716422"/>
          </a:xfrm>
        </p:spPr>
        <p:txBody>
          <a:bodyPr/>
          <a:lstStyle/>
          <a:p>
            <a:r>
              <a:rPr lang="en-US" b="1" dirty="0">
                <a:solidFill>
                  <a:schemeClr val="accent2">
                    <a:lumMod val="50000"/>
                  </a:schemeClr>
                </a:solidFill>
                <a:latin typeface="Calisto MT" panose="02040603050505030304" pitchFamily="18" charset="0"/>
              </a:rPr>
              <a:t>Keywords</a:t>
            </a:r>
            <a:r>
              <a:rPr lang="en-US" dirty="0"/>
              <a:t>:</a:t>
            </a:r>
            <a:endParaRPr lang="en-IN" dirty="0"/>
          </a:p>
        </p:txBody>
      </p:sp>
      <p:sp>
        <p:nvSpPr>
          <p:cNvPr id="3" name="Content Placeholder 2">
            <a:extLst>
              <a:ext uri="{FF2B5EF4-FFF2-40B4-BE49-F238E27FC236}">
                <a16:creationId xmlns:a16="http://schemas.microsoft.com/office/drawing/2014/main" id="{53651549-7645-4381-02F0-0637DD44BF57}"/>
              </a:ext>
            </a:extLst>
          </p:cNvPr>
          <p:cNvSpPr>
            <a:spLocks noGrp="1"/>
          </p:cNvSpPr>
          <p:nvPr>
            <p:ph idx="1"/>
          </p:nvPr>
        </p:nvSpPr>
        <p:spPr>
          <a:xfrm>
            <a:off x="628650" y="1081549"/>
            <a:ext cx="7886700" cy="1402375"/>
          </a:xfrm>
        </p:spPr>
        <p:txBody>
          <a:bodyPr>
            <a:normAutofit/>
          </a:bodyPr>
          <a:lstStyle/>
          <a:p>
            <a:pPr marL="0" indent="0">
              <a:buNone/>
            </a:pPr>
            <a:r>
              <a:rPr lang="en-IN" sz="2400" dirty="0">
                <a:latin typeface="Calisto MT" panose="02040603050505030304" pitchFamily="18" charset="0"/>
              </a:rPr>
              <a:t>Plant disease detection, deep learning, model disagreement, uncertainty-aware AI, abstention, evidence-grounded retrieval, precision agriculture</a:t>
            </a:r>
          </a:p>
        </p:txBody>
      </p:sp>
      <p:sp>
        <p:nvSpPr>
          <p:cNvPr id="4" name="Slide Number Placeholder 3">
            <a:extLst>
              <a:ext uri="{FF2B5EF4-FFF2-40B4-BE49-F238E27FC236}">
                <a16:creationId xmlns:a16="http://schemas.microsoft.com/office/drawing/2014/main" id="{B65900FC-5024-8D1F-5C10-E97BE51A0985}"/>
              </a:ext>
            </a:extLst>
          </p:cNvPr>
          <p:cNvSpPr>
            <a:spLocks noGrp="1"/>
          </p:cNvSpPr>
          <p:nvPr>
            <p:ph type="sldNum" sz="quarter" idx="12"/>
          </p:nvPr>
        </p:nvSpPr>
        <p:spPr/>
        <p:txBody>
          <a:bodyPr/>
          <a:lstStyle/>
          <a:p>
            <a:fld id="{D90542D4-23E8-43E0-BA8E-C972DA1A005D}" type="slidenum">
              <a:rPr lang="en-US" smtClean="0"/>
              <a:pPr/>
              <a:t>3</a:t>
            </a:fld>
            <a:endParaRPr lang="en-US"/>
          </a:p>
        </p:txBody>
      </p:sp>
    </p:spTree>
    <p:extLst>
      <p:ext uri="{BB962C8B-B14F-4D97-AF65-F5344CB8AC3E}">
        <p14:creationId xmlns:p14="http://schemas.microsoft.com/office/powerpoint/2010/main" val="214023153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26FF289-5E66-0B3D-184F-63A42E8FA10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6DAC310-5EB6-00F2-8BB6-1384741D3172}"/>
              </a:ext>
            </a:extLst>
          </p:cNvPr>
          <p:cNvSpPr>
            <a:spLocks noGrp="1"/>
          </p:cNvSpPr>
          <p:nvPr>
            <p:ph type="title"/>
          </p:nvPr>
        </p:nvSpPr>
        <p:spPr>
          <a:xfrm>
            <a:off x="202675" y="976596"/>
            <a:ext cx="8738648" cy="747237"/>
          </a:xfrm>
        </p:spPr>
        <p:txBody>
          <a:bodyPr>
            <a:noAutofit/>
          </a:bodyPr>
          <a:lstStyle/>
          <a:p>
            <a:r>
              <a:rPr lang="en-US" sz="3000" b="1" dirty="0">
                <a:solidFill>
                  <a:schemeClr val="accent2">
                    <a:lumMod val="50000"/>
                  </a:schemeClr>
                </a:solidFill>
                <a:latin typeface="Calisto MT" panose="02040603050505030304" pitchFamily="18" charset="0"/>
              </a:rPr>
              <a:t>1. Research Domain</a:t>
            </a:r>
          </a:p>
        </p:txBody>
      </p:sp>
      <p:sp>
        <p:nvSpPr>
          <p:cNvPr id="3" name="Content Placeholder 2">
            <a:extLst>
              <a:ext uri="{FF2B5EF4-FFF2-40B4-BE49-F238E27FC236}">
                <a16:creationId xmlns:a16="http://schemas.microsoft.com/office/drawing/2014/main" id="{D0AEC33F-7E68-65BD-60A6-C3521D5686A8}"/>
              </a:ext>
            </a:extLst>
          </p:cNvPr>
          <p:cNvSpPr>
            <a:spLocks noGrp="1"/>
          </p:cNvSpPr>
          <p:nvPr>
            <p:ph idx="1"/>
          </p:nvPr>
        </p:nvSpPr>
        <p:spPr>
          <a:xfrm>
            <a:off x="414778" y="1758028"/>
            <a:ext cx="8314441" cy="3341943"/>
          </a:xfrm>
        </p:spPr>
        <p:txBody>
          <a:bodyPr numCol="1">
            <a:normAutofit/>
          </a:bodyPr>
          <a:lstStyle/>
          <a:p>
            <a:pPr algn="just"/>
            <a:r>
              <a:rPr lang="en-US" sz="2400" b="1" dirty="0">
                <a:latin typeface="Calisto MT" panose="02040603050505030304" pitchFamily="18" charset="0"/>
              </a:rPr>
              <a:t>Primary Domain: </a:t>
            </a:r>
            <a:r>
              <a:rPr lang="en-US" sz="2400" dirty="0">
                <a:latin typeface="Calisto MT" panose="02040603050505030304" pitchFamily="18" charset="0"/>
              </a:rPr>
              <a:t>Artificial Intelligence and Machine Learning</a:t>
            </a:r>
          </a:p>
          <a:p>
            <a:pPr algn="just"/>
            <a:r>
              <a:rPr lang="en-US" sz="2400" b="1" dirty="0">
                <a:latin typeface="Calisto MT" panose="02040603050505030304" pitchFamily="18" charset="0"/>
              </a:rPr>
              <a:t>Sub-Domain: </a:t>
            </a:r>
            <a:r>
              <a:rPr lang="en-US" sz="2400" dirty="0">
                <a:latin typeface="Calisto MT" panose="02040603050505030304" pitchFamily="18" charset="0"/>
              </a:rPr>
              <a:t>Computer Vision, Deep Learning, Uncertainty Quantification, and Agentic AI</a:t>
            </a:r>
          </a:p>
          <a:p>
            <a:pPr algn="just"/>
            <a:r>
              <a:rPr lang="en-US" sz="2400" b="1" dirty="0">
                <a:latin typeface="Calisto MT" panose="02040603050505030304" pitchFamily="18" charset="0"/>
              </a:rPr>
              <a:t>Application Area: </a:t>
            </a:r>
            <a:r>
              <a:rPr lang="en-US" sz="2400" dirty="0">
                <a:latin typeface="Calisto MT" panose="02040603050505030304" pitchFamily="18" charset="0"/>
              </a:rPr>
              <a:t>Precision Agriculture and Plant Disease Detection</a:t>
            </a:r>
            <a:endParaRPr lang="en-US" sz="2000" i="1" dirty="0">
              <a:solidFill>
                <a:srgbClr val="C00000"/>
              </a:solidFill>
              <a:latin typeface="Calisto MT" panose="02040603050505030304" pitchFamily="18" charset="0"/>
            </a:endParaRPr>
          </a:p>
        </p:txBody>
      </p:sp>
      <p:sp>
        <p:nvSpPr>
          <p:cNvPr id="7" name="Slide Number Placeholder 6">
            <a:extLst>
              <a:ext uri="{FF2B5EF4-FFF2-40B4-BE49-F238E27FC236}">
                <a16:creationId xmlns:a16="http://schemas.microsoft.com/office/drawing/2014/main" id="{68A5CDAE-4AF8-AD05-E703-FE1F48D60774}"/>
              </a:ext>
            </a:extLst>
          </p:cNvPr>
          <p:cNvSpPr>
            <a:spLocks noGrp="1"/>
          </p:cNvSpPr>
          <p:nvPr>
            <p:ph type="sldNum" sz="quarter" idx="12"/>
          </p:nvPr>
        </p:nvSpPr>
        <p:spPr/>
        <p:txBody>
          <a:bodyPr/>
          <a:lstStyle/>
          <a:p>
            <a:fld id="{D90542D4-23E8-43E0-BA8E-C972DA1A005D}" type="slidenum">
              <a:rPr lang="en-US" sz="1400" b="1" smtClean="0">
                <a:solidFill>
                  <a:schemeClr val="tx1"/>
                </a:solidFill>
                <a:latin typeface="Calisto MT" panose="02040603050505030304" pitchFamily="18" charset="0"/>
              </a:rPr>
              <a:pPr/>
              <a:t>4</a:t>
            </a:fld>
            <a:endParaRPr lang="en-US" sz="1400" b="1" dirty="0">
              <a:solidFill>
                <a:schemeClr val="tx1"/>
              </a:solidFill>
              <a:latin typeface="Calisto MT" panose="02040603050505030304" pitchFamily="18" charset="0"/>
            </a:endParaRPr>
          </a:p>
        </p:txBody>
      </p:sp>
    </p:spTree>
    <p:extLst>
      <p:ext uri="{BB962C8B-B14F-4D97-AF65-F5344CB8AC3E}">
        <p14:creationId xmlns:p14="http://schemas.microsoft.com/office/powerpoint/2010/main" val="59451103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F50B8B0-6FA6-1A9D-CBD0-94855C5A2DF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CA4B460-8C98-C0EC-7B6F-08A2E00DEAE6}"/>
              </a:ext>
            </a:extLst>
          </p:cNvPr>
          <p:cNvSpPr>
            <a:spLocks noGrp="1"/>
          </p:cNvSpPr>
          <p:nvPr>
            <p:ph type="title"/>
          </p:nvPr>
        </p:nvSpPr>
        <p:spPr>
          <a:xfrm>
            <a:off x="202675" y="450816"/>
            <a:ext cx="8738648" cy="747237"/>
          </a:xfrm>
        </p:spPr>
        <p:txBody>
          <a:bodyPr>
            <a:noAutofit/>
          </a:bodyPr>
          <a:lstStyle/>
          <a:p>
            <a:r>
              <a:rPr lang="en-US" sz="3000" b="1" dirty="0">
                <a:solidFill>
                  <a:schemeClr val="accent2">
                    <a:lumMod val="50000"/>
                  </a:schemeClr>
                </a:solidFill>
                <a:latin typeface="Calisto MT" panose="02040603050505030304" pitchFamily="18" charset="0"/>
              </a:rPr>
              <a:t>2. SDG Categories</a:t>
            </a:r>
          </a:p>
        </p:txBody>
      </p:sp>
      <p:sp>
        <p:nvSpPr>
          <p:cNvPr id="3" name="Content Placeholder 2">
            <a:extLst>
              <a:ext uri="{FF2B5EF4-FFF2-40B4-BE49-F238E27FC236}">
                <a16:creationId xmlns:a16="http://schemas.microsoft.com/office/drawing/2014/main" id="{AAAEBAAF-ACF3-ADF2-52AE-8053652744D6}"/>
              </a:ext>
            </a:extLst>
          </p:cNvPr>
          <p:cNvSpPr>
            <a:spLocks noGrp="1"/>
          </p:cNvSpPr>
          <p:nvPr>
            <p:ph idx="1"/>
          </p:nvPr>
        </p:nvSpPr>
        <p:spPr>
          <a:xfrm>
            <a:off x="414779" y="1198053"/>
            <a:ext cx="8314441" cy="4461893"/>
          </a:xfrm>
        </p:spPr>
        <p:txBody>
          <a:bodyPr numCol="1">
            <a:normAutofit/>
          </a:bodyPr>
          <a:lstStyle/>
          <a:p>
            <a:pPr marL="0" indent="0" algn="just">
              <a:buNone/>
            </a:pPr>
            <a:r>
              <a:rPr lang="en-IN" sz="2000" b="1" dirty="0">
                <a:latin typeface="Calisto MT" panose="02040603050505030304" pitchFamily="18" charset="0"/>
              </a:rPr>
              <a:t>SDG 2: Zero Hunger</a:t>
            </a:r>
            <a:endParaRPr lang="en-IN" sz="2000" dirty="0">
              <a:latin typeface="Calisto MT" panose="02040603050505030304" pitchFamily="18" charset="0"/>
            </a:endParaRPr>
          </a:p>
          <a:p>
            <a:pPr algn="just"/>
            <a:r>
              <a:rPr lang="en-IN" sz="2000" dirty="0">
                <a:latin typeface="Calisto MT" panose="02040603050505030304" pitchFamily="18" charset="0"/>
              </a:rPr>
              <a:t>The project directly supports sustainable food production by enabling early and reliable plant-disease detection, which can reduce crop losses and improve agricultural productivity for smallholder farmers.</a:t>
            </a:r>
          </a:p>
          <a:p>
            <a:pPr marL="0" indent="0" algn="just">
              <a:buNone/>
            </a:pPr>
            <a:r>
              <a:rPr lang="en-IN" sz="2000" b="1" dirty="0">
                <a:latin typeface="Calisto MT" panose="02040603050505030304" pitchFamily="18" charset="0"/>
              </a:rPr>
              <a:t>SDG 9: Industry, Innovation and Infrastructure</a:t>
            </a:r>
            <a:endParaRPr lang="en-IN" sz="2000" dirty="0">
              <a:latin typeface="Calisto MT" panose="02040603050505030304" pitchFamily="18" charset="0"/>
            </a:endParaRPr>
          </a:p>
          <a:p>
            <a:pPr algn="just"/>
            <a:r>
              <a:rPr lang="en-IN" sz="2000" dirty="0">
                <a:latin typeface="Calisto MT" panose="02040603050505030304" pitchFamily="18" charset="0"/>
              </a:rPr>
              <a:t>The project develops accessible AI infrastructure for agriculture through a lightweight, deployable system that can be used by farmers and agricultural extension workers via mobile devices.</a:t>
            </a:r>
          </a:p>
          <a:p>
            <a:pPr marL="0" indent="0" algn="just">
              <a:buNone/>
            </a:pPr>
            <a:r>
              <a:rPr lang="en-IN" sz="2000" b="1" dirty="0">
                <a:latin typeface="Calisto MT" panose="02040603050505030304" pitchFamily="18" charset="0"/>
              </a:rPr>
              <a:t>SDG 12: Responsible Consumption and Production</a:t>
            </a:r>
            <a:endParaRPr lang="en-IN" sz="2000" dirty="0">
              <a:latin typeface="Calisto MT" panose="02040603050505030304" pitchFamily="18" charset="0"/>
            </a:endParaRPr>
          </a:p>
          <a:p>
            <a:pPr algn="just"/>
            <a:r>
              <a:rPr lang="en-IN" sz="2000" dirty="0">
                <a:latin typeface="Calisto MT" panose="02040603050505030304" pitchFamily="18" charset="0"/>
              </a:rPr>
              <a:t>By providing evidence-grounded recommendations and preventing unnecessary pesticide use through reliable disease screening, the system promotes sustainable agricultural practices and reduces environmental impact.</a:t>
            </a:r>
          </a:p>
          <a:p>
            <a:pPr algn="just"/>
            <a:endParaRPr lang="en-IN" sz="2000" dirty="0">
              <a:latin typeface="Calisto MT" panose="02040603050505030304" pitchFamily="18" charset="0"/>
            </a:endParaRPr>
          </a:p>
          <a:p>
            <a:pPr marL="0" indent="0" algn="just">
              <a:lnSpc>
                <a:spcPct val="100000"/>
              </a:lnSpc>
              <a:buNone/>
            </a:pPr>
            <a:endParaRPr lang="en-US" sz="2000" b="1" dirty="0">
              <a:solidFill>
                <a:srgbClr val="C00000"/>
              </a:solidFill>
              <a:latin typeface="Calisto MT" panose="02040603050505030304" pitchFamily="18" charset="0"/>
            </a:endParaRPr>
          </a:p>
          <a:p>
            <a:pPr marL="0" indent="0" algn="just">
              <a:lnSpc>
                <a:spcPct val="100000"/>
              </a:lnSpc>
              <a:buNone/>
            </a:pPr>
            <a:endParaRPr lang="en-US" sz="1600" dirty="0">
              <a:latin typeface="Calisto MT" panose="02040603050505030304" pitchFamily="18" charset="0"/>
            </a:endParaRPr>
          </a:p>
          <a:p>
            <a:pPr marL="0" indent="0" algn="just">
              <a:lnSpc>
                <a:spcPct val="100000"/>
              </a:lnSpc>
              <a:buNone/>
            </a:pPr>
            <a:endParaRPr lang="en-US" sz="1600" dirty="0">
              <a:latin typeface="Calisto MT" panose="02040603050505030304" pitchFamily="18" charset="0"/>
            </a:endParaRPr>
          </a:p>
          <a:p>
            <a:pPr marL="0" indent="0" algn="just">
              <a:lnSpc>
                <a:spcPct val="100000"/>
              </a:lnSpc>
              <a:buNone/>
            </a:pPr>
            <a:endParaRPr lang="en-US" sz="1600" dirty="0">
              <a:latin typeface="Calisto MT" panose="02040603050505030304" pitchFamily="18" charset="0"/>
            </a:endParaRPr>
          </a:p>
          <a:p>
            <a:pPr marL="0" indent="0" algn="just">
              <a:lnSpc>
                <a:spcPct val="100000"/>
              </a:lnSpc>
              <a:buNone/>
            </a:pPr>
            <a:endParaRPr lang="en-US" sz="1600" dirty="0">
              <a:latin typeface="Calisto MT" panose="02040603050505030304" pitchFamily="18" charset="0"/>
            </a:endParaRPr>
          </a:p>
          <a:p>
            <a:pPr marL="0" indent="0" algn="just">
              <a:lnSpc>
                <a:spcPct val="100000"/>
              </a:lnSpc>
              <a:buNone/>
            </a:pPr>
            <a:endParaRPr lang="en-US" sz="1600" dirty="0">
              <a:latin typeface="Calisto MT" panose="02040603050505030304" pitchFamily="18" charset="0"/>
            </a:endParaRPr>
          </a:p>
          <a:p>
            <a:pPr marL="0" indent="0" algn="just">
              <a:lnSpc>
                <a:spcPct val="100000"/>
              </a:lnSpc>
              <a:buNone/>
            </a:pPr>
            <a:endParaRPr lang="en-US" sz="1600" dirty="0">
              <a:latin typeface="Calisto MT" panose="02040603050505030304" pitchFamily="18" charset="0"/>
            </a:endParaRPr>
          </a:p>
          <a:p>
            <a:pPr marL="0" indent="0" algn="just">
              <a:lnSpc>
                <a:spcPct val="100000"/>
              </a:lnSpc>
              <a:buNone/>
            </a:pPr>
            <a:endParaRPr lang="en-US" sz="1600" dirty="0">
              <a:latin typeface="Calisto MT" panose="02040603050505030304" pitchFamily="18" charset="0"/>
            </a:endParaRPr>
          </a:p>
          <a:p>
            <a:pPr marL="0" indent="0" algn="just">
              <a:lnSpc>
                <a:spcPct val="100000"/>
              </a:lnSpc>
              <a:buNone/>
            </a:pPr>
            <a:endParaRPr lang="en-US" sz="1600" dirty="0">
              <a:latin typeface="Calisto MT" panose="02040603050505030304" pitchFamily="18" charset="0"/>
            </a:endParaRPr>
          </a:p>
          <a:p>
            <a:pPr marL="0" indent="0" algn="just">
              <a:lnSpc>
                <a:spcPct val="100000"/>
              </a:lnSpc>
              <a:buNone/>
            </a:pPr>
            <a:endParaRPr lang="en-US" sz="1800" b="1" i="1" dirty="0">
              <a:solidFill>
                <a:srgbClr val="C00000"/>
              </a:solidFill>
              <a:latin typeface="Calisto MT" panose="02040603050505030304" pitchFamily="18" charset="0"/>
            </a:endParaRPr>
          </a:p>
        </p:txBody>
      </p:sp>
      <p:sp>
        <p:nvSpPr>
          <p:cNvPr id="7" name="Slide Number Placeholder 6">
            <a:extLst>
              <a:ext uri="{FF2B5EF4-FFF2-40B4-BE49-F238E27FC236}">
                <a16:creationId xmlns:a16="http://schemas.microsoft.com/office/drawing/2014/main" id="{EFCB90BE-2D81-5E43-3A1E-442D1D8B539F}"/>
              </a:ext>
            </a:extLst>
          </p:cNvPr>
          <p:cNvSpPr>
            <a:spLocks noGrp="1"/>
          </p:cNvSpPr>
          <p:nvPr>
            <p:ph type="sldNum" sz="quarter" idx="12"/>
          </p:nvPr>
        </p:nvSpPr>
        <p:spPr/>
        <p:txBody>
          <a:bodyPr/>
          <a:lstStyle/>
          <a:p>
            <a:fld id="{D90542D4-23E8-43E0-BA8E-C972DA1A005D}" type="slidenum">
              <a:rPr lang="en-US" sz="1400" b="1" smtClean="0">
                <a:solidFill>
                  <a:schemeClr val="tx1"/>
                </a:solidFill>
                <a:latin typeface="Calisto MT" panose="02040603050505030304" pitchFamily="18" charset="0"/>
              </a:rPr>
              <a:pPr/>
              <a:t>5</a:t>
            </a:fld>
            <a:endParaRPr lang="en-US" sz="1400" b="1" dirty="0">
              <a:solidFill>
                <a:schemeClr val="tx1"/>
              </a:solidFill>
              <a:latin typeface="Calisto MT" panose="02040603050505030304" pitchFamily="18" charset="0"/>
            </a:endParaRPr>
          </a:p>
        </p:txBody>
      </p:sp>
    </p:spTree>
    <p:extLst>
      <p:ext uri="{BB962C8B-B14F-4D97-AF65-F5344CB8AC3E}">
        <p14:creationId xmlns:p14="http://schemas.microsoft.com/office/powerpoint/2010/main" val="199779038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738971-B764-E045-F92B-01E3322A0123}"/>
              </a:ext>
            </a:extLst>
          </p:cNvPr>
          <p:cNvSpPr>
            <a:spLocks noGrp="1"/>
          </p:cNvSpPr>
          <p:nvPr>
            <p:ph type="title"/>
          </p:nvPr>
        </p:nvSpPr>
        <p:spPr>
          <a:xfrm>
            <a:off x="202676" y="120029"/>
            <a:ext cx="8738648" cy="747237"/>
          </a:xfrm>
        </p:spPr>
        <p:txBody>
          <a:bodyPr>
            <a:noAutofit/>
          </a:bodyPr>
          <a:lstStyle/>
          <a:p>
            <a:r>
              <a:rPr lang="en-US" sz="3000" b="1" dirty="0">
                <a:solidFill>
                  <a:schemeClr val="accent2">
                    <a:lumMod val="50000"/>
                  </a:schemeClr>
                </a:solidFill>
                <a:latin typeface="Calisto MT" panose="02040603050505030304" pitchFamily="18" charset="0"/>
              </a:rPr>
              <a:t>3. Aim and Motivation</a:t>
            </a:r>
          </a:p>
        </p:txBody>
      </p:sp>
      <p:sp>
        <p:nvSpPr>
          <p:cNvPr id="3" name="Content Placeholder 2">
            <a:extLst>
              <a:ext uri="{FF2B5EF4-FFF2-40B4-BE49-F238E27FC236}">
                <a16:creationId xmlns:a16="http://schemas.microsoft.com/office/drawing/2014/main" id="{E5D502BE-F636-7D1D-85F0-BAFFD3E05E1C}"/>
              </a:ext>
            </a:extLst>
          </p:cNvPr>
          <p:cNvSpPr>
            <a:spLocks noGrp="1"/>
          </p:cNvSpPr>
          <p:nvPr>
            <p:ph idx="1"/>
          </p:nvPr>
        </p:nvSpPr>
        <p:spPr>
          <a:xfrm>
            <a:off x="414779" y="931274"/>
            <a:ext cx="8314441" cy="5489085"/>
          </a:xfrm>
        </p:spPr>
        <p:txBody>
          <a:bodyPr numCol="1">
            <a:normAutofit fontScale="92500" lnSpcReduction="20000"/>
          </a:bodyPr>
          <a:lstStyle/>
          <a:p>
            <a:pPr marL="0" indent="0" algn="just">
              <a:lnSpc>
                <a:spcPct val="100000"/>
              </a:lnSpc>
              <a:buNone/>
            </a:pPr>
            <a:r>
              <a:rPr lang="en-US" sz="2000" b="1" dirty="0">
                <a:solidFill>
                  <a:srgbClr val="C00000"/>
                </a:solidFill>
                <a:latin typeface="Calisto MT" panose="02040603050505030304" pitchFamily="18" charset="0"/>
              </a:rPr>
              <a:t>Aim:</a:t>
            </a:r>
          </a:p>
          <a:p>
            <a:pPr marL="0" indent="0" algn="just">
              <a:lnSpc>
                <a:spcPct val="100000"/>
              </a:lnSpc>
              <a:buNone/>
            </a:pPr>
            <a:r>
              <a:rPr lang="en-IN" sz="2000" dirty="0">
                <a:latin typeface="Calisto MT" panose="02040603050505030304" pitchFamily="18" charset="0"/>
              </a:rPr>
              <a:t>To design and evaluate a field-aware abstention policy for plant-disease screening that combines multi-model disagreement, calibrated confidence, image-quality assessment, and evidence-grounded validation. And deploy a lightweight </a:t>
            </a:r>
            <a:r>
              <a:rPr lang="en-IN" sz="2000" dirty="0" err="1">
                <a:latin typeface="Calisto MT" panose="02040603050505030304" pitchFamily="18" charset="0"/>
              </a:rPr>
              <a:t>Streamlit</a:t>
            </a:r>
            <a:r>
              <a:rPr lang="en-IN" sz="2000" dirty="0">
                <a:latin typeface="Calisto MT" panose="02040603050505030304" pitchFamily="18" charset="0"/>
              </a:rPr>
              <a:t> interface that provides reliable predictions when confidence is high and recommends expert verification when uncertainty is detected.</a:t>
            </a:r>
          </a:p>
          <a:p>
            <a:pPr marL="0" indent="0" algn="just">
              <a:lnSpc>
                <a:spcPct val="100000"/>
              </a:lnSpc>
              <a:buNone/>
            </a:pPr>
            <a:endParaRPr lang="en-IN" sz="2000" dirty="0">
              <a:solidFill>
                <a:srgbClr val="C00000"/>
              </a:solidFill>
              <a:latin typeface="Calisto MT" panose="02040603050505030304" pitchFamily="18" charset="0"/>
            </a:endParaRPr>
          </a:p>
          <a:p>
            <a:pPr marL="0" indent="0" algn="just">
              <a:lnSpc>
                <a:spcPct val="100000"/>
              </a:lnSpc>
              <a:buNone/>
            </a:pPr>
            <a:r>
              <a:rPr lang="en-US" sz="2000" b="1" dirty="0">
                <a:solidFill>
                  <a:srgbClr val="C00000"/>
                </a:solidFill>
                <a:latin typeface="Calisto MT" panose="02040603050505030304" pitchFamily="18" charset="0"/>
              </a:rPr>
              <a:t>Motivation:</a:t>
            </a:r>
          </a:p>
          <a:p>
            <a:pPr lvl="0" algn="just"/>
            <a:r>
              <a:rPr lang="en-IN" sz="2000" dirty="0">
                <a:latin typeface="Calisto MT" panose="02040603050505030304" pitchFamily="18" charset="0"/>
              </a:rPr>
              <a:t>Plant diseases cause approximately 220 billion USD in annual agricultural losses, and early detection is critical for food security.</a:t>
            </a:r>
          </a:p>
          <a:p>
            <a:pPr lvl="0" algn="just"/>
            <a:r>
              <a:rPr lang="en-IN" sz="2000" dirty="0">
                <a:latin typeface="Calisto MT" panose="02040603050505030304" pitchFamily="18" charset="0"/>
              </a:rPr>
              <a:t>Existing deep-learning systems achieve high accuracy on controlled datasets but often fail on real field photographs due to domain shift, background bias, and varying image.</a:t>
            </a:r>
          </a:p>
          <a:p>
            <a:pPr lvl="0" algn="just"/>
            <a:r>
              <a:rPr lang="en-IN" sz="2000" dirty="0">
                <a:latin typeface="Calisto MT" panose="02040603050505030304" pitchFamily="18" charset="0"/>
              </a:rPr>
              <a:t>Most systems force a prediction on every image, even when models are uncertain, which can lead to harmful recommendations such as incorrect pesticide use or delayed treatment.</a:t>
            </a:r>
          </a:p>
          <a:p>
            <a:pPr lvl="0" algn="just"/>
            <a:r>
              <a:rPr lang="en-IN" sz="2000" dirty="0">
                <a:latin typeface="Calisto MT" panose="02040603050505030304" pitchFamily="18" charset="0"/>
              </a:rPr>
              <a:t>Farmers and agricultural students need a trustworthy screening tool that knows when to abstain and seek expert verification rather than providing overconfident but unreliable diagnoses.</a:t>
            </a:r>
          </a:p>
        </p:txBody>
      </p:sp>
      <p:sp>
        <p:nvSpPr>
          <p:cNvPr id="7" name="Slide Number Placeholder 6">
            <a:extLst>
              <a:ext uri="{FF2B5EF4-FFF2-40B4-BE49-F238E27FC236}">
                <a16:creationId xmlns:a16="http://schemas.microsoft.com/office/drawing/2014/main" id="{14F45621-8939-04E9-03B4-11AF180D5862}"/>
              </a:ext>
            </a:extLst>
          </p:cNvPr>
          <p:cNvSpPr>
            <a:spLocks noGrp="1"/>
          </p:cNvSpPr>
          <p:nvPr>
            <p:ph type="sldNum" sz="quarter" idx="12"/>
          </p:nvPr>
        </p:nvSpPr>
        <p:spPr/>
        <p:txBody>
          <a:bodyPr/>
          <a:lstStyle/>
          <a:p>
            <a:fld id="{D90542D4-23E8-43E0-BA8E-C972DA1A005D}" type="slidenum">
              <a:rPr lang="en-US" sz="1400" b="1" smtClean="0">
                <a:solidFill>
                  <a:schemeClr val="tx1"/>
                </a:solidFill>
                <a:latin typeface="Calisto MT" panose="02040603050505030304" pitchFamily="18" charset="0"/>
              </a:rPr>
              <a:pPr/>
              <a:t>6</a:t>
            </a:fld>
            <a:endParaRPr lang="en-US" sz="1400" b="1" dirty="0">
              <a:solidFill>
                <a:schemeClr val="tx1"/>
              </a:solidFill>
              <a:latin typeface="Calisto MT" panose="02040603050505030304" pitchFamily="18" charset="0"/>
            </a:endParaRPr>
          </a:p>
        </p:txBody>
      </p:sp>
    </p:spTree>
    <p:extLst>
      <p:ext uri="{BB962C8B-B14F-4D97-AF65-F5344CB8AC3E}">
        <p14:creationId xmlns:p14="http://schemas.microsoft.com/office/powerpoint/2010/main" val="333863716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738971-B764-E045-F92B-01E3322A0123}"/>
              </a:ext>
            </a:extLst>
          </p:cNvPr>
          <p:cNvSpPr>
            <a:spLocks noGrp="1"/>
          </p:cNvSpPr>
          <p:nvPr>
            <p:ph type="title"/>
          </p:nvPr>
        </p:nvSpPr>
        <p:spPr>
          <a:xfrm>
            <a:off x="202675" y="897835"/>
            <a:ext cx="8738648" cy="634115"/>
          </a:xfrm>
        </p:spPr>
        <p:txBody>
          <a:bodyPr>
            <a:noAutofit/>
          </a:bodyPr>
          <a:lstStyle/>
          <a:p>
            <a:r>
              <a:rPr lang="en-US" sz="3000" b="1" dirty="0">
                <a:solidFill>
                  <a:schemeClr val="accent2">
                    <a:lumMod val="50000"/>
                  </a:schemeClr>
                </a:solidFill>
                <a:latin typeface="Calisto MT" panose="02040603050505030304" pitchFamily="18" charset="0"/>
              </a:rPr>
              <a:t>4. Research Questions</a:t>
            </a:r>
          </a:p>
        </p:txBody>
      </p:sp>
      <p:sp>
        <p:nvSpPr>
          <p:cNvPr id="3" name="Content Placeholder 2">
            <a:extLst>
              <a:ext uri="{FF2B5EF4-FFF2-40B4-BE49-F238E27FC236}">
                <a16:creationId xmlns:a16="http://schemas.microsoft.com/office/drawing/2014/main" id="{E5D502BE-F636-7D1D-85F0-BAFFD3E05E1C}"/>
              </a:ext>
            </a:extLst>
          </p:cNvPr>
          <p:cNvSpPr>
            <a:spLocks noGrp="1"/>
          </p:cNvSpPr>
          <p:nvPr>
            <p:ph idx="1"/>
          </p:nvPr>
        </p:nvSpPr>
        <p:spPr>
          <a:xfrm>
            <a:off x="282804" y="1531950"/>
            <a:ext cx="8578391" cy="3794100"/>
          </a:xfrm>
        </p:spPr>
        <p:txBody>
          <a:bodyPr numCol="1">
            <a:normAutofit/>
          </a:bodyPr>
          <a:lstStyle/>
          <a:p>
            <a:pPr lvl="0" algn="just"/>
            <a:r>
              <a:rPr lang="en-IN" sz="2400" dirty="0">
                <a:latin typeface="Calisto MT" panose="02040603050505030304" pitchFamily="18" charset="0"/>
              </a:rPr>
              <a:t>Can a plant-disease screening system that abstains on uncertain images provide safer and more reliable assistance than existing systems that force predictions on all images?</a:t>
            </a:r>
          </a:p>
          <a:p>
            <a:pPr lvl="0" algn="just"/>
            <a:r>
              <a:rPr lang="en-IN" sz="2400" dirty="0">
                <a:latin typeface="Calisto MT" panose="02040603050505030304" pitchFamily="18" charset="0"/>
              </a:rPr>
              <a:t>How does combining multi-model disagreement, calibrated confidence, and image-quality assessment affect selective accuracy and coverage on field-domain images?</a:t>
            </a:r>
          </a:p>
          <a:p>
            <a:pPr lvl="0" algn="just"/>
            <a:r>
              <a:rPr lang="en-IN" sz="2400" dirty="0">
                <a:latin typeface="Calisto MT" panose="02040603050505030304" pitchFamily="18" charset="0"/>
              </a:rPr>
              <a:t>Can evidence-grounded retrieval improve the reliability of predictions by validating or rejecting uncertain diagnoses before they are shown to users?</a:t>
            </a:r>
          </a:p>
        </p:txBody>
      </p:sp>
      <p:sp>
        <p:nvSpPr>
          <p:cNvPr id="7" name="Slide Number Placeholder 6">
            <a:extLst>
              <a:ext uri="{FF2B5EF4-FFF2-40B4-BE49-F238E27FC236}">
                <a16:creationId xmlns:a16="http://schemas.microsoft.com/office/drawing/2014/main" id="{14F45621-8939-04E9-03B4-11AF180D5862}"/>
              </a:ext>
            </a:extLst>
          </p:cNvPr>
          <p:cNvSpPr>
            <a:spLocks noGrp="1"/>
          </p:cNvSpPr>
          <p:nvPr>
            <p:ph type="sldNum" sz="quarter" idx="12"/>
          </p:nvPr>
        </p:nvSpPr>
        <p:spPr/>
        <p:txBody>
          <a:bodyPr/>
          <a:lstStyle/>
          <a:p>
            <a:fld id="{D90542D4-23E8-43E0-BA8E-C972DA1A005D}" type="slidenum">
              <a:rPr lang="en-US" sz="1400" b="1" smtClean="0">
                <a:solidFill>
                  <a:schemeClr val="tx1"/>
                </a:solidFill>
                <a:latin typeface="Calisto MT" panose="02040603050505030304" pitchFamily="18" charset="0"/>
              </a:rPr>
              <a:pPr/>
              <a:t>7</a:t>
            </a:fld>
            <a:endParaRPr lang="en-US" sz="1400" b="1" dirty="0">
              <a:solidFill>
                <a:schemeClr val="tx1"/>
              </a:solidFill>
              <a:latin typeface="Calisto MT" panose="02040603050505030304" pitchFamily="18" charset="0"/>
            </a:endParaRPr>
          </a:p>
        </p:txBody>
      </p:sp>
    </p:spTree>
    <p:extLst>
      <p:ext uri="{BB962C8B-B14F-4D97-AF65-F5344CB8AC3E}">
        <p14:creationId xmlns:p14="http://schemas.microsoft.com/office/powerpoint/2010/main" val="248114604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738971-B764-E045-F92B-01E3322A0123}"/>
              </a:ext>
            </a:extLst>
          </p:cNvPr>
          <p:cNvSpPr>
            <a:spLocks noGrp="1"/>
          </p:cNvSpPr>
          <p:nvPr>
            <p:ph type="title"/>
          </p:nvPr>
        </p:nvSpPr>
        <p:spPr>
          <a:xfrm>
            <a:off x="202675" y="1135719"/>
            <a:ext cx="8738648" cy="747237"/>
          </a:xfrm>
        </p:spPr>
        <p:txBody>
          <a:bodyPr>
            <a:noAutofit/>
          </a:bodyPr>
          <a:lstStyle/>
          <a:p>
            <a:r>
              <a:rPr lang="en-US" sz="3000" b="1" dirty="0">
                <a:solidFill>
                  <a:schemeClr val="accent2">
                    <a:lumMod val="50000"/>
                  </a:schemeClr>
                </a:solidFill>
                <a:latin typeface="Calisto MT" panose="02040603050505030304" pitchFamily="18" charset="0"/>
              </a:rPr>
              <a:t>5. Title Justification</a:t>
            </a:r>
          </a:p>
        </p:txBody>
      </p:sp>
      <p:sp>
        <p:nvSpPr>
          <p:cNvPr id="3" name="Content Placeholder 2">
            <a:extLst>
              <a:ext uri="{FF2B5EF4-FFF2-40B4-BE49-F238E27FC236}">
                <a16:creationId xmlns:a16="http://schemas.microsoft.com/office/drawing/2014/main" id="{E5D502BE-F636-7D1D-85F0-BAFFD3E05E1C}"/>
              </a:ext>
            </a:extLst>
          </p:cNvPr>
          <p:cNvSpPr>
            <a:spLocks noGrp="1"/>
          </p:cNvSpPr>
          <p:nvPr>
            <p:ph idx="1"/>
          </p:nvPr>
        </p:nvSpPr>
        <p:spPr>
          <a:xfrm>
            <a:off x="414779" y="1882956"/>
            <a:ext cx="8314441" cy="3092087"/>
          </a:xfrm>
        </p:spPr>
        <p:txBody>
          <a:bodyPr numCol="1">
            <a:normAutofit/>
          </a:bodyPr>
          <a:lstStyle/>
          <a:p>
            <a:pPr lvl="0" algn="just"/>
            <a:r>
              <a:rPr lang="en-IN" sz="2400" b="1" dirty="0">
                <a:latin typeface="Calisto MT" panose="02040603050505030304" pitchFamily="18" charset="0"/>
              </a:rPr>
              <a:t>Abstention-Aware</a:t>
            </a:r>
            <a:r>
              <a:rPr lang="en-IN" sz="2400" dirty="0">
                <a:latin typeface="Calisto MT" panose="02040603050505030304" pitchFamily="18" charset="0"/>
              </a:rPr>
              <a:t> highlights the core research contribution: deciding when to refuse a prediction rather than forcing one.</a:t>
            </a:r>
          </a:p>
          <a:p>
            <a:pPr lvl="0" algn="just"/>
            <a:r>
              <a:rPr lang="en-IN" sz="2400" b="1" dirty="0">
                <a:latin typeface="Calisto MT" panose="02040603050505030304" pitchFamily="18" charset="0"/>
              </a:rPr>
              <a:t>Diverse Deep Ensembles</a:t>
            </a:r>
            <a:r>
              <a:rPr lang="en-IN" sz="2400" dirty="0">
                <a:latin typeface="Calisto MT" panose="02040603050505030304" pitchFamily="18" charset="0"/>
              </a:rPr>
              <a:t> indicates the use of multiple complementary models rather than a single classifier.</a:t>
            </a:r>
          </a:p>
          <a:p>
            <a:pPr lvl="0" algn="just"/>
            <a:r>
              <a:rPr lang="en-IN" sz="2400" b="1" dirty="0">
                <a:latin typeface="Calisto MT" panose="02040603050505030304" pitchFamily="18" charset="0"/>
              </a:rPr>
              <a:t>Agentic Evidence Retrieval</a:t>
            </a:r>
            <a:r>
              <a:rPr lang="en-IN" sz="2400" dirty="0">
                <a:latin typeface="Calisto MT" panose="02040603050505030304" pitchFamily="18" charset="0"/>
              </a:rPr>
              <a:t> shows that the system retrieves and validates agricultural evidence as part of the decision process, not just for explanation.</a:t>
            </a:r>
          </a:p>
        </p:txBody>
      </p:sp>
      <p:sp>
        <p:nvSpPr>
          <p:cNvPr id="7" name="Slide Number Placeholder 6">
            <a:extLst>
              <a:ext uri="{FF2B5EF4-FFF2-40B4-BE49-F238E27FC236}">
                <a16:creationId xmlns:a16="http://schemas.microsoft.com/office/drawing/2014/main" id="{14F45621-8939-04E9-03B4-11AF180D5862}"/>
              </a:ext>
            </a:extLst>
          </p:cNvPr>
          <p:cNvSpPr>
            <a:spLocks noGrp="1"/>
          </p:cNvSpPr>
          <p:nvPr>
            <p:ph type="sldNum" sz="quarter" idx="12"/>
          </p:nvPr>
        </p:nvSpPr>
        <p:spPr/>
        <p:txBody>
          <a:bodyPr/>
          <a:lstStyle/>
          <a:p>
            <a:fld id="{D90542D4-23E8-43E0-BA8E-C972DA1A005D}" type="slidenum">
              <a:rPr lang="en-US" sz="1400" b="1" smtClean="0">
                <a:solidFill>
                  <a:schemeClr val="tx1"/>
                </a:solidFill>
                <a:latin typeface="Calisto MT" panose="02040603050505030304" pitchFamily="18" charset="0"/>
              </a:rPr>
              <a:pPr/>
              <a:t>8</a:t>
            </a:fld>
            <a:endParaRPr lang="en-US" sz="1400" b="1" dirty="0">
              <a:solidFill>
                <a:schemeClr val="tx1"/>
              </a:solidFill>
              <a:latin typeface="Calisto MT" panose="02040603050505030304" pitchFamily="18" charset="0"/>
            </a:endParaRPr>
          </a:p>
        </p:txBody>
      </p:sp>
    </p:spTree>
    <p:extLst>
      <p:ext uri="{BB962C8B-B14F-4D97-AF65-F5344CB8AC3E}">
        <p14:creationId xmlns:p14="http://schemas.microsoft.com/office/powerpoint/2010/main" val="306630113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738971-B764-E045-F92B-01E3322A0123}"/>
              </a:ext>
            </a:extLst>
          </p:cNvPr>
          <p:cNvSpPr>
            <a:spLocks noGrp="1"/>
          </p:cNvSpPr>
          <p:nvPr>
            <p:ph type="title"/>
          </p:nvPr>
        </p:nvSpPr>
        <p:spPr>
          <a:xfrm>
            <a:off x="202675" y="984843"/>
            <a:ext cx="8738648" cy="747237"/>
          </a:xfrm>
        </p:spPr>
        <p:txBody>
          <a:bodyPr>
            <a:noAutofit/>
          </a:bodyPr>
          <a:lstStyle/>
          <a:p>
            <a:r>
              <a:rPr lang="en-US" sz="3000" b="1" dirty="0">
                <a:solidFill>
                  <a:schemeClr val="accent2">
                    <a:lumMod val="50000"/>
                  </a:schemeClr>
                </a:solidFill>
                <a:latin typeface="Calisto MT" panose="02040603050505030304" pitchFamily="18" charset="0"/>
              </a:rPr>
              <a:t>6. Objectives</a:t>
            </a:r>
          </a:p>
        </p:txBody>
      </p:sp>
      <p:sp>
        <p:nvSpPr>
          <p:cNvPr id="3" name="Content Placeholder 2">
            <a:extLst>
              <a:ext uri="{FF2B5EF4-FFF2-40B4-BE49-F238E27FC236}">
                <a16:creationId xmlns:a16="http://schemas.microsoft.com/office/drawing/2014/main" id="{E5D502BE-F636-7D1D-85F0-BAFFD3E05E1C}"/>
              </a:ext>
            </a:extLst>
          </p:cNvPr>
          <p:cNvSpPr>
            <a:spLocks noGrp="1"/>
          </p:cNvSpPr>
          <p:nvPr>
            <p:ph idx="1"/>
          </p:nvPr>
        </p:nvSpPr>
        <p:spPr>
          <a:xfrm>
            <a:off x="414779" y="1732080"/>
            <a:ext cx="8314441" cy="3393839"/>
          </a:xfrm>
        </p:spPr>
        <p:txBody>
          <a:bodyPr numCol="1">
            <a:normAutofit/>
          </a:bodyPr>
          <a:lstStyle/>
          <a:p>
            <a:pPr lvl="0" algn="just"/>
            <a:r>
              <a:rPr lang="en-IN" sz="2400" dirty="0">
                <a:latin typeface="Calisto MT" panose="02040603050505030304" pitchFamily="18" charset="0"/>
              </a:rPr>
              <a:t>To implement a multi-model plant-disease screening system with calibrated confidence and image-quality assessment.</a:t>
            </a:r>
          </a:p>
          <a:p>
            <a:pPr lvl="0" algn="just"/>
            <a:r>
              <a:rPr lang="en-IN" sz="2400" dirty="0">
                <a:latin typeface="Calisto MT" panose="02040603050505030304" pitchFamily="18" charset="0"/>
              </a:rPr>
              <a:t>To design and evaluate an abstention policy that refuses predictions on uncertain or out-of-distribution images.</a:t>
            </a:r>
          </a:p>
          <a:p>
            <a:pPr lvl="0" algn="just"/>
            <a:r>
              <a:rPr lang="en-IN" sz="2400" dirty="0">
                <a:latin typeface="Calisto MT" panose="02040603050505030304" pitchFamily="18" charset="0"/>
              </a:rPr>
              <a:t>To integrate evidence-grounded retrieval that validates predictions before they are shown to users.</a:t>
            </a:r>
          </a:p>
          <a:p>
            <a:pPr lvl="0" algn="just"/>
            <a:r>
              <a:rPr lang="en-IN" sz="2400" dirty="0">
                <a:latin typeface="Calisto MT" panose="02040603050505030304" pitchFamily="18" charset="0"/>
              </a:rPr>
              <a:t>To deploy a lightweight </a:t>
            </a:r>
            <a:r>
              <a:rPr lang="en-IN" sz="2400" dirty="0" err="1">
                <a:latin typeface="Calisto MT" panose="02040603050505030304" pitchFamily="18" charset="0"/>
              </a:rPr>
              <a:t>Streamlit</a:t>
            </a:r>
            <a:r>
              <a:rPr lang="en-IN" sz="2400" dirty="0">
                <a:latin typeface="Calisto MT" panose="02040603050505030304" pitchFamily="18" charset="0"/>
              </a:rPr>
              <a:t> interface for real-world accessibility by farmers and agricultural students.</a:t>
            </a:r>
          </a:p>
        </p:txBody>
      </p:sp>
      <p:sp>
        <p:nvSpPr>
          <p:cNvPr id="7" name="Slide Number Placeholder 6">
            <a:extLst>
              <a:ext uri="{FF2B5EF4-FFF2-40B4-BE49-F238E27FC236}">
                <a16:creationId xmlns:a16="http://schemas.microsoft.com/office/drawing/2014/main" id="{14F45621-8939-04E9-03B4-11AF180D5862}"/>
              </a:ext>
            </a:extLst>
          </p:cNvPr>
          <p:cNvSpPr>
            <a:spLocks noGrp="1"/>
          </p:cNvSpPr>
          <p:nvPr>
            <p:ph type="sldNum" sz="quarter" idx="12"/>
          </p:nvPr>
        </p:nvSpPr>
        <p:spPr/>
        <p:txBody>
          <a:bodyPr/>
          <a:lstStyle/>
          <a:p>
            <a:fld id="{D90542D4-23E8-43E0-BA8E-C972DA1A005D}" type="slidenum">
              <a:rPr lang="en-US" sz="1400" b="1" smtClean="0">
                <a:solidFill>
                  <a:schemeClr val="tx1"/>
                </a:solidFill>
                <a:latin typeface="Calisto MT" panose="02040603050505030304" pitchFamily="18" charset="0"/>
              </a:rPr>
              <a:pPr/>
              <a:t>9</a:t>
            </a:fld>
            <a:endParaRPr lang="en-US" sz="1400" b="1" dirty="0">
              <a:solidFill>
                <a:schemeClr val="tx1"/>
              </a:solidFill>
              <a:latin typeface="Calisto MT" panose="02040603050505030304" pitchFamily="18" charset="0"/>
            </a:endParaRPr>
          </a:p>
        </p:txBody>
      </p:sp>
    </p:spTree>
    <p:extLst>
      <p:ext uri="{BB962C8B-B14F-4D97-AF65-F5344CB8AC3E}">
        <p14:creationId xmlns:p14="http://schemas.microsoft.com/office/powerpoint/2010/main" val="44108872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738971-B764-E045-F92B-01E3322A0123}"/>
              </a:ext>
            </a:extLst>
          </p:cNvPr>
          <p:cNvSpPr>
            <a:spLocks noGrp="1"/>
          </p:cNvSpPr>
          <p:nvPr>
            <p:ph type="title"/>
          </p:nvPr>
        </p:nvSpPr>
        <p:spPr>
          <a:xfrm>
            <a:off x="202675" y="437335"/>
            <a:ext cx="8738648" cy="747237"/>
          </a:xfrm>
        </p:spPr>
        <p:txBody>
          <a:bodyPr>
            <a:noAutofit/>
          </a:bodyPr>
          <a:lstStyle/>
          <a:p>
            <a:r>
              <a:rPr lang="en-US" sz="3000" b="1" dirty="0">
                <a:solidFill>
                  <a:schemeClr val="accent2">
                    <a:lumMod val="50000"/>
                  </a:schemeClr>
                </a:solidFill>
                <a:latin typeface="Calisto MT" panose="02040603050505030304" pitchFamily="18" charset="0"/>
              </a:rPr>
              <a:t>7. Scope</a:t>
            </a:r>
          </a:p>
        </p:txBody>
      </p:sp>
      <p:sp>
        <p:nvSpPr>
          <p:cNvPr id="3" name="Content Placeholder 2">
            <a:extLst>
              <a:ext uri="{FF2B5EF4-FFF2-40B4-BE49-F238E27FC236}">
                <a16:creationId xmlns:a16="http://schemas.microsoft.com/office/drawing/2014/main" id="{E5D502BE-F636-7D1D-85F0-BAFFD3E05E1C}"/>
              </a:ext>
            </a:extLst>
          </p:cNvPr>
          <p:cNvSpPr>
            <a:spLocks noGrp="1"/>
          </p:cNvSpPr>
          <p:nvPr>
            <p:ph idx="1"/>
          </p:nvPr>
        </p:nvSpPr>
        <p:spPr>
          <a:xfrm>
            <a:off x="414779" y="1184572"/>
            <a:ext cx="8314441" cy="4488856"/>
          </a:xfrm>
        </p:spPr>
        <p:txBody>
          <a:bodyPr numCol="1">
            <a:normAutofit/>
          </a:bodyPr>
          <a:lstStyle/>
          <a:p>
            <a:pPr>
              <a:lnSpc>
                <a:spcPct val="100000"/>
              </a:lnSpc>
            </a:pPr>
            <a:r>
              <a:rPr lang="en-US" sz="2400" dirty="0">
                <a:latin typeface="Calisto MT" panose="02040603050505030304" pitchFamily="18" charset="0"/>
              </a:rPr>
              <a:t>The system will focus on a limited number of crop types and disease classes for the initial implementation to ensure reliable performance and manageable evaluation.</a:t>
            </a:r>
          </a:p>
          <a:p>
            <a:pPr>
              <a:lnSpc>
                <a:spcPct val="100000"/>
              </a:lnSpc>
            </a:pPr>
            <a:r>
              <a:rPr lang="en-US" sz="2400" dirty="0">
                <a:latin typeface="Calisto MT" panose="02040603050505030304" pitchFamily="18" charset="0"/>
              </a:rPr>
              <a:t>The </a:t>
            </a:r>
            <a:r>
              <a:rPr lang="en-US" sz="2400" dirty="0" err="1">
                <a:latin typeface="Calisto MT" panose="02040603050505030304" pitchFamily="18" charset="0"/>
              </a:rPr>
              <a:t>Streamlit</a:t>
            </a:r>
            <a:r>
              <a:rPr lang="en-US" sz="2400" dirty="0">
                <a:latin typeface="Calisto MT" panose="02040603050505030304" pitchFamily="18" charset="0"/>
              </a:rPr>
              <a:t> deployment will provide an accessible web interface that allows farmers, students, and agricultural extension workers to upload leaf images and receive disease screening results with evidence-grounded explanations.</a:t>
            </a:r>
          </a:p>
          <a:p>
            <a:pPr>
              <a:lnSpc>
                <a:spcPct val="100000"/>
              </a:lnSpc>
            </a:pPr>
            <a:r>
              <a:rPr lang="en-US" sz="2400" dirty="0">
                <a:latin typeface="Calisto MT" panose="02040603050505030304" pitchFamily="18" charset="0"/>
              </a:rPr>
              <a:t>The project will report reliability metrics including selective accuracy, expected calibration error, risk-coverage curves, and abstention rate in addition to standard accuracy, precision, recall, and F1 scores.</a:t>
            </a:r>
          </a:p>
        </p:txBody>
      </p:sp>
      <p:sp>
        <p:nvSpPr>
          <p:cNvPr id="7" name="Slide Number Placeholder 6">
            <a:extLst>
              <a:ext uri="{FF2B5EF4-FFF2-40B4-BE49-F238E27FC236}">
                <a16:creationId xmlns:a16="http://schemas.microsoft.com/office/drawing/2014/main" id="{14F45621-8939-04E9-03B4-11AF180D5862}"/>
              </a:ext>
            </a:extLst>
          </p:cNvPr>
          <p:cNvSpPr>
            <a:spLocks noGrp="1"/>
          </p:cNvSpPr>
          <p:nvPr>
            <p:ph type="sldNum" sz="quarter" idx="12"/>
          </p:nvPr>
        </p:nvSpPr>
        <p:spPr/>
        <p:txBody>
          <a:bodyPr/>
          <a:lstStyle/>
          <a:p>
            <a:fld id="{D90542D4-23E8-43E0-BA8E-C972DA1A005D}" type="slidenum">
              <a:rPr lang="en-US" sz="1400" b="1" smtClean="0">
                <a:solidFill>
                  <a:schemeClr val="tx1"/>
                </a:solidFill>
                <a:latin typeface="Calisto MT" panose="02040603050505030304" pitchFamily="18" charset="0"/>
              </a:rPr>
              <a:pPr/>
              <a:t>10</a:t>
            </a:fld>
            <a:endParaRPr lang="en-US" sz="1400" b="1" dirty="0">
              <a:solidFill>
                <a:schemeClr val="tx1"/>
              </a:solidFill>
              <a:latin typeface="Calisto MT" panose="02040603050505030304" pitchFamily="18" charset="0"/>
            </a:endParaRPr>
          </a:p>
        </p:txBody>
      </p:sp>
    </p:spTree>
    <p:extLst>
      <p:ext uri="{BB962C8B-B14F-4D97-AF65-F5344CB8AC3E}">
        <p14:creationId xmlns:p14="http://schemas.microsoft.com/office/powerpoint/2010/main" val="283474480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738971-B764-E045-F92B-01E3322A0123}"/>
              </a:ext>
            </a:extLst>
          </p:cNvPr>
          <p:cNvSpPr>
            <a:spLocks noGrp="1"/>
          </p:cNvSpPr>
          <p:nvPr>
            <p:ph type="title"/>
          </p:nvPr>
        </p:nvSpPr>
        <p:spPr>
          <a:xfrm>
            <a:off x="509047" y="270858"/>
            <a:ext cx="8006303" cy="549273"/>
          </a:xfrm>
        </p:spPr>
        <p:txBody>
          <a:bodyPr>
            <a:normAutofit fontScale="90000"/>
          </a:bodyPr>
          <a:lstStyle/>
          <a:p>
            <a:r>
              <a:rPr lang="en-US" sz="4000" b="1" dirty="0">
                <a:solidFill>
                  <a:schemeClr val="accent2">
                    <a:lumMod val="50000"/>
                  </a:schemeClr>
                </a:solidFill>
                <a:latin typeface="Calisto MT" panose="02040603050505030304" pitchFamily="18" charset="0"/>
              </a:rPr>
              <a:t>8. Timeline Chart</a:t>
            </a:r>
          </a:p>
        </p:txBody>
      </p:sp>
      <p:sp>
        <p:nvSpPr>
          <p:cNvPr id="7" name="Slide Number Placeholder 6">
            <a:extLst>
              <a:ext uri="{FF2B5EF4-FFF2-40B4-BE49-F238E27FC236}">
                <a16:creationId xmlns:a16="http://schemas.microsoft.com/office/drawing/2014/main" id="{14F45621-8939-04E9-03B4-11AF180D5862}"/>
              </a:ext>
            </a:extLst>
          </p:cNvPr>
          <p:cNvSpPr>
            <a:spLocks noGrp="1"/>
          </p:cNvSpPr>
          <p:nvPr>
            <p:ph type="sldNum" sz="quarter" idx="12"/>
          </p:nvPr>
        </p:nvSpPr>
        <p:spPr/>
        <p:txBody>
          <a:bodyPr/>
          <a:lstStyle/>
          <a:p>
            <a:fld id="{D90542D4-23E8-43E0-BA8E-C972DA1A005D}" type="slidenum">
              <a:rPr lang="en-US" sz="1400" b="1" smtClean="0">
                <a:solidFill>
                  <a:schemeClr val="tx1"/>
                </a:solidFill>
                <a:latin typeface="Calisto MT" panose="02040603050505030304" pitchFamily="18" charset="0"/>
              </a:rPr>
              <a:pPr/>
              <a:t>11</a:t>
            </a:fld>
            <a:endParaRPr lang="en-US" sz="1400" b="1" dirty="0">
              <a:solidFill>
                <a:schemeClr val="tx1"/>
              </a:solidFill>
              <a:latin typeface="Calisto MT" panose="02040603050505030304" pitchFamily="18" charset="0"/>
            </a:endParaRPr>
          </a:p>
        </p:txBody>
      </p:sp>
      <p:pic>
        <p:nvPicPr>
          <p:cNvPr id="9" name="Content Placeholder 8">
            <a:extLst>
              <a:ext uri="{FF2B5EF4-FFF2-40B4-BE49-F238E27FC236}">
                <a16:creationId xmlns:a16="http://schemas.microsoft.com/office/drawing/2014/main" id="{CD9FCE99-DEED-495E-B8BD-2270D225D89D}"/>
              </a:ext>
            </a:extLst>
          </p:cNvPr>
          <p:cNvPicPr>
            <a:picLocks noGrp="1" noChangeAspect="1"/>
          </p:cNvPicPr>
          <p:nvPr>
            <p:ph idx="1"/>
          </p:nvPr>
        </p:nvPicPr>
        <p:blipFill>
          <a:blip r:embed="rId2"/>
          <a:stretch>
            <a:fillRect/>
          </a:stretch>
        </p:blipFill>
        <p:spPr>
          <a:xfrm>
            <a:off x="475341" y="945896"/>
            <a:ext cx="8193317" cy="5284689"/>
          </a:xfrm>
          <a:prstGeom prst="rect">
            <a:avLst/>
          </a:prstGeom>
        </p:spPr>
      </p:pic>
    </p:spTree>
    <p:extLst>
      <p:ext uri="{BB962C8B-B14F-4D97-AF65-F5344CB8AC3E}">
        <p14:creationId xmlns:p14="http://schemas.microsoft.com/office/powerpoint/2010/main" val="31361748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CA0D91B-89E5-189E-ACA5-53EA442437C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A6ABCA5-3923-5190-F81B-0511CF7E8CDF}"/>
              </a:ext>
            </a:extLst>
          </p:cNvPr>
          <p:cNvSpPr>
            <a:spLocks noGrp="1"/>
          </p:cNvSpPr>
          <p:nvPr>
            <p:ph type="title"/>
          </p:nvPr>
        </p:nvSpPr>
        <p:spPr>
          <a:xfrm>
            <a:off x="285751" y="280383"/>
            <a:ext cx="8006303" cy="549273"/>
          </a:xfrm>
        </p:spPr>
        <p:txBody>
          <a:bodyPr>
            <a:normAutofit fontScale="90000"/>
          </a:bodyPr>
          <a:lstStyle/>
          <a:p>
            <a:r>
              <a:rPr lang="en-US" sz="4000" b="1" dirty="0">
                <a:solidFill>
                  <a:schemeClr val="accent2">
                    <a:lumMod val="50000"/>
                  </a:schemeClr>
                </a:solidFill>
                <a:latin typeface="Calisto MT" panose="02040603050505030304" pitchFamily="18" charset="0"/>
              </a:rPr>
              <a:t>9. Project Outcomes</a:t>
            </a:r>
          </a:p>
        </p:txBody>
      </p:sp>
      <p:sp>
        <p:nvSpPr>
          <p:cNvPr id="3" name="Content Placeholder 2">
            <a:extLst>
              <a:ext uri="{FF2B5EF4-FFF2-40B4-BE49-F238E27FC236}">
                <a16:creationId xmlns:a16="http://schemas.microsoft.com/office/drawing/2014/main" id="{D2932742-19BD-2920-BFAF-8911E1661814}"/>
              </a:ext>
            </a:extLst>
          </p:cNvPr>
          <p:cNvSpPr>
            <a:spLocks noGrp="1"/>
          </p:cNvSpPr>
          <p:nvPr>
            <p:ph idx="1"/>
          </p:nvPr>
        </p:nvSpPr>
        <p:spPr>
          <a:xfrm>
            <a:off x="285751" y="989813"/>
            <a:ext cx="8458200" cy="3701059"/>
          </a:xfrm>
        </p:spPr>
        <p:txBody>
          <a:bodyPr numCol="1">
            <a:normAutofit/>
          </a:bodyPr>
          <a:lstStyle/>
          <a:p>
            <a:pPr marL="0" indent="0" algn="ctr">
              <a:lnSpc>
                <a:spcPct val="100000"/>
              </a:lnSpc>
              <a:buNone/>
            </a:pPr>
            <a:r>
              <a:rPr lang="en-US" sz="2400" b="1" dirty="0">
                <a:solidFill>
                  <a:srgbClr val="C00000"/>
                </a:solidFill>
                <a:latin typeface="Calisto MT" panose="02040603050505030304" pitchFamily="18" charset="0"/>
              </a:rPr>
              <a:t>EPICS</a:t>
            </a:r>
          </a:p>
          <a:p>
            <a:pPr marL="0" indent="0">
              <a:lnSpc>
                <a:spcPct val="100000"/>
              </a:lnSpc>
              <a:buNone/>
            </a:pPr>
            <a:r>
              <a:rPr lang="en-US" sz="2400" b="1" dirty="0">
                <a:latin typeface="Calisto MT" panose="02040603050505030304" pitchFamily="18" charset="0"/>
              </a:rPr>
              <a:t>Title: </a:t>
            </a:r>
            <a:r>
              <a:rPr lang="en-US" sz="2400" dirty="0">
                <a:latin typeface="Calisto MT" panose="02040603050505030304" pitchFamily="18" charset="0"/>
              </a:rPr>
              <a:t>Multi-lingual voice assisted skin disease classification using transformers</a:t>
            </a:r>
          </a:p>
          <a:p>
            <a:pPr marL="0" indent="0">
              <a:lnSpc>
                <a:spcPct val="100000"/>
              </a:lnSpc>
              <a:buNone/>
            </a:pPr>
            <a:r>
              <a:rPr lang="en-US" sz="2400" b="1" dirty="0">
                <a:latin typeface="Calisto MT" panose="02040603050505030304" pitchFamily="18" charset="0"/>
              </a:rPr>
              <a:t>Types: </a:t>
            </a:r>
            <a:r>
              <a:rPr lang="en-US" sz="2400" dirty="0">
                <a:latin typeface="Calisto MT" panose="02040603050505030304" pitchFamily="18" charset="0"/>
              </a:rPr>
              <a:t>Conference</a:t>
            </a:r>
          </a:p>
          <a:p>
            <a:pPr marL="0" indent="0">
              <a:lnSpc>
                <a:spcPct val="100000"/>
              </a:lnSpc>
              <a:buNone/>
            </a:pPr>
            <a:r>
              <a:rPr lang="en-US" sz="2400" b="1" dirty="0">
                <a:latin typeface="Calisto MT" panose="02040603050505030304" pitchFamily="18" charset="0"/>
              </a:rPr>
              <a:t>Name of Conference: </a:t>
            </a:r>
            <a:r>
              <a:rPr lang="en-US" sz="2400" dirty="0">
                <a:latin typeface="Calisto MT" panose="02040603050505030304" pitchFamily="18" charset="0"/>
              </a:rPr>
              <a:t>2026 IEEE 4th International Conference on Communication, Security, and Artificial Intelligence</a:t>
            </a:r>
          </a:p>
          <a:p>
            <a:pPr marL="0" indent="0">
              <a:lnSpc>
                <a:spcPct val="100000"/>
              </a:lnSpc>
              <a:buNone/>
            </a:pPr>
            <a:r>
              <a:rPr lang="en-US" sz="2400" b="1" dirty="0">
                <a:latin typeface="Calisto MT" panose="02040603050505030304" pitchFamily="18" charset="0"/>
              </a:rPr>
              <a:t>Status: Submitted</a:t>
            </a:r>
            <a:endParaRPr lang="en-US" sz="2400" dirty="0">
              <a:latin typeface="Calisto MT" panose="02040603050505030304" pitchFamily="18" charset="0"/>
            </a:endParaRPr>
          </a:p>
        </p:txBody>
      </p:sp>
      <p:sp>
        <p:nvSpPr>
          <p:cNvPr id="7" name="Slide Number Placeholder 6">
            <a:extLst>
              <a:ext uri="{FF2B5EF4-FFF2-40B4-BE49-F238E27FC236}">
                <a16:creationId xmlns:a16="http://schemas.microsoft.com/office/drawing/2014/main" id="{7D026D9F-A8E0-8DF9-E86E-2E4594799FCC}"/>
              </a:ext>
            </a:extLst>
          </p:cNvPr>
          <p:cNvSpPr>
            <a:spLocks noGrp="1"/>
          </p:cNvSpPr>
          <p:nvPr>
            <p:ph type="sldNum" sz="quarter" idx="12"/>
          </p:nvPr>
        </p:nvSpPr>
        <p:spPr/>
        <p:txBody>
          <a:bodyPr/>
          <a:lstStyle/>
          <a:p>
            <a:fld id="{D90542D4-23E8-43E0-BA8E-C972DA1A005D}" type="slidenum">
              <a:rPr lang="en-US" sz="1400" b="1" smtClean="0">
                <a:solidFill>
                  <a:schemeClr val="tx1"/>
                </a:solidFill>
                <a:latin typeface="Calisto MT" panose="02040603050505030304" pitchFamily="18" charset="0"/>
              </a:rPr>
              <a:pPr/>
              <a:t>12</a:t>
            </a:fld>
            <a:endParaRPr lang="en-US" sz="1400" b="1" dirty="0">
              <a:solidFill>
                <a:schemeClr val="tx1"/>
              </a:solidFill>
              <a:latin typeface="Calisto MT" panose="02040603050505030304" pitchFamily="18" charset="0"/>
            </a:endParaRPr>
          </a:p>
        </p:txBody>
      </p:sp>
    </p:spTree>
    <p:extLst>
      <p:ext uri="{BB962C8B-B14F-4D97-AF65-F5344CB8AC3E}">
        <p14:creationId xmlns:p14="http://schemas.microsoft.com/office/powerpoint/2010/main" val="26760777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738971-B764-E045-F92B-01E3322A0123}"/>
              </a:ext>
            </a:extLst>
          </p:cNvPr>
          <p:cNvSpPr>
            <a:spLocks noGrp="1"/>
          </p:cNvSpPr>
          <p:nvPr>
            <p:ph type="title"/>
          </p:nvPr>
        </p:nvSpPr>
        <p:spPr>
          <a:xfrm>
            <a:off x="202676" y="-51079"/>
            <a:ext cx="8738648" cy="747237"/>
          </a:xfrm>
        </p:spPr>
        <p:txBody>
          <a:bodyPr>
            <a:noAutofit/>
          </a:bodyPr>
          <a:lstStyle/>
          <a:p>
            <a:r>
              <a:rPr lang="en-US" sz="3000" b="1" dirty="0">
                <a:solidFill>
                  <a:schemeClr val="accent2">
                    <a:lumMod val="50000"/>
                  </a:schemeClr>
                </a:solidFill>
                <a:latin typeface="Calisto MT" panose="02040603050505030304" pitchFamily="18" charset="0"/>
              </a:rPr>
              <a:t>10.1 Study on Existing Technologies  </a:t>
            </a:r>
          </a:p>
        </p:txBody>
      </p:sp>
      <p:sp>
        <p:nvSpPr>
          <p:cNvPr id="3" name="Content Placeholder 2">
            <a:extLst>
              <a:ext uri="{FF2B5EF4-FFF2-40B4-BE49-F238E27FC236}">
                <a16:creationId xmlns:a16="http://schemas.microsoft.com/office/drawing/2014/main" id="{E5D502BE-F636-7D1D-85F0-BAFFD3E05E1C}"/>
              </a:ext>
            </a:extLst>
          </p:cNvPr>
          <p:cNvSpPr>
            <a:spLocks noGrp="1"/>
          </p:cNvSpPr>
          <p:nvPr>
            <p:ph idx="1"/>
          </p:nvPr>
        </p:nvSpPr>
        <p:spPr>
          <a:xfrm>
            <a:off x="358218" y="584462"/>
            <a:ext cx="8314441" cy="6273538"/>
          </a:xfrm>
        </p:spPr>
        <p:txBody>
          <a:bodyPr numCol="1">
            <a:normAutofit fontScale="92500" lnSpcReduction="20000"/>
          </a:bodyPr>
          <a:lstStyle/>
          <a:p>
            <a:pPr marL="0" indent="0" algn="just">
              <a:buNone/>
            </a:pPr>
            <a:r>
              <a:rPr lang="en-US" sz="2300" b="1" dirty="0">
                <a:solidFill>
                  <a:schemeClr val="accent2">
                    <a:lumMod val="50000"/>
                  </a:schemeClr>
                </a:solidFill>
                <a:latin typeface="Calisto MT" panose="02040603050505030304" pitchFamily="18" charset="0"/>
              </a:rPr>
              <a:t>Title: </a:t>
            </a:r>
            <a:r>
              <a:rPr lang="en-IN" sz="2400" dirty="0"/>
              <a:t>A Review of Plant Leaf Disease Identification by Deep Learning Algorithms</a:t>
            </a:r>
            <a:endParaRPr lang="en-US" sz="2300" dirty="0">
              <a:solidFill>
                <a:schemeClr val="tx1">
                  <a:lumMod val="95000"/>
                  <a:lumOff val="5000"/>
                </a:schemeClr>
              </a:solidFill>
              <a:latin typeface="Calisto MT" panose="02040603050505030304" pitchFamily="18" charset="0"/>
            </a:endParaRPr>
          </a:p>
          <a:p>
            <a:pPr marL="0" indent="0" algn="just">
              <a:buNone/>
            </a:pPr>
            <a:r>
              <a:rPr lang="en-US" sz="2300" b="1" dirty="0">
                <a:solidFill>
                  <a:schemeClr val="accent2">
                    <a:lumMod val="50000"/>
                  </a:schemeClr>
                </a:solidFill>
                <a:latin typeface="Calisto MT" panose="02040603050505030304" pitchFamily="18" charset="0"/>
              </a:rPr>
              <a:t>Journal Details: </a:t>
            </a:r>
            <a:r>
              <a:rPr lang="en-IN" sz="2400" i="1" dirty="0"/>
              <a:t>Frontiers in Plant Science</a:t>
            </a:r>
            <a:r>
              <a:rPr lang="en-IN" sz="2400" dirty="0"/>
              <a:t>, Vol. 16, Article 1637241, Frontiers Media SA, 2025.</a:t>
            </a:r>
          </a:p>
          <a:p>
            <a:pPr marL="0" indent="0" algn="just">
              <a:buNone/>
            </a:pPr>
            <a:r>
              <a:rPr lang="en-US" sz="2300" b="1" dirty="0">
                <a:solidFill>
                  <a:schemeClr val="accent2">
                    <a:lumMod val="50000"/>
                  </a:schemeClr>
                </a:solidFill>
                <a:latin typeface="Calisto MT" panose="02040603050505030304" pitchFamily="18" charset="0"/>
              </a:rPr>
              <a:t>Dataset: </a:t>
            </a:r>
            <a:r>
              <a:rPr lang="en-IN" sz="2400" dirty="0"/>
              <a:t>Review paper; </a:t>
            </a:r>
            <a:r>
              <a:rPr lang="en-IN" sz="2400" dirty="0" err="1"/>
              <a:t>PlantVillage</a:t>
            </a:r>
            <a:r>
              <a:rPr lang="en-IN" sz="2400" dirty="0"/>
              <a:t>, </a:t>
            </a:r>
            <a:r>
              <a:rPr lang="en-IN" sz="2400" dirty="0" err="1"/>
              <a:t>PlantDoc</a:t>
            </a:r>
            <a:r>
              <a:rPr lang="en-IN" sz="2400" dirty="0"/>
              <a:t>, AI Challenger, and crop-specific datasets.</a:t>
            </a:r>
          </a:p>
          <a:p>
            <a:pPr marL="0" indent="0" algn="just">
              <a:buNone/>
            </a:pPr>
            <a:r>
              <a:rPr lang="en-US" sz="2300" b="1" dirty="0">
                <a:solidFill>
                  <a:schemeClr val="accent2">
                    <a:lumMod val="50000"/>
                  </a:schemeClr>
                </a:solidFill>
                <a:latin typeface="Calisto MT" panose="02040603050505030304" pitchFamily="18" charset="0"/>
              </a:rPr>
              <a:t>Description: </a:t>
            </a:r>
          </a:p>
          <a:p>
            <a:pPr marL="0" indent="0" algn="just">
              <a:buNone/>
            </a:pPr>
            <a:r>
              <a:rPr lang="en-IN" sz="2400" dirty="0"/>
              <a:t>Reviews CNNs, transfer learning, attention mechanisms, Transformers, image augmentation, and public plant disease datasets. It emphasizes the difference between controlled benchmark images and real field images.</a:t>
            </a:r>
          </a:p>
          <a:p>
            <a:pPr marL="0" indent="0" algn="just">
              <a:buNone/>
            </a:pPr>
            <a:r>
              <a:rPr lang="en-US" sz="2300" b="1" dirty="0">
                <a:solidFill>
                  <a:schemeClr val="accent2">
                    <a:lumMod val="50000"/>
                  </a:schemeClr>
                </a:solidFill>
                <a:latin typeface="Calisto MT" panose="02040603050505030304" pitchFamily="18" charset="0"/>
              </a:rPr>
              <a:t>Gaps Addressed:</a:t>
            </a:r>
          </a:p>
          <a:p>
            <a:pPr marL="457200" lvl="0" indent="-457200" algn="just">
              <a:buFont typeface="+mj-lt"/>
              <a:buAutoNum type="arabicPeriod"/>
            </a:pPr>
            <a:r>
              <a:rPr lang="en-IN" sz="2400" dirty="0"/>
              <a:t>Summarizes deep-learning architectures for leaf disease identification.</a:t>
            </a:r>
          </a:p>
          <a:p>
            <a:pPr marL="457200" lvl="0" indent="-457200" algn="just">
              <a:buFont typeface="+mj-lt"/>
              <a:buAutoNum type="arabicPeriod"/>
            </a:pPr>
            <a:r>
              <a:rPr lang="en-IN" sz="2400" dirty="0"/>
              <a:t>Highlights the need for field-image datasets and better generalization.</a:t>
            </a:r>
          </a:p>
          <a:p>
            <a:pPr marL="0" indent="0" algn="just">
              <a:lnSpc>
                <a:spcPct val="100000"/>
              </a:lnSpc>
              <a:buNone/>
            </a:pPr>
            <a:r>
              <a:rPr lang="en-US" sz="2300" b="1" dirty="0">
                <a:solidFill>
                  <a:schemeClr val="accent2">
                    <a:lumMod val="50000"/>
                  </a:schemeClr>
                </a:solidFill>
                <a:latin typeface="Calisto MT" panose="02040603050505030304" pitchFamily="18" charset="0"/>
              </a:rPr>
              <a:t>Limitations:</a:t>
            </a:r>
          </a:p>
          <a:p>
            <a:pPr marL="457200" lvl="0" indent="-457200" algn="just">
              <a:buFont typeface="+mj-lt"/>
              <a:buAutoNum type="arabicPeriod"/>
            </a:pPr>
            <a:r>
              <a:rPr lang="en-IN" sz="2400" dirty="0"/>
              <a:t>Does not implement a specific disease-recognition model.</a:t>
            </a:r>
          </a:p>
          <a:p>
            <a:pPr marL="457200" lvl="0" indent="-457200" algn="just">
              <a:buFont typeface="+mj-lt"/>
              <a:buAutoNum type="arabicPeriod"/>
            </a:pPr>
            <a:r>
              <a:rPr lang="en-IN" sz="2400" dirty="0"/>
              <a:t>Does not handle uncertainty, unknown diseases, or safe abstention.</a:t>
            </a:r>
          </a:p>
          <a:p>
            <a:pPr marL="0" indent="0" algn="just">
              <a:lnSpc>
                <a:spcPct val="100000"/>
              </a:lnSpc>
              <a:buNone/>
            </a:pPr>
            <a:endParaRPr lang="en-US" sz="2000" b="1" dirty="0">
              <a:latin typeface="Calisto MT" panose="02040603050505030304" pitchFamily="18" charset="0"/>
            </a:endParaRPr>
          </a:p>
          <a:p>
            <a:pPr marL="457200" indent="-457200" algn="just">
              <a:lnSpc>
                <a:spcPct val="100000"/>
              </a:lnSpc>
              <a:buAutoNum type="arabicPeriod"/>
            </a:pPr>
            <a:endParaRPr lang="en-US" sz="2400" b="1" dirty="0">
              <a:solidFill>
                <a:srgbClr val="C00000"/>
              </a:solidFill>
              <a:latin typeface="Calisto MT" panose="02040603050505030304" pitchFamily="18" charset="0"/>
            </a:endParaRPr>
          </a:p>
          <a:p>
            <a:pPr marL="0" indent="0" algn="just">
              <a:lnSpc>
                <a:spcPct val="100000"/>
              </a:lnSpc>
              <a:buNone/>
            </a:pPr>
            <a:endParaRPr lang="en-US" sz="1800" dirty="0">
              <a:latin typeface="Calisto MT" panose="02040603050505030304" pitchFamily="18" charset="0"/>
            </a:endParaRPr>
          </a:p>
          <a:p>
            <a:pPr marL="0" indent="0" algn="just">
              <a:lnSpc>
                <a:spcPct val="100000"/>
              </a:lnSpc>
              <a:buNone/>
            </a:pPr>
            <a:endParaRPr lang="en-US" sz="1800" dirty="0">
              <a:latin typeface="Calisto MT" panose="02040603050505030304" pitchFamily="18" charset="0"/>
            </a:endParaRPr>
          </a:p>
          <a:p>
            <a:pPr marL="0" indent="0" algn="just">
              <a:lnSpc>
                <a:spcPct val="100000"/>
              </a:lnSpc>
              <a:buNone/>
            </a:pPr>
            <a:endParaRPr lang="en-US" sz="1800" dirty="0">
              <a:latin typeface="Calisto MT" panose="02040603050505030304" pitchFamily="18" charset="0"/>
            </a:endParaRPr>
          </a:p>
          <a:p>
            <a:pPr marL="0" indent="0" algn="just">
              <a:lnSpc>
                <a:spcPct val="100000"/>
              </a:lnSpc>
              <a:buNone/>
            </a:pPr>
            <a:endParaRPr lang="en-US" sz="1800" dirty="0">
              <a:latin typeface="Calisto MT" panose="02040603050505030304" pitchFamily="18" charset="0"/>
            </a:endParaRPr>
          </a:p>
          <a:p>
            <a:pPr marL="0" indent="0" algn="just">
              <a:lnSpc>
                <a:spcPct val="100000"/>
              </a:lnSpc>
              <a:buNone/>
            </a:pPr>
            <a:endParaRPr lang="en-US" sz="1800" dirty="0">
              <a:latin typeface="Calisto MT" panose="02040603050505030304" pitchFamily="18" charset="0"/>
            </a:endParaRPr>
          </a:p>
          <a:p>
            <a:pPr marL="0" indent="0" algn="just">
              <a:lnSpc>
                <a:spcPct val="100000"/>
              </a:lnSpc>
              <a:buNone/>
            </a:pPr>
            <a:endParaRPr lang="en-US" sz="1800" dirty="0">
              <a:latin typeface="Calisto MT" panose="02040603050505030304" pitchFamily="18" charset="0"/>
            </a:endParaRPr>
          </a:p>
          <a:p>
            <a:pPr marL="0" indent="0" algn="just">
              <a:lnSpc>
                <a:spcPct val="100000"/>
              </a:lnSpc>
              <a:buNone/>
            </a:pPr>
            <a:endParaRPr lang="en-US" sz="1800" dirty="0">
              <a:latin typeface="Calisto MT" panose="02040603050505030304" pitchFamily="18" charset="0"/>
            </a:endParaRPr>
          </a:p>
          <a:p>
            <a:pPr marL="0" indent="0" algn="just">
              <a:lnSpc>
                <a:spcPct val="100000"/>
              </a:lnSpc>
              <a:buNone/>
            </a:pPr>
            <a:endParaRPr lang="en-US" sz="1800" dirty="0">
              <a:latin typeface="Calisto MT" panose="02040603050505030304" pitchFamily="18" charset="0"/>
            </a:endParaRPr>
          </a:p>
          <a:p>
            <a:pPr marL="0" indent="0" algn="just">
              <a:lnSpc>
                <a:spcPct val="100000"/>
              </a:lnSpc>
              <a:buNone/>
            </a:pPr>
            <a:endParaRPr lang="en-US" sz="2000" b="1" i="1" dirty="0">
              <a:solidFill>
                <a:srgbClr val="C00000"/>
              </a:solidFill>
              <a:latin typeface="Calisto MT" panose="02040603050505030304" pitchFamily="18" charset="0"/>
            </a:endParaRPr>
          </a:p>
        </p:txBody>
      </p:sp>
      <p:sp>
        <p:nvSpPr>
          <p:cNvPr id="7" name="Slide Number Placeholder 6">
            <a:extLst>
              <a:ext uri="{FF2B5EF4-FFF2-40B4-BE49-F238E27FC236}">
                <a16:creationId xmlns:a16="http://schemas.microsoft.com/office/drawing/2014/main" id="{14F45621-8939-04E9-03B4-11AF180D5862}"/>
              </a:ext>
            </a:extLst>
          </p:cNvPr>
          <p:cNvSpPr>
            <a:spLocks noGrp="1"/>
          </p:cNvSpPr>
          <p:nvPr>
            <p:ph type="sldNum" sz="quarter" idx="12"/>
          </p:nvPr>
        </p:nvSpPr>
        <p:spPr/>
        <p:txBody>
          <a:bodyPr/>
          <a:lstStyle/>
          <a:p>
            <a:fld id="{D90542D4-23E8-43E0-BA8E-C972DA1A005D}" type="slidenum">
              <a:rPr lang="en-US" sz="1400" b="1" smtClean="0">
                <a:solidFill>
                  <a:schemeClr val="tx1"/>
                </a:solidFill>
                <a:latin typeface="Calisto MT" panose="02040603050505030304" pitchFamily="18" charset="0"/>
              </a:rPr>
              <a:pPr/>
              <a:t>13</a:t>
            </a:fld>
            <a:endParaRPr lang="en-US" sz="1400" b="1" dirty="0">
              <a:solidFill>
                <a:schemeClr val="tx1"/>
              </a:solidFill>
              <a:latin typeface="Calisto MT" panose="02040603050505030304" pitchFamily="18" charset="0"/>
            </a:endParaRPr>
          </a:p>
        </p:txBody>
      </p:sp>
    </p:spTree>
    <p:extLst>
      <p:ext uri="{BB962C8B-B14F-4D97-AF65-F5344CB8AC3E}">
        <p14:creationId xmlns:p14="http://schemas.microsoft.com/office/powerpoint/2010/main" val="160682508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82BC71C-EDA4-BF71-2A58-8E2EAD52FF5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B85C589-0ED4-DD28-A196-A0A1D1ED76A6}"/>
              </a:ext>
            </a:extLst>
          </p:cNvPr>
          <p:cNvSpPr>
            <a:spLocks noGrp="1"/>
          </p:cNvSpPr>
          <p:nvPr>
            <p:ph type="title"/>
          </p:nvPr>
        </p:nvSpPr>
        <p:spPr>
          <a:xfrm>
            <a:off x="202676" y="-51079"/>
            <a:ext cx="8738648" cy="747237"/>
          </a:xfrm>
        </p:spPr>
        <p:txBody>
          <a:bodyPr>
            <a:noAutofit/>
          </a:bodyPr>
          <a:lstStyle/>
          <a:p>
            <a:r>
              <a:rPr lang="en-US" sz="3000" b="1" dirty="0">
                <a:solidFill>
                  <a:schemeClr val="accent2">
                    <a:lumMod val="50000"/>
                  </a:schemeClr>
                </a:solidFill>
                <a:latin typeface="Calisto MT" panose="02040603050505030304" pitchFamily="18" charset="0"/>
              </a:rPr>
              <a:t>10.2 Study on Existing Technologies  </a:t>
            </a:r>
          </a:p>
        </p:txBody>
      </p:sp>
      <p:sp>
        <p:nvSpPr>
          <p:cNvPr id="3" name="Content Placeholder 2">
            <a:extLst>
              <a:ext uri="{FF2B5EF4-FFF2-40B4-BE49-F238E27FC236}">
                <a16:creationId xmlns:a16="http://schemas.microsoft.com/office/drawing/2014/main" id="{A2F53139-451A-F044-079C-F319606B410F}"/>
              </a:ext>
            </a:extLst>
          </p:cNvPr>
          <p:cNvSpPr>
            <a:spLocks noGrp="1"/>
          </p:cNvSpPr>
          <p:nvPr>
            <p:ph idx="1"/>
          </p:nvPr>
        </p:nvSpPr>
        <p:spPr>
          <a:xfrm>
            <a:off x="358218" y="584462"/>
            <a:ext cx="8314441" cy="6273538"/>
          </a:xfrm>
        </p:spPr>
        <p:txBody>
          <a:bodyPr numCol="1">
            <a:normAutofit fontScale="92500" lnSpcReduction="10000"/>
          </a:bodyPr>
          <a:lstStyle/>
          <a:p>
            <a:pPr marL="0" indent="0" algn="just">
              <a:buNone/>
            </a:pPr>
            <a:r>
              <a:rPr lang="en-US" sz="2300" b="1" dirty="0">
                <a:solidFill>
                  <a:schemeClr val="accent2">
                    <a:lumMod val="50000"/>
                  </a:schemeClr>
                </a:solidFill>
                <a:latin typeface="Calisto MT" panose="02040603050505030304" pitchFamily="18" charset="0"/>
              </a:rPr>
              <a:t>Title: </a:t>
            </a:r>
            <a:r>
              <a:rPr lang="en-IN" sz="2400" dirty="0"/>
              <a:t>Machine Learning and Deep Learning for Plant Disease Detection: A Review of Techniques and Trends</a:t>
            </a:r>
          </a:p>
          <a:p>
            <a:pPr marL="0" indent="0" algn="just">
              <a:buNone/>
            </a:pPr>
            <a:r>
              <a:rPr lang="en-US" sz="2300" b="1" dirty="0">
                <a:solidFill>
                  <a:schemeClr val="accent2">
                    <a:lumMod val="50000"/>
                  </a:schemeClr>
                </a:solidFill>
                <a:latin typeface="Calisto MT" panose="02040603050505030304" pitchFamily="18" charset="0"/>
              </a:rPr>
              <a:t>Journal Details: </a:t>
            </a:r>
            <a:r>
              <a:rPr lang="en-IN" sz="2400" i="1" dirty="0"/>
              <a:t>International Journal of Science and Innovation</a:t>
            </a:r>
            <a:r>
              <a:rPr lang="en-IN" sz="2400" dirty="0"/>
              <a:t>, 2025.</a:t>
            </a:r>
          </a:p>
          <a:p>
            <a:pPr marL="0" indent="0" algn="just">
              <a:buNone/>
            </a:pPr>
            <a:r>
              <a:rPr lang="en-US" sz="2300" b="1" dirty="0">
                <a:solidFill>
                  <a:schemeClr val="accent2">
                    <a:lumMod val="50000"/>
                  </a:schemeClr>
                </a:solidFill>
                <a:latin typeface="Calisto MT" panose="02040603050505030304" pitchFamily="18" charset="0"/>
              </a:rPr>
              <a:t>Dataset: </a:t>
            </a:r>
            <a:r>
              <a:rPr lang="en-IN" sz="2400" dirty="0"/>
              <a:t>Review paper; discusses </a:t>
            </a:r>
            <a:r>
              <a:rPr lang="en-IN" sz="2400" dirty="0" err="1"/>
              <a:t>PlantVillage</a:t>
            </a:r>
            <a:r>
              <a:rPr lang="en-IN" sz="2400" dirty="0"/>
              <a:t>, </a:t>
            </a:r>
            <a:r>
              <a:rPr lang="en-IN" sz="2400" dirty="0" err="1"/>
              <a:t>PlantDoc</a:t>
            </a:r>
            <a:r>
              <a:rPr lang="en-IN" sz="2400" dirty="0"/>
              <a:t>, and custom crop-disease datasets.</a:t>
            </a:r>
          </a:p>
          <a:p>
            <a:pPr marL="0" indent="0" algn="just">
              <a:buNone/>
            </a:pPr>
            <a:r>
              <a:rPr lang="en-US" sz="2300" b="1" dirty="0">
                <a:solidFill>
                  <a:schemeClr val="accent2">
                    <a:lumMod val="50000"/>
                  </a:schemeClr>
                </a:solidFill>
                <a:latin typeface="Calisto MT" panose="02040603050505030304" pitchFamily="18" charset="0"/>
              </a:rPr>
              <a:t>Description: </a:t>
            </a:r>
          </a:p>
          <a:p>
            <a:pPr marL="0" indent="0" algn="just">
              <a:buNone/>
            </a:pPr>
            <a:r>
              <a:rPr lang="en-IN" sz="2400" dirty="0"/>
              <a:t>Reviews ML and DL methods for plant disease detection, including SVM, Random Forest, CNNs, transfer learning, </a:t>
            </a:r>
            <a:r>
              <a:rPr lang="en-IN" sz="2400" dirty="0" err="1"/>
              <a:t>EfficientNet</a:t>
            </a:r>
            <a:r>
              <a:rPr lang="en-IN" sz="2400" dirty="0"/>
              <a:t>, </a:t>
            </a:r>
            <a:r>
              <a:rPr lang="en-IN" sz="2400" dirty="0" err="1"/>
              <a:t>ResNet</a:t>
            </a:r>
            <a:r>
              <a:rPr lang="en-IN" sz="2400" dirty="0"/>
              <a:t>, </a:t>
            </a:r>
            <a:r>
              <a:rPr lang="en-IN" sz="2400" dirty="0" err="1"/>
              <a:t>MobileNet</a:t>
            </a:r>
            <a:r>
              <a:rPr lang="en-IN" sz="2400" dirty="0"/>
              <a:t>, and YOLO models. It highlights high benchmark accuracy but reduced field reliability.</a:t>
            </a:r>
          </a:p>
          <a:p>
            <a:pPr marL="0" indent="0" algn="just">
              <a:buNone/>
            </a:pPr>
            <a:r>
              <a:rPr lang="en-US" sz="2300" b="1" dirty="0">
                <a:solidFill>
                  <a:schemeClr val="accent2">
                    <a:lumMod val="50000"/>
                  </a:schemeClr>
                </a:solidFill>
                <a:latin typeface="Calisto MT" panose="02040603050505030304" pitchFamily="18" charset="0"/>
              </a:rPr>
              <a:t>Gaps Addressed:</a:t>
            </a:r>
          </a:p>
          <a:p>
            <a:pPr marL="457200" lvl="0" indent="-457200" algn="just">
              <a:buFont typeface="+mj-lt"/>
              <a:buAutoNum type="arabicPeriod"/>
            </a:pPr>
            <a:r>
              <a:rPr lang="en-IN" sz="2400" dirty="0"/>
              <a:t>Reviews the evolution from ML to modern deep-learning methods.</a:t>
            </a:r>
          </a:p>
          <a:p>
            <a:pPr marL="457200" lvl="0" indent="-457200" algn="just">
              <a:buFont typeface="+mj-lt"/>
              <a:buAutoNum type="arabicPeriod"/>
            </a:pPr>
            <a:r>
              <a:rPr lang="en-IN" sz="2400" dirty="0"/>
              <a:t>Identifies dataset bias and real-time deployment issues.</a:t>
            </a:r>
          </a:p>
          <a:p>
            <a:pPr marL="0" indent="0" algn="just">
              <a:lnSpc>
                <a:spcPct val="100000"/>
              </a:lnSpc>
              <a:buNone/>
            </a:pPr>
            <a:r>
              <a:rPr lang="en-US" sz="2300" b="1" dirty="0">
                <a:solidFill>
                  <a:schemeClr val="accent2">
                    <a:lumMod val="50000"/>
                  </a:schemeClr>
                </a:solidFill>
                <a:latin typeface="Calisto MT" panose="02040603050505030304" pitchFamily="18" charset="0"/>
              </a:rPr>
              <a:t>Limitations:</a:t>
            </a:r>
          </a:p>
          <a:p>
            <a:pPr marL="457200" lvl="0" indent="-457200" algn="just">
              <a:buFont typeface="+mj-lt"/>
              <a:buAutoNum type="arabicPeriod"/>
            </a:pPr>
            <a:r>
              <a:rPr lang="en-IN" sz="2400" dirty="0"/>
              <a:t>Does not propose an abstention mechanism for uncertain disease images.</a:t>
            </a:r>
          </a:p>
          <a:p>
            <a:pPr marL="457200" lvl="0" indent="-457200" algn="just">
              <a:buFont typeface="+mj-lt"/>
              <a:buAutoNum type="arabicPeriod"/>
            </a:pPr>
            <a:r>
              <a:rPr lang="en-IN" sz="2400" dirty="0"/>
              <a:t>Does not provide an ensemble, OOD detection, or evidence-retrieval framework.</a:t>
            </a:r>
          </a:p>
          <a:p>
            <a:pPr marL="0" indent="0" algn="just">
              <a:lnSpc>
                <a:spcPct val="100000"/>
              </a:lnSpc>
              <a:buNone/>
            </a:pPr>
            <a:endParaRPr lang="en-US" sz="2000" b="1" dirty="0">
              <a:latin typeface="Calisto MT" panose="02040603050505030304" pitchFamily="18" charset="0"/>
            </a:endParaRPr>
          </a:p>
          <a:p>
            <a:pPr marL="457200" indent="-457200" algn="just">
              <a:lnSpc>
                <a:spcPct val="100000"/>
              </a:lnSpc>
              <a:buAutoNum type="arabicPeriod"/>
            </a:pPr>
            <a:endParaRPr lang="en-US" sz="2400" b="1" dirty="0">
              <a:solidFill>
                <a:srgbClr val="C00000"/>
              </a:solidFill>
              <a:latin typeface="Calisto MT" panose="02040603050505030304" pitchFamily="18" charset="0"/>
            </a:endParaRPr>
          </a:p>
          <a:p>
            <a:pPr marL="0" indent="0" algn="just">
              <a:lnSpc>
                <a:spcPct val="100000"/>
              </a:lnSpc>
              <a:buNone/>
            </a:pPr>
            <a:endParaRPr lang="en-US" sz="1800" dirty="0">
              <a:latin typeface="Calisto MT" panose="02040603050505030304" pitchFamily="18" charset="0"/>
            </a:endParaRPr>
          </a:p>
          <a:p>
            <a:pPr marL="0" indent="0" algn="just">
              <a:lnSpc>
                <a:spcPct val="100000"/>
              </a:lnSpc>
              <a:buNone/>
            </a:pPr>
            <a:endParaRPr lang="en-US" sz="1800" dirty="0">
              <a:latin typeface="Calisto MT" panose="02040603050505030304" pitchFamily="18" charset="0"/>
            </a:endParaRPr>
          </a:p>
          <a:p>
            <a:pPr marL="0" indent="0" algn="just">
              <a:lnSpc>
                <a:spcPct val="100000"/>
              </a:lnSpc>
              <a:buNone/>
            </a:pPr>
            <a:endParaRPr lang="en-US" sz="1800" dirty="0">
              <a:latin typeface="Calisto MT" panose="02040603050505030304" pitchFamily="18" charset="0"/>
            </a:endParaRPr>
          </a:p>
          <a:p>
            <a:pPr marL="0" indent="0" algn="just">
              <a:lnSpc>
                <a:spcPct val="100000"/>
              </a:lnSpc>
              <a:buNone/>
            </a:pPr>
            <a:endParaRPr lang="en-US" sz="1800" dirty="0">
              <a:latin typeface="Calisto MT" panose="02040603050505030304" pitchFamily="18" charset="0"/>
            </a:endParaRPr>
          </a:p>
          <a:p>
            <a:pPr marL="0" indent="0" algn="just">
              <a:lnSpc>
                <a:spcPct val="100000"/>
              </a:lnSpc>
              <a:buNone/>
            </a:pPr>
            <a:endParaRPr lang="en-US" sz="1800" dirty="0">
              <a:latin typeface="Calisto MT" panose="02040603050505030304" pitchFamily="18" charset="0"/>
            </a:endParaRPr>
          </a:p>
          <a:p>
            <a:pPr marL="0" indent="0" algn="just">
              <a:lnSpc>
                <a:spcPct val="100000"/>
              </a:lnSpc>
              <a:buNone/>
            </a:pPr>
            <a:endParaRPr lang="en-US" sz="1800" dirty="0">
              <a:latin typeface="Calisto MT" panose="02040603050505030304" pitchFamily="18" charset="0"/>
            </a:endParaRPr>
          </a:p>
          <a:p>
            <a:pPr marL="0" indent="0" algn="just">
              <a:lnSpc>
                <a:spcPct val="100000"/>
              </a:lnSpc>
              <a:buNone/>
            </a:pPr>
            <a:endParaRPr lang="en-US" sz="1800" dirty="0">
              <a:latin typeface="Calisto MT" panose="02040603050505030304" pitchFamily="18" charset="0"/>
            </a:endParaRPr>
          </a:p>
          <a:p>
            <a:pPr marL="0" indent="0" algn="just">
              <a:lnSpc>
                <a:spcPct val="100000"/>
              </a:lnSpc>
              <a:buNone/>
            </a:pPr>
            <a:endParaRPr lang="en-US" sz="1800" dirty="0">
              <a:latin typeface="Calisto MT" panose="02040603050505030304" pitchFamily="18" charset="0"/>
            </a:endParaRPr>
          </a:p>
          <a:p>
            <a:pPr marL="0" indent="0" algn="just">
              <a:lnSpc>
                <a:spcPct val="100000"/>
              </a:lnSpc>
              <a:buNone/>
            </a:pPr>
            <a:endParaRPr lang="en-US" sz="2000" b="1" i="1" dirty="0">
              <a:solidFill>
                <a:srgbClr val="C00000"/>
              </a:solidFill>
              <a:latin typeface="Calisto MT" panose="02040603050505030304" pitchFamily="18" charset="0"/>
            </a:endParaRPr>
          </a:p>
        </p:txBody>
      </p:sp>
      <p:sp>
        <p:nvSpPr>
          <p:cNvPr id="7" name="Slide Number Placeholder 6">
            <a:extLst>
              <a:ext uri="{FF2B5EF4-FFF2-40B4-BE49-F238E27FC236}">
                <a16:creationId xmlns:a16="http://schemas.microsoft.com/office/drawing/2014/main" id="{97525B38-4398-9B78-18D7-29781BE060C9}"/>
              </a:ext>
            </a:extLst>
          </p:cNvPr>
          <p:cNvSpPr>
            <a:spLocks noGrp="1"/>
          </p:cNvSpPr>
          <p:nvPr>
            <p:ph type="sldNum" sz="quarter" idx="12"/>
          </p:nvPr>
        </p:nvSpPr>
        <p:spPr/>
        <p:txBody>
          <a:bodyPr/>
          <a:lstStyle/>
          <a:p>
            <a:fld id="{D90542D4-23E8-43E0-BA8E-C972DA1A005D}" type="slidenum">
              <a:rPr lang="en-US" sz="1400" b="1" smtClean="0">
                <a:solidFill>
                  <a:schemeClr val="tx1"/>
                </a:solidFill>
                <a:latin typeface="Calisto MT" panose="02040603050505030304" pitchFamily="18" charset="0"/>
              </a:rPr>
              <a:pPr/>
              <a:t>14</a:t>
            </a:fld>
            <a:endParaRPr lang="en-US" sz="1400" b="1" dirty="0">
              <a:solidFill>
                <a:schemeClr val="tx1"/>
              </a:solidFill>
              <a:latin typeface="Calisto MT" panose="02040603050505030304" pitchFamily="18" charset="0"/>
            </a:endParaRPr>
          </a:p>
        </p:txBody>
      </p:sp>
    </p:spTree>
    <p:extLst>
      <p:ext uri="{BB962C8B-B14F-4D97-AF65-F5344CB8AC3E}">
        <p14:creationId xmlns:p14="http://schemas.microsoft.com/office/powerpoint/2010/main" val="216806430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4EB34BC-B629-6493-0849-8DA63D2DD66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7D2B8A2-AD89-2ACF-D90E-1872F812C323}"/>
              </a:ext>
            </a:extLst>
          </p:cNvPr>
          <p:cNvSpPr>
            <a:spLocks noGrp="1"/>
          </p:cNvSpPr>
          <p:nvPr>
            <p:ph type="title"/>
          </p:nvPr>
        </p:nvSpPr>
        <p:spPr>
          <a:xfrm>
            <a:off x="202676" y="-51079"/>
            <a:ext cx="8738648" cy="747237"/>
          </a:xfrm>
        </p:spPr>
        <p:txBody>
          <a:bodyPr>
            <a:noAutofit/>
          </a:bodyPr>
          <a:lstStyle/>
          <a:p>
            <a:r>
              <a:rPr lang="en-US" sz="3000" b="1" dirty="0">
                <a:solidFill>
                  <a:schemeClr val="accent2">
                    <a:lumMod val="50000"/>
                  </a:schemeClr>
                </a:solidFill>
                <a:latin typeface="Calisto MT" panose="02040603050505030304" pitchFamily="18" charset="0"/>
              </a:rPr>
              <a:t>10.3 Study on Existing Technologies  </a:t>
            </a:r>
          </a:p>
        </p:txBody>
      </p:sp>
      <p:sp>
        <p:nvSpPr>
          <p:cNvPr id="3" name="Content Placeholder 2">
            <a:extLst>
              <a:ext uri="{FF2B5EF4-FFF2-40B4-BE49-F238E27FC236}">
                <a16:creationId xmlns:a16="http://schemas.microsoft.com/office/drawing/2014/main" id="{FB5AB176-CE1E-E644-A254-6DF8C9F0645F}"/>
              </a:ext>
            </a:extLst>
          </p:cNvPr>
          <p:cNvSpPr>
            <a:spLocks noGrp="1"/>
          </p:cNvSpPr>
          <p:nvPr>
            <p:ph idx="1"/>
          </p:nvPr>
        </p:nvSpPr>
        <p:spPr>
          <a:xfrm>
            <a:off x="358218" y="584462"/>
            <a:ext cx="8314441" cy="6273538"/>
          </a:xfrm>
        </p:spPr>
        <p:txBody>
          <a:bodyPr numCol="1">
            <a:normAutofit fontScale="92500" lnSpcReduction="20000"/>
          </a:bodyPr>
          <a:lstStyle/>
          <a:p>
            <a:pPr marL="0" indent="0" algn="just">
              <a:buNone/>
            </a:pPr>
            <a:r>
              <a:rPr lang="en-US" sz="2300" b="1" dirty="0">
                <a:solidFill>
                  <a:schemeClr val="accent2">
                    <a:lumMod val="50000"/>
                  </a:schemeClr>
                </a:solidFill>
                <a:latin typeface="Calisto MT" panose="02040603050505030304" pitchFamily="18" charset="0"/>
              </a:rPr>
              <a:t>Title: </a:t>
            </a:r>
            <a:r>
              <a:rPr lang="en-IN" sz="2400" dirty="0" err="1"/>
              <a:t>ConvGeM</a:t>
            </a:r>
            <a:r>
              <a:rPr lang="en-IN" sz="2400" dirty="0"/>
              <a:t>-next: A Deep Learning Framework for Plant Disease Detection</a:t>
            </a:r>
          </a:p>
          <a:p>
            <a:pPr marL="0" indent="0" algn="just">
              <a:buNone/>
            </a:pPr>
            <a:r>
              <a:rPr lang="en-US" sz="2300" b="1" dirty="0">
                <a:solidFill>
                  <a:schemeClr val="accent2">
                    <a:lumMod val="50000"/>
                  </a:schemeClr>
                </a:solidFill>
                <a:latin typeface="Calisto MT" panose="02040603050505030304" pitchFamily="18" charset="0"/>
              </a:rPr>
              <a:t>Journal Details: </a:t>
            </a:r>
            <a:r>
              <a:rPr lang="en-IN" sz="2400" i="1" dirty="0"/>
              <a:t>Frontiers in Plant Science</a:t>
            </a:r>
            <a:r>
              <a:rPr lang="en-IN" sz="2400" dirty="0"/>
              <a:t>, Vol. 17, Article 1763739, Frontiers Media SA, 2026. DOI: 10.3389/fpls.2026.1763739</a:t>
            </a:r>
          </a:p>
          <a:p>
            <a:pPr marL="0" indent="0" algn="just">
              <a:buNone/>
            </a:pPr>
            <a:r>
              <a:rPr lang="en-US" sz="2300" b="1" dirty="0">
                <a:solidFill>
                  <a:schemeClr val="accent2">
                    <a:lumMod val="50000"/>
                  </a:schemeClr>
                </a:solidFill>
                <a:latin typeface="Calisto MT" panose="02040603050505030304" pitchFamily="18" charset="0"/>
              </a:rPr>
              <a:t>Dataset: </a:t>
            </a:r>
            <a:r>
              <a:rPr lang="en-IN" sz="2400" dirty="0" err="1"/>
              <a:t>PlantVillage</a:t>
            </a:r>
            <a:r>
              <a:rPr lang="en-IN" sz="2400" dirty="0"/>
              <a:t> — 54,284 images, 38 classes</a:t>
            </a:r>
          </a:p>
          <a:p>
            <a:pPr marL="0" indent="0" algn="just">
              <a:buNone/>
            </a:pPr>
            <a:r>
              <a:rPr lang="en-IN" sz="2400" dirty="0"/>
              <a:t>	</a:t>
            </a:r>
            <a:r>
              <a:rPr lang="en-IN" sz="2400" dirty="0" err="1"/>
              <a:t>PlantDoc</a:t>
            </a:r>
            <a:r>
              <a:rPr lang="en-IN" sz="2400" dirty="0"/>
              <a:t> — approximately 2,598 images, 27 classes.</a:t>
            </a:r>
          </a:p>
          <a:p>
            <a:pPr marL="0" indent="0" algn="just">
              <a:buNone/>
            </a:pPr>
            <a:r>
              <a:rPr lang="en-US" sz="2300" b="1" dirty="0">
                <a:solidFill>
                  <a:schemeClr val="accent2">
                    <a:lumMod val="50000"/>
                  </a:schemeClr>
                </a:solidFill>
                <a:latin typeface="Calisto MT" panose="02040603050505030304" pitchFamily="18" charset="0"/>
              </a:rPr>
              <a:t>Description: </a:t>
            </a:r>
          </a:p>
          <a:p>
            <a:pPr marL="0" indent="0" algn="just">
              <a:buNone/>
            </a:pPr>
            <a:r>
              <a:rPr lang="en-IN" sz="2400" dirty="0"/>
              <a:t>Proposes </a:t>
            </a:r>
            <a:r>
              <a:rPr lang="en-IN" sz="2400" dirty="0" err="1"/>
              <a:t>ConvGeM-NeXt</a:t>
            </a:r>
            <a:r>
              <a:rPr lang="en-IN" sz="2400" dirty="0"/>
              <a:t> using </a:t>
            </a:r>
            <a:r>
              <a:rPr lang="en-IN" sz="2400" dirty="0" err="1"/>
              <a:t>ConvNeXt</a:t>
            </a:r>
            <a:r>
              <a:rPr lang="en-IN" sz="2400" dirty="0"/>
              <a:t>-Base, Generalized Mean Pooling, and transfer learning. It captures fine lesion features and achieved 99.65% accuracy on </a:t>
            </a:r>
            <a:r>
              <a:rPr lang="en-IN" sz="2400" dirty="0" err="1"/>
              <a:t>PlantVillage</a:t>
            </a:r>
            <a:r>
              <a:rPr lang="en-IN" sz="2400" dirty="0"/>
              <a:t> and 94.69% on </a:t>
            </a:r>
            <a:r>
              <a:rPr lang="en-IN" sz="2400" dirty="0" err="1"/>
              <a:t>PlantDoc</a:t>
            </a:r>
            <a:r>
              <a:rPr lang="en-IN" sz="2400" dirty="0"/>
              <a:t>.</a:t>
            </a:r>
          </a:p>
          <a:p>
            <a:pPr marL="0" indent="0" algn="just">
              <a:buNone/>
            </a:pPr>
            <a:r>
              <a:rPr lang="en-US" sz="2300" b="1" dirty="0">
                <a:solidFill>
                  <a:schemeClr val="accent2">
                    <a:lumMod val="50000"/>
                  </a:schemeClr>
                </a:solidFill>
                <a:latin typeface="Calisto MT" panose="02040603050505030304" pitchFamily="18" charset="0"/>
              </a:rPr>
              <a:t>Gaps Addressed:</a:t>
            </a:r>
          </a:p>
          <a:p>
            <a:pPr marL="457200" lvl="0" indent="-457200" algn="just">
              <a:buFont typeface="+mj-lt"/>
              <a:buAutoNum type="arabicPeriod"/>
            </a:pPr>
            <a:r>
              <a:rPr lang="en-IN" sz="2400" dirty="0"/>
              <a:t>Improves local lesion-feature extraction using Generalized Mean Pooling.</a:t>
            </a:r>
          </a:p>
          <a:p>
            <a:pPr marL="457200" lvl="0" indent="-457200" algn="just">
              <a:buFont typeface="+mj-lt"/>
              <a:buAutoNum type="arabicPeriod"/>
            </a:pPr>
            <a:r>
              <a:rPr lang="en-IN" sz="2400" dirty="0"/>
              <a:t>Evaluates on both controlled and field-style disease datasets.</a:t>
            </a:r>
          </a:p>
          <a:p>
            <a:pPr marL="0" indent="0" algn="just">
              <a:lnSpc>
                <a:spcPct val="100000"/>
              </a:lnSpc>
              <a:buNone/>
            </a:pPr>
            <a:r>
              <a:rPr lang="en-US" sz="2300" b="1" dirty="0">
                <a:solidFill>
                  <a:schemeClr val="accent2">
                    <a:lumMod val="50000"/>
                  </a:schemeClr>
                </a:solidFill>
                <a:latin typeface="Calisto MT" panose="02040603050505030304" pitchFamily="18" charset="0"/>
              </a:rPr>
              <a:t>Limitations:</a:t>
            </a:r>
          </a:p>
          <a:p>
            <a:pPr marL="457200" lvl="0" indent="-457200" algn="just">
              <a:buFont typeface="+mj-lt"/>
              <a:buAutoNum type="arabicPeriod"/>
            </a:pPr>
            <a:r>
              <a:rPr lang="en-IN" sz="2400" dirty="0"/>
              <a:t>Always returns one disease label, even for uncertain inputs.</a:t>
            </a:r>
          </a:p>
          <a:p>
            <a:pPr marL="457200" lvl="0" indent="-457200" algn="just">
              <a:buFont typeface="+mj-lt"/>
              <a:buAutoNum type="arabicPeriod"/>
            </a:pPr>
            <a:r>
              <a:rPr lang="en-IN" sz="2400" dirty="0"/>
              <a:t>Uses a heavy model that may be difficult for low-resource deployment.</a:t>
            </a:r>
          </a:p>
          <a:p>
            <a:pPr marL="457200" lvl="0" indent="-457200" algn="just">
              <a:buFont typeface="+mj-lt"/>
              <a:buAutoNum type="arabicPeriod"/>
            </a:pPr>
            <a:r>
              <a:rPr lang="en-IN" sz="2400" dirty="0"/>
              <a:t>Does not use ensemble disagreement or evidence retrieval.</a:t>
            </a:r>
          </a:p>
          <a:p>
            <a:pPr marL="0" indent="0" algn="just">
              <a:lnSpc>
                <a:spcPct val="100000"/>
              </a:lnSpc>
              <a:buNone/>
            </a:pPr>
            <a:endParaRPr lang="en-US" sz="2000" b="1" dirty="0">
              <a:latin typeface="Calisto MT" panose="02040603050505030304" pitchFamily="18" charset="0"/>
            </a:endParaRPr>
          </a:p>
          <a:p>
            <a:pPr marL="457200" indent="-457200" algn="just">
              <a:lnSpc>
                <a:spcPct val="100000"/>
              </a:lnSpc>
              <a:buAutoNum type="arabicPeriod"/>
            </a:pPr>
            <a:endParaRPr lang="en-US" sz="2400" b="1" dirty="0">
              <a:solidFill>
                <a:srgbClr val="C00000"/>
              </a:solidFill>
              <a:latin typeface="Calisto MT" panose="02040603050505030304" pitchFamily="18" charset="0"/>
            </a:endParaRPr>
          </a:p>
          <a:p>
            <a:pPr marL="0" indent="0" algn="just">
              <a:lnSpc>
                <a:spcPct val="100000"/>
              </a:lnSpc>
              <a:buNone/>
            </a:pPr>
            <a:endParaRPr lang="en-US" sz="1800" dirty="0">
              <a:latin typeface="Calisto MT" panose="02040603050505030304" pitchFamily="18" charset="0"/>
            </a:endParaRPr>
          </a:p>
          <a:p>
            <a:pPr marL="0" indent="0" algn="just">
              <a:lnSpc>
                <a:spcPct val="100000"/>
              </a:lnSpc>
              <a:buNone/>
            </a:pPr>
            <a:endParaRPr lang="en-US" sz="1800" dirty="0">
              <a:latin typeface="Calisto MT" panose="02040603050505030304" pitchFamily="18" charset="0"/>
            </a:endParaRPr>
          </a:p>
          <a:p>
            <a:pPr marL="0" indent="0" algn="just">
              <a:lnSpc>
                <a:spcPct val="100000"/>
              </a:lnSpc>
              <a:buNone/>
            </a:pPr>
            <a:endParaRPr lang="en-US" sz="1800" dirty="0">
              <a:latin typeface="Calisto MT" panose="02040603050505030304" pitchFamily="18" charset="0"/>
            </a:endParaRPr>
          </a:p>
          <a:p>
            <a:pPr marL="0" indent="0" algn="just">
              <a:lnSpc>
                <a:spcPct val="100000"/>
              </a:lnSpc>
              <a:buNone/>
            </a:pPr>
            <a:endParaRPr lang="en-US" sz="1800" dirty="0">
              <a:latin typeface="Calisto MT" panose="02040603050505030304" pitchFamily="18" charset="0"/>
            </a:endParaRPr>
          </a:p>
          <a:p>
            <a:pPr marL="0" indent="0" algn="just">
              <a:lnSpc>
                <a:spcPct val="100000"/>
              </a:lnSpc>
              <a:buNone/>
            </a:pPr>
            <a:endParaRPr lang="en-US" sz="1800" dirty="0">
              <a:latin typeface="Calisto MT" panose="02040603050505030304" pitchFamily="18" charset="0"/>
            </a:endParaRPr>
          </a:p>
          <a:p>
            <a:pPr marL="0" indent="0" algn="just">
              <a:lnSpc>
                <a:spcPct val="100000"/>
              </a:lnSpc>
              <a:buNone/>
            </a:pPr>
            <a:endParaRPr lang="en-US" sz="1800" dirty="0">
              <a:latin typeface="Calisto MT" panose="02040603050505030304" pitchFamily="18" charset="0"/>
            </a:endParaRPr>
          </a:p>
          <a:p>
            <a:pPr marL="0" indent="0" algn="just">
              <a:lnSpc>
                <a:spcPct val="100000"/>
              </a:lnSpc>
              <a:buNone/>
            </a:pPr>
            <a:endParaRPr lang="en-US" sz="1800" dirty="0">
              <a:latin typeface="Calisto MT" panose="02040603050505030304" pitchFamily="18" charset="0"/>
            </a:endParaRPr>
          </a:p>
          <a:p>
            <a:pPr marL="0" indent="0" algn="just">
              <a:lnSpc>
                <a:spcPct val="100000"/>
              </a:lnSpc>
              <a:buNone/>
            </a:pPr>
            <a:endParaRPr lang="en-US" sz="1800" dirty="0">
              <a:latin typeface="Calisto MT" panose="02040603050505030304" pitchFamily="18" charset="0"/>
            </a:endParaRPr>
          </a:p>
          <a:p>
            <a:pPr marL="0" indent="0" algn="just">
              <a:lnSpc>
                <a:spcPct val="100000"/>
              </a:lnSpc>
              <a:buNone/>
            </a:pPr>
            <a:endParaRPr lang="en-US" sz="2000" b="1" i="1" dirty="0">
              <a:solidFill>
                <a:srgbClr val="C00000"/>
              </a:solidFill>
              <a:latin typeface="Calisto MT" panose="02040603050505030304" pitchFamily="18" charset="0"/>
            </a:endParaRPr>
          </a:p>
        </p:txBody>
      </p:sp>
      <p:sp>
        <p:nvSpPr>
          <p:cNvPr id="7" name="Slide Number Placeholder 6">
            <a:extLst>
              <a:ext uri="{FF2B5EF4-FFF2-40B4-BE49-F238E27FC236}">
                <a16:creationId xmlns:a16="http://schemas.microsoft.com/office/drawing/2014/main" id="{DEE92358-7468-3D5B-28A1-BAB6D9F9C39F}"/>
              </a:ext>
            </a:extLst>
          </p:cNvPr>
          <p:cNvSpPr>
            <a:spLocks noGrp="1"/>
          </p:cNvSpPr>
          <p:nvPr>
            <p:ph type="sldNum" sz="quarter" idx="12"/>
          </p:nvPr>
        </p:nvSpPr>
        <p:spPr/>
        <p:txBody>
          <a:bodyPr/>
          <a:lstStyle/>
          <a:p>
            <a:fld id="{D90542D4-23E8-43E0-BA8E-C972DA1A005D}" type="slidenum">
              <a:rPr lang="en-US" sz="1400" b="1" smtClean="0">
                <a:solidFill>
                  <a:schemeClr val="tx1"/>
                </a:solidFill>
                <a:latin typeface="Calisto MT" panose="02040603050505030304" pitchFamily="18" charset="0"/>
              </a:rPr>
              <a:pPr/>
              <a:t>15</a:t>
            </a:fld>
            <a:endParaRPr lang="en-US" sz="1400" b="1" dirty="0">
              <a:solidFill>
                <a:schemeClr val="tx1"/>
              </a:solidFill>
              <a:latin typeface="Calisto MT" panose="02040603050505030304" pitchFamily="18" charset="0"/>
            </a:endParaRPr>
          </a:p>
        </p:txBody>
      </p:sp>
    </p:spTree>
    <p:extLst>
      <p:ext uri="{BB962C8B-B14F-4D97-AF65-F5344CB8AC3E}">
        <p14:creationId xmlns:p14="http://schemas.microsoft.com/office/powerpoint/2010/main" val="423415647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04B8D86-B0D2-7286-B586-4BB97DD1D1D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2B96EAE-3287-8E3D-2AAF-D6E214B39562}"/>
              </a:ext>
            </a:extLst>
          </p:cNvPr>
          <p:cNvSpPr>
            <a:spLocks noGrp="1"/>
          </p:cNvSpPr>
          <p:nvPr>
            <p:ph type="title"/>
          </p:nvPr>
        </p:nvSpPr>
        <p:spPr>
          <a:xfrm>
            <a:off x="202676" y="-51079"/>
            <a:ext cx="8738648" cy="747237"/>
          </a:xfrm>
        </p:spPr>
        <p:txBody>
          <a:bodyPr>
            <a:noAutofit/>
          </a:bodyPr>
          <a:lstStyle/>
          <a:p>
            <a:r>
              <a:rPr lang="en-US" sz="3000" b="1" dirty="0">
                <a:solidFill>
                  <a:schemeClr val="accent2">
                    <a:lumMod val="50000"/>
                  </a:schemeClr>
                </a:solidFill>
                <a:latin typeface="Calisto MT" panose="02040603050505030304" pitchFamily="18" charset="0"/>
              </a:rPr>
              <a:t>10.4 Study on Existing Technologies  </a:t>
            </a:r>
          </a:p>
        </p:txBody>
      </p:sp>
      <p:sp>
        <p:nvSpPr>
          <p:cNvPr id="3" name="Content Placeholder 2">
            <a:extLst>
              <a:ext uri="{FF2B5EF4-FFF2-40B4-BE49-F238E27FC236}">
                <a16:creationId xmlns:a16="http://schemas.microsoft.com/office/drawing/2014/main" id="{44F66098-65F0-10AC-5AB6-CE5F0817CA90}"/>
              </a:ext>
            </a:extLst>
          </p:cNvPr>
          <p:cNvSpPr>
            <a:spLocks noGrp="1"/>
          </p:cNvSpPr>
          <p:nvPr>
            <p:ph idx="1"/>
          </p:nvPr>
        </p:nvSpPr>
        <p:spPr>
          <a:xfrm>
            <a:off x="358218" y="584462"/>
            <a:ext cx="8314441" cy="6273538"/>
          </a:xfrm>
        </p:spPr>
        <p:txBody>
          <a:bodyPr numCol="1">
            <a:normAutofit fontScale="92500" lnSpcReduction="20000"/>
          </a:bodyPr>
          <a:lstStyle/>
          <a:p>
            <a:pPr marL="0" indent="0" algn="just">
              <a:buNone/>
            </a:pPr>
            <a:r>
              <a:rPr lang="en-US" sz="2300" b="1" dirty="0">
                <a:solidFill>
                  <a:schemeClr val="accent2">
                    <a:lumMod val="50000"/>
                  </a:schemeClr>
                </a:solidFill>
                <a:latin typeface="Calisto MT" panose="02040603050505030304" pitchFamily="18" charset="0"/>
              </a:rPr>
              <a:t>Title: </a:t>
            </a:r>
            <a:r>
              <a:rPr lang="en-IN" sz="2400" dirty="0"/>
              <a:t>Advancing Plant Disease Classification Using an Attention-Based CNN for Intra-Dataset and Cross-Dataset Training</a:t>
            </a:r>
          </a:p>
          <a:p>
            <a:pPr marL="0" indent="0" algn="just">
              <a:buNone/>
            </a:pPr>
            <a:r>
              <a:rPr lang="en-US" sz="2300" b="1" dirty="0">
                <a:solidFill>
                  <a:schemeClr val="accent2">
                    <a:lumMod val="50000"/>
                  </a:schemeClr>
                </a:solidFill>
                <a:latin typeface="Calisto MT" panose="02040603050505030304" pitchFamily="18" charset="0"/>
              </a:rPr>
              <a:t>Journal Details: </a:t>
            </a:r>
            <a:r>
              <a:rPr lang="en-IN" sz="2400" i="1" dirty="0"/>
              <a:t>Scientific Reports</a:t>
            </a:r>
            <a:r>
              <a:rPr lang="en-IN" sz="2400" dirty="0"/>
              <a:t>, Vol. 16, Article 45464, Nature Portfolio, 2026. DOI: 10.1038/s41598-026-45464-7</a:t>
            </a:r>
          </a:p>
          <a:p>
            <a:pPr marL="0" indent="0" algn="just">
              <a:buNone/>
            </a:pPr>
            <a:r>
              <a:rPr lang="en-US" sz="2300" b="1" dirty="0">
                <a:solidFill>
                  <a:schemeClr val="accent2">
                    <a:lumMod val="50000"/>
                  </a:schemeClr>
                </a:solidFill>
                <a:latin typeface="Calisto MT" panose="02040603050505030304" pitchFamily="18" charset="0"/>
              </a:rPr>
              <a:t>Dataset: </a:t>
            </a:r>
            <a:r>
              <a:rPr lang="en-IN" sz="2400" dirty="0" err="1"/>
              <a:t>PlantVillage</a:t>
            </a:r>
            <a:r>
              <a:rPr lang="en-IN" sz="2400" dirty="0"/>
              <a:t>, </a:t>
            </a:r>
            <a:r>
              <a:rPr lang="en-IN" sz="2400" dirty="0" err="1"/>
              <a:t>PlantDoc</a:t>
            </a:r>
            <a:r>
              <a:rPr lang="en-IN" sz="2400" dirty="0"/>
              <a:t>, </a:t>
            </a:r>
            <a:r>
              <a:rPr lang="en-IN" sz="2400" dirty="0" err="1"/>
              <a:t>Digipathos</a:t>
            </a:r>
            <a:r>
              <a:rPr lang="en-IN" sz="2400" dirty="0"/>
              <a:t>, Northern Leaf Blight, and CD&amp;S datasets.</a:t>
            </a:r>
          </a:p>
          <a:p>
            <a:pPr marL="0" indent="0" algn="just">
              <a:buNone/>
            </a:pPr>
            <a:r>
              <a:rPr lang="en-US" sz="2300" b="1" dirty="0">
                <a:solidFill>
                  <a:schemeClr val="accent2">
                    <a:lumMod val="50000"/>
                  </a:schemeClr>
                </a:solidFill>
                <a:latin typeface="Calisto MT" panose="02040603050505030304" pitchFamily="18" charset="0"/>
              </a:rPr>
              <a:t>Description: </a:t>
            </a:r>
          </a:p>
          <a:p>
            <a:pPr marL="0" indent="0" algn="just">
              <a:buNone/>
            </a:pPr>
            <a:r>
              <a:rPr lang="en-IN" sz="2400" dirty="0"/>
              <a:t>Introduces an attention-based CNN for corn and potato disease classification. It achieved 99.38% accuracy on </a:t>
            </a:r>
            <a:r>
              <a:rPr lang="en-IN" sz="2400" dirty="0" err="1"/>
              <a:t>PlantVillage</a:t>
            </a:r>
            <a:r>
              <a:rPr lang="en-IN" sz="2400" dirty="0"/>
              <a:t> potato images and 82.93% average accuracy in cross-dataset corn evaluation.</a:t>
            </a:r>
          </a:p>
          <a:p>
            <a:pPr marL="0" indent="0" algn="just">
              <a:buNone/>
            </a:pPr>
            <a:r>
              <a:rPr lang="en-US" sz="2300" b="1" dirty="0">
                <a:solidFill>
                  <a:schemeClr val="accent2">
                    <a:lumMod val="50000"/>
                  </a:schemeClr>
                </a:solidFill>
                <a:latin typeface="Calisto MT" panose="02040603050505030304" pitchFamily="18" charset="0"/>
              </a:rPr>
              <a:t>Gaps Addressed:</a:t>
            </a:r>
          </a:p>
          <a:p>
            <a:pPr marL="457200" lvl="0" indent="-457200" algn="just">
              <a:buFont typeface="+mj-lt"/>
              <a:buAutoNum type="arabicPeriod"/>
            </a:pPr>
            <a:r>
              <a:rPr lang="en-IN" sz="2400" dirty="0"/>
              <a:t>Uses attention to focus on disease-relevant leaf regions.</a:t>
            </a:r>
          </a:p>
          <a:p>
            <a:pPr marL="457200" lvl="0" indent="-457200" algn="just">
              <a:buFont typeface="+mj-lt"/>
              <a:buAutoNum type="arabicPeriod"/>
            </a:pPr>
            <a:r>
              <a:rPr lang="en-IN" sz="2400" dirty="0"/>
              <a:t>Evaluates cross-dataset performance instead of only same-dataset accuracy.</a:t>
            </a:r>
          </a:p>
          <a:p>
            <a:pPr marL="0" indent="0" algn="just">
              <a:lnSpc>
                <a:spcPct val="100000"/>
              </a:lnSpc>
              <a:buNone/>
            </a:pPr>
            <a:r>
              <a:rPr lang="en-US" sz="2300" b="1" dirty="0">
                <a:solidFill>
                  <a:schemeClr val="accent2">
                    <a:lumMod val="50000"/>
                  </a:schemeClr>
                </a:solidFill>
                <a:latin typeface="Calisto MT" panose="02040603050505030304" pitchFamily="18" charset="0"/>
              </a:rPr>
              <a:t>Limitations:</a:t>
            </a:r>
          </a:p>
          <a:p>
            <a:pPr marL="457200" lvl="0" indent="-457200" algn="just">
              <a:buFont typeface="+mj-lt"/>
              <a:buAutoNum type="arabicPeriod"/>
            </a:pPr>
            <a:r>
              <a:rPr lang="en-IN" sz="2400" dirty="0"/>
              <a:t>Does not abstain when domain shift reduces prediction reliability.</a:t>
            </a:r>
          </a:p>
          <a:p>
            <a:pPr marL="457200" lvl="0" indent="-457200" algn="just">
              <a:buFont typeface="+mj-lt"/>
              <a:buAutoNum type="arabicPeriod"/>
            </a:pPr>
            <a:r>
              <a:rPr lang="en-IN" sz="2400" dirty="0"/>
              <a:t>Uses one attention-CNN model rather than diverse deep models.</a:t>
            </a:r>
          </a:p>
          <a:p>
            <a:pPr marL="457200" lvl="0" indent="-457200" algn="just">
              <a:buFont typeface="+mj-lt"/>
              <a:buAutoNum type="arabicPeriod"/>
            </a:pPr>
            <a:r>
              <a:rPr lang="en-IN" sz="2400" dirty="0"/>
              <a:t>Does not retrieve verified disease-management evidence.</a:t>
            </a:r>
            <a:endParaRPr lang="en-US" sz="2000" b="1" dirty="0">
              <a:latin typeface="Calisto MT" panose="02040603050505030304" pitchFamily="18" charset="0"/>
            </a:endParaRPr>
          </a:p>
          <a:p>
            <a:pPr marL="457200" indent="-457200" algn="just">
              <a:lnSpc>
                <a:spcPct val="100000"/>
              </a:lnSpc>
              <a:buAutoNum type="arabicPeriod"/>
            </a:pPr>
            <a:endParaRPr lang="en-US" sz="2400" b="1" dirty="0">
              <a:solidFill>
                <a:srgbClr val="C00000"/>
              </a:solidFill>
              <a:latin typeface="Calisto MT" panose="02040603050505030304" pitchFamily="18" charset="0"/>
            </a:endParaRPr>
          </a:p>
          <a:p>
            <a:pPr marL="0" indent="0" algn="just">
              <a:lnSpc>
                <a:spcPct val="100000"/>
              </a:lnSpc>
              <a:buNone/>
            </a:pPr>
            <a:endParaRPr lang="en-US" sz="1800" dirty="0">
              <a:latin typeface="Calisto MT" panose="02040603050505030304" pitchFamily="18" charset="0"/>
            </a:endParaRPr>
          </a:p>
          <a:p>
            <a:pPr marL="0" indent="0" algn="just">
              <a:lnSpc>
                <a:spcPct val="100000"/>
              </a:lnSpc>
              <a:buNone/>
            </a:pPr>
            <a:endParaRPr lang="en-US" sz="1800" dirty="0">
              <a:latin typeface="Calisto MT" panose="02040603050505030304" pitchFamily="18" charset="0"/>
            </a:endParaRPr>
          </a:p>
          <a:p>
            <a:pPr marL="0" indent="0" algn="just">
              <a:lnSpc>
                <a:spcPct val="100000"/>
              </a:lnSpc>
              <a:buNone/>
            </a:pPr>
            <a:endParaRPr lang="en-US" sz="1800" dirty="0">
              <a:latin typeface="Calisto MT" panose="02040603050505030304" pitchFamily="18" charset="0"/>
            </a:endParaRPr>
          </a:p>
          <a:p>
            <a:pPr marL="0" indent="0" algn="just">
              <a:lnSpc>
                <a:spcPct val="100000"/>
              </a:lnSpc>
              <a:buNone/>
            </a:pPr>
            <a:endParaRPr lang="en-US" sz="1800" dirty="0">
              <a:latin typeface="Calisto MT" panose="02040603050505030304" pitchFamily="18" charset="0"/>
            </a:endParaRPr>
          </a:p>
          <a:p>
            <a:pPr marL="0" indent="0" algn="just">
              <a:lnSpc>
                <a:spcPct val="100000"/>
              </a:lnSpc>
              <a:buNone/>
            </a:pPr>
            <a:endParaRPr lang="en-US" sz="1800" dirty="0">
              <a:latin typeface="Calisto MT" panose="02040603050505030304" pitchFamily="18" charset="0"/>
            </a:endParaRPr>
          </a:p>
          <a:p>
            <a:pPr marL="0" indent="0" algn="just">
              <a:lnSpc>
                <a:spcPct val="100000"/>
              </a:lnSpc>
              <a:buNone/>
            </a:pPr>
            <a:endParaRPr lang="en-US" sz="1800" dirty="0">
              <a:latin typeface="Calisto MT" panose="02040603050505030304" pitchFamily="18" charset="0"/>
            </a:endParaRPr>
          </a:p>
          <a:p>
            <a:pPr marL="0" indent="0" algn="just">
              <a:lnSpc>
                <a:spcPct val="100000"/>
              </a:lnSpc>
              <a:buNone/>
            </a:pPr>
            <a:endParaRPr lang="en-US" sz="1800" dirty="0">
              <a:latin typeface="Calisto MT" panose="02040603050505030304" pitchFamily="18" charset="0"/>
            </a:endParaRPr>
          </a:p>
          <a:p>
            <a:pPr marL="0" indent="0" algn="just">
              <a:lnSpc>
                <a:spcPct val="100000"/>
              </a:lnSpc>
              <a:buNone/>
            </a:pPr>
            <a:endParaRPr lang="en-US" sz="1800" dirty="0">
              <a:latin typeface="Calisto MT" panose="02040603050505030304" pitchFamily="18" charset="0"/>
            </a:endParaRPr>
          </a:p>
          <a:p>
            <a:pPr marL="0" indent="0" algn="just">
              <a:lnSpc>
                <a:spcPct val="100000"/>
              </a:lnSpc>
              <a:buNone/>
            </a:pPr>
            <a:endParaRPr lang="en-US" sz="2000" b="1" i="1" dirty="0">
              <a:solidFill>
                <a:srgbClr val="C00000"/>
              </a:solidFill>
              <a:latin typeface="Calisto MT" panose="02040603050505030304" pitchFamily="18" charset="0"/>
            </a:endParaRPr>
          </a:p>
        </p:txBody>
      </p:sp>
      <p:sp>
        <p:nvSpPr>
          <p:cNvPr id="7" name="Slide Number Placeholder 6">
            <a:extLst>
              <a:ext uri="{FF2B5EF4-FFF2-40B4-BE49-F238E27FC236}">
                <a16:creationId xmlns:a16="http://schemas.microsoft.com/office/drawing/2014/main" id="{B413E29D-B15C-24E4-0742-315F6867E121}"/>
              </a:ext>
            </a:extLst>
          </p:cNvPr>
          <p:cNvSpPr>
            <a:spLocks noGrp="1"/>
          </p:cNvSpPr>
          <p:nvPr>
            <p:ph type="sldNum" sz="quarter" idx="12"/>
          </p:nvPr>
        </p:nvSpPr>
        <p:spPr/>
        <p:txBody>
          <a:bodyPr/>
          <a:lstStyle/>
          <a:p>
            <a:fld id="{D90542D4-23E8-43E0-BA8E-C972DA1A005D}" type="slidenum">
              <a:rPr lang="en-US" sz="1400" b="1" smtClean="0">
                <a:solidFill>
                  <a:schemeClr val="tx1"/>
                </a:solidFill>
                <a:latin typeface="Calisto MT" panose="02040603050505030304" pitchFamily="18" charset="0"/>
              </a:rPr>
              <a:pPr/>
              <a:t>16</a:t>
            </a:fld>
            <a:endParaRPr lang="en-US" sz="1400" b="1" dirty="0">
              <a:solidFill>
                <a:schemeClr val="tx1"/>
              </a:solidFill>
              <a:latin typeface="Calisto MT" panose="02040603050505030304" pitchFamily="18" charset="0"/>
            </a:endParaRPr>
          </a:p>
        </p:txBody>
      </p:sp>
    </p:spTree>
    <p:extLst>
      <p:ext uri="{BB962C8B-B14F-4D97-AF65-F5344CB8AC3E}">
        <p14:creationId xmlns:p14="http://schemas.microsoft.com/office/powerpoint/2010/main" val="5521839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E366AAC-3A4E-B5E4-65E4-8A634E6D7B6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9464282-AA1C-93AE-D2A8-046BE700054C}"/>
              </a:ext>
            </a:extLst>
          </p:cNvPr>
          <p:cNvSpPr>
            <a:spLocks noGrp="1"/>
          </p:cNvSpPr>
          <p:nvPr>
            <p:ph type="title"/>
          </p:nvPr>
        </p:nvSpPr>
        <p:spPr>
          <a:xfrm>
            <a:off x="202676" y="-51079"/>
            <a:ext cx="8738648" cy="747237"/>
          </a:xfrm>
        </p:spPr>
        <p:txBody>
          <a:bodyPr>
            <a:noAutofit/>
          </a:bodyPr>
          <a:lstStyle/>
          <a:p>
            <a:r>
              <a:rPr lang="en-US" sz="3000" b="1" dirty="0">
                <a:solidFill>
                  <a:schemeClr val="accent2">
                    <a:lumMod val="50000"/>
                  </a:schemeClr>
                </a:solidFill>
                <a:latin typeface="Calisto MT" panose="02040603050505030304" pitchFamily="18" charset="0"/>
              </a:rPr>
              <a:t>10.5 Study on Existing Technologies  </a:t>
            </a:r>
          </a:p>
        </p:txBody>
      </p:sp>
      <p:sp>
        <p:nvSpPr>
          <p:cNvPr id="3" name="Content Placeholder 2">
            <a:extLst>
              <a:ext uri="{FF2B5EF4-FFF2-40B4-BE49-F238E27FC236}">
                <a16:creationId xmlns:a16="http://schemas.microsoft.com/office/drawing/2014/main" id="{DF25163D-05A3-FB9E-2096-3C397485DD22}"/>
              </a:ext>
            </a:extLst>
          </p:cNvPr>
          <p:cNvSpPr>
            <a:spLocks noGrp="1"/>
          </p:cNvSpPr>
          <p:nvPr>
            <p:ph idx="1"/>
          </p:nvPr>
        </p:nvSpPr>
        <p:spPr>
          <a:xfrm>
            <a:off x="358218" y="584462"/>
            <a:ext cx="8314441" cy="6273538"/>
          </a:xfrm>
        </p:spPr>
        <p:txBody>
          <a:bodyPr numCol="1">
            <a:normAutofit fontScale="92500" lnSpcReduction="20000"/>
          </a:bodyPr>
          <a:lstStyle/>
          <a:p>
            <a:pPr marL="0" indent="0" algn="just">
              <a:buNone/>
            </a:pPr>
            <a:r>
              <a:rPr lang="en-US" sz="2300" b="1" dirty="0">
                <a:solidFill>
                  <a:schemeClr val="accent2">
                    <a:lumMod val="50000"/>
                  </a:schemeClr>
                </a:solidFill>
                <a:latin typeface="Calisto MT" panose="02040603050505030304" pitchFamily="18" charset="0"/>
              </a:rPr>
              <a:t>Title: </a:t>
            </a:r>
            <a:r>
              <a:rPr lang="en-IN" sz="2400" dirty="0"/>
              <a:t>AI Based Real Time Disease Diagnosis in Plants Using Deep Learning Driven CNNs</a:t>
            </a:r>
          </a:p>
          <a:p>
            <a:pPr marL="0" indent="0" algn="just">
              <a:buNone/>
            </a:pPr>
            <a:r>
              <a:rPr lang="en-US" sz="2300" b="1" dirty="0">
                <a:solidFill>
                  <a:schemeClr val="accent2">
                    <a:lumMod val="50000"/>
                  </a:schemeClr>
                </a:solidFill>
                <a:latin typeface="Calisto MT" panose="02040603050505030304" pitchFamily="18" charset="0"/>
              </a:rPr>
              <a:t>Journal Details: </a:t>
            </a:r>
            <a:r>
              <a:rPr lang="en-IN" sz="2400" i="1" dirty="0"/>
              <a:t>Scientific Reports</a:t>
            </a:r>
            <a:r>
              <a:rPr lang="en-IN" sz="2400" dirty="0"/>
              <a:t>, Vol. 16, Article 4587, Nature Portfolio, 2026. DOI: 10.1038/s41598-025-34681-1</a:t>
            </a:r>
          </a:p>
          <a:p>
            <a:pPr marL="0" indent="0" algn="just">
              <a:buNone/>
            </a:pPr>
            <a:r>
              <a:rPr lang="en-US" sz="2300" b="1" dirty="0">
                <a:solidFill>
                  <a:schemeClr val="accent2">
                    <a:lumMod val="50000"/>
                  </a:schemeClr>
                </a:solidFill>
                <a:latin typeface="Calisto MT" panose="02040603050505030304" pitchFamily="18" charset="0"/>
              </a:rPr>
              <a:t>Dataset: </a:t>
            </a:r>
            <a:r>
              <a:rPr lang="en-IN" sz="2400" dirty="0"/>
              <a:t>42,860 images from tomato, potato, maize, grape, and pepper crops.</a:t>
            </a:r>
          </a:p>
          <a:p>
            <a:pPr marL="0" indent="0" algn="just">
              <a:buNone/>
            </a:pPr>
            <a:r>
              <a:rPr lang="en-US" sz="2300" b="1" dirty="0">
                <a:solidFill>
                  <a:schemeClr val="accent2">
                    <a:lumMod val="50000"/>
                  </a:schemeClr>
                </a:solidFill>
                <a:latin typeface="Calisto MT" panose="02040603050505030304" pitchFamily="18" charset="0"/>
              </a:rPr>
              <a:t>Description: </a:t>
            </a:r>
          </a:p>
          <a:p>
            <a:pPr marL="0" indent="0" algn="just">
              <a:buNone/>
            </a:pPr>
            <a:r>
              <a:rPr lang="en-IN" sz="2400" dirty="0"/>
              <a:t>Proposes PDD-DL, a CNN-based real-time plant disease diagnosis model. The model achieved 98.32% accuracy and approximately 42.6 </a:t>
            </a:r>
            <a:r>
              <a:rPr lang="en-IN" sz="2400" dirty="0" err="1"/>
              <a:t>ms</a:t>
            </a:r>
            <a:r>
              <a:rPr lang="en-IN" sz="2400" dirty="0"/>
              <a:t> inference time per image.</a:t>
            </a:r>
          </a:p>
          <a:p>
            <a:pPr marL="0" indent="0" algn="just">
              <a:buNone/>
            </a:pPr>
            <a:r>
              <a:rPr lang="en-US" sz="2300" b="1" dirty="0">
                <a:solidFill>
                  <a:schemeClr val="accent2">
                    <a:lumMod val="50000"/>
                  </a:schemeClr>
                </a:solidFill>
                <a:latin typeface="Calisto MT" panose="02040603050505030304" pitchFamily="18" charset="0"/>
              </a:rPr>
              <a:t>Gaps Addressed:</a:t>
            </a:r>
          </a:p>
          <a:p>
            <a:pPr marL="457200" lvl="0" indent="-457200" algn="just">
              <a:buFont typeface="+mj-lt"/>
              <a:buAutoNum type="arabicPeriod"/>
            </a:pPr>
            <a:r>
              <a:rPr lang="en-IN" sz="2400" dirty="0"/>
              <a:t>Supports fast disease detection for mobile and edge deployment.</a:t>
            </a:r>
          </a:p>
          <a:p>
            <a:pPr marL="457200" lvl="0" indent="-457200" algn="just">
              <a:buFont typeface="+mj-lt"/>
              <a:buAutoNum type="arabicPeriod"/>
            </a:pPr>
            <a:r>
              <a:rPr lang="en-IN" sz="2400" dirty="0"/>
              <a:t>Uses image augmentation to improve CNN robustness.</a:t>
            </a:r>
          </a:p>
          <a:p>
            <a:pPr marL="0" indent="0" algn="just">
              <a:lnSpc>
                <a:spcPct val="100000"/>
              </a:lnSpc>
              <a:buNone/>
            </a:pPr>
            <a:r>
              <a:rPr lang="en-US" sz="2300" b="1" dirty="0">
                <a:solidFill>
                  <a:schemeClr val="accent2">
                    <a:lumMod val="50000"/>
                  </a:schemeClr>
                </a:solidFill>
                <a:latin typeface="Calisto MT" panose="02040603050505030304" pitchFamily="18" charset="0"/>
              </a:rPr>
              <a:t>Limitations:</a:t>
            </a:r>
          </a:p>
          <a:p>
            <a:pPr marL="457200" lvl="0" indent="-457200" algn="just">
              <a:buFont typeface="+mj-lt"/>
              <a:buAutoNum type="arabicPeriod"/>
            </a:pPr>
            <a:r>
              <a:rPr lang="en-IN" sz="2400" dirty="0"/>
              <a:t>Gives a prediction for every image without uncertainty-based abstention.</a:t>
            </a:r>
          </a:p>
          <a:p>
            <a:pPr marL="457200" lvl="0" indent="-457200" algn="just">
              <a:buFont typeface="+mj-lt"/>
              <a:buAutoNum type="arabicPeriod"/>
            </a:pPr>
            <a:r>
              <a:rPr lang="en-IN" sz="2400" dirty="0"/>
              <a:t>Does not identify unknown diseases or non-leaf images.</a:t>
            </a:r>
          </a:p>
          <a:p>
            <a:pPr marL="457200" lvl="0" indent="-457200" algn="just">
              <a:buFont typeface="+mj-lt"/>
              <a:buAutoNum type="arabicPeriod"/>
            </a:pPr>
            <a:r>
              <a:rPr lang="en-IN" sz="2400" dirty="0"/>
              <a:t>Does not validate agricultural advice through trusted evidence sources.</a:t>
            </a:r>
            <a:endParaRPr lang="en-US" sz="2400" b="1" dirty="0">
              <a:solidFill>
                <a:srgbClr val="C00000"/>
              </a:solidFill>
              <a:latin typeface="Calisto MT" panose="02040603050505030304" pitchFamily="18" charset="0"/>
            </a:endParaRPr>
          </a:p>
          <a:p>
            <a:pPr marL="0" indent="0" algn="just">
              <a:lnSpc>
                <a:spcPct val="100000"/>
              </a:lnSpc>
              <a:buNone/>
            </a:pPr>
            <a:endParaRPr lang="en-US" sz="1800" dirty="0">
              <a:latin typeface="Calisto MT" panose="02040603050505030304" pitchFamily="18" charset="0"/>
            </a:endParaRPr>
          </a:p>
          <a:p>
            <a:pPr marL="0" indent="0" algn="just">
              <a:lnSpc>
                <a:spcPct val="100000"/>
              </a:lnSpc>
              <a:buNone/>
            </a:pPr>
            <a:endParaRPr lang="en-US" sz="1800" dirty="0">
              <a:latin typeface="Calisto MT" panose="02040603050505030304" pitchFamily="18" charset="0"/>
            </a:endParaRPr>
          </a:p>
          <a:p>
            <a:pPr marL="0" indent="0" algn="just">
              <a:lnSpc>
                <a:spcPct val="100000"/>
              </a:lnSpc>
              <a:buNone/>
            </a:pPr>
            <a:endParaRPr lang="en-US" sz="1800" dirty="0">
              <a:latin typeface="Calisto MT" panose="02040603050505030304" pitchFamily="18" charset="0"/>
            </a:endParaRPr>
          </a:p>
          <a:p>
            <a:pPr marL="0" indent="0" algn="just">
              <a:lnSpc>
                <a:spcPct val="100000"/>
              </a:lnSpc>
              <a:buNone/>
            </a:pPr>
            <a:endParaRPr lang="en-US" sz="1800" dirty="0">
              <a:latin typeface="Calisto MT" panose="02040603050505030304" pitchFamily="18" charset="0"/>
            </a:endParaRPr>
          </a:p>
          <a:p>
            <a:pPr marL="0" indent="0" algn="just">
              <a:lnSpc>
                <a:spcPct val="100000"/>
              </a:lnSpc>
              <a:buNone/>
            </a:pPr>
            <a:endParaRPr lang="en-US" sz="1800" dirty="0">
              <a:latin typeface="Calisto MT" panose="02040603050505030304" pitchFamily="18" charset="0"/>
            </a:endParaRPr>
          </a:p>
          <a:p>
            <a:pPr marL="0" indent="0" algn="just">
              <a:lnSpc>
                <a:spcPct val="100000"/>
              </a:lnSpc>
              <a:buNone/>
            </a:pPr>
            <a:endParaRPr lang="en-US" sz="1800" dirty="0">
              <a:latin typeface="Calisto MT" panose="02040603050505030304" pitchFamily="18" charset="0"/>
            </a:endParaRPr>
          </a:p>
          <a:p>
            <a:pPr marL="0" indent="0" algn="just">
              <a:lnSpc>
                <a:spcPct val="100000"/>
              </a:lnSpc>
              <a:buNone/>
            </a:pPr>
            <a:endParaRPr lang="en-US" sz="1800" dirty="0">
              <a:latin typeface="Calisto MT" panose="02040603050505030304" pitchFamily="18" charset="0"/>
            </a:endParaRPr>
          </a:p>
          <a:p>
            <a:pPr marL="0" indent="0" algn="just">
              <a:lnSpc>
                <a:spcPct val="100000"/>
              </a:lnSpc>
              <a:buNone/>
            </a:pPr>
            <a:endParaRPr lang="en-US" sz="1800" dirty="0">
              <a:latin typeface="Calisto MT" panose="02040603050505030304" pitchFamily="18" charset="0"/>
            </a:endParaRPr>
          </a:p>
          <a:p>
            <a:pPr marL="0" indent="0" algn="just">
              <a:lnSpc>
                <a:spcPct val="100000"/>
              </a:lnSpc>
              <a:buNone/>
            </a:pPr>
            <a:endParaRPr lang="en-US" sz="2000" b="1" i="1" dirty="0">
              <a:solidFill>
                <a:srgbClr val="C00000"/>
              </a:solidFill>
              <a:latin typeface="Calisto MT" panose="02040603050505030304" pitchFamily="18" charset="0"/>
            </a:endParaRPr>
          </a:p>
        </p:txBody>
      </p:sp>
      <p:sp>
        <p:nvSpPr>
          <p:cNvPr id="7" name="Slide Number Placeholder 6">
            <a:extLst>
              <a:ext uri="{FF2B5EF4-FFF2-40B4-BE49-F238E27FC236}">
                <a16:creationId xmlns:a16="http://schemas.microsoft.com/office/drawing/2014/main" id="{7FF014BD-954C-A130-3E5A-E05732CEB6B5}"/>
              </a:ext>
            </a:extLst>
          </p:cNvPr>
          <p:cNvSpPr>
            <a:spLocks noGrp="1"/>
          </p:cNvSpPr>
          <p:nvPr>
            <p:ph type="sldNum" sz="quarter" idx="12"/>
          </p:nvPr>
        </p:nvSpPr>
        <p:spPr/>
        <p:txBody>
          <a:bodyPr/>
          <a:lstStyle/>
          <a:p>
            <a:fld id="{D90542D4-23E8-43E0-BA8E-C972DA1A005D}" type="slidenum">
              <a:rPr lang="en-US" sz="1400" b="1" smtClean="0">
                <a:solidFill>
                  <a:schemeClr val="tx1"/>
                </a:solidFill>
                <a:latin typeface="Calisto MT" panose="02040603050505030304" pitchFamily="18" charset="0"/>
              </a:rPr>
              <a:pPr/>
              <a:t>17</a:t>
            </a:fld>
            <a:endParaRPr lang="en-US" sz="1400" b="1" dirty="0">
              <a:solidFill>
                <a:schemeClr val="tx1"/>
              </a:solidFill>
              <a:latin typeface="Calisto MT" panose="02040603050505030304" pitchFamily="18" charset="0"/>
            </a:endParaRPr>
          </a:p>
        </p:txBody>
      </p:sp>
    </p:spTree>
    <p:extLst>
      <p:ext uri="{BB962C8B-B14F-4D97-AF65-F5344CB8AC3E}">
        <p14:creationId xmlns:p14="http://schemas.microsoft.com/office/powerpoint/2010/main" val="216831444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4357981-1A10-BD53-270C-F405DC9FC15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1152098-213C-5EA4-A5EA-01F33B4D0F51}"/>
              </a:ext>
            </a:extLst>
          </p:cNvPr>
          <p:cNvSpPr>
            <a:spLocks noGrp="1"/>
          </p:cNvSpPr>
          <p:nvPr>
            <p:ph type="title"/>
          </p:nvPr>
        </p:nvSpPr>
        <p:spPr>
          <a:xfrm>
            <a:off x="202676" y="-51079"/>
            <a:ext cx="8738648" cy="747237"/>
          </a:xfrm>
        </p:spPr>
        <p:txBody>
          <a:bodyPr>
            <a:noAutofit/>
          </a:bodyPr>
          <a:lstStyle/>
          <a:p>
            <a:r>
              <a:rPr lang="en-US" sz="3000" b="1" dirty="0">
                <a:solidFill>
                  <a:schemeClr val="accent2">
                    <a:lumMod val="50000"/>
                  </a:schemeClr>
                </a:solidFill>
                <a:latin typeface="Calisto MT" panose="02040603050505030304" pitchFamily="18" charset="0"/>
              </a:rPr>
              <a:t>10.6 Study on Existing Technologies  </a:t>
            </a:r>
          </a:p>
        </p:txBody>
      </p:sp>
      <p:sp>
        <p:nvSpPr>
          <p:cNvPr id="3" name="Content Placeholder 2">
            <a:extLst>
              <a:ext uri="{FF2B5EF4-FFF2-40B4-BE49-F238E27FC236}">
                <a16:creationId xmlns:a16="http://schemas.microsoft.com/office/drawing/2014/main" id="{ACDC0077-D63D-F575-5C6C-175A98A38098}"/>
              </a:ext>
            </a:extLst>
          </p:cNvPr>
          <p:cNvSpPr>
            <a:spLocks noGrp="1"/>
          </p:cNvSpPr>
          <p:nvPr>
            <p:ph idx="1"/>
          </p:nvPr>
        </p:nvSpPr>
        <p:spPr>
          <a:xfrm>
            <a:off x="358218" y="584462"/>
            <a:ext cx="8314441" cy="6273538"/>
          </a:xfrm>
        </p:spPr>
        <p:txBody>
          <a:bodyPr numCol="1">
            <a:normAutofit fontScale="92500" lnSpcReduction="20000"/>
          </a:bodyPr>
          <a:lstStyle/>
          <a:p>
            <a:pPr marL="0" indent="0" algn="just">
              <a:buNone/>
            </a:pPr>
            <a:r>
              <a:rPr lang="en-US" sz="2300" b="1" dirty="0">
                <a:solidFill>
                  <a:schemeClr val="accent2">
                    <a:lumMod val="50000"/>
                  </a:schemeClr>
                </a:solidFill>
                <a:latin typeface="Calisto MT" panose="02040603050505030304" pitchFamily="18" charset="0"/>
              </a:rPr>
              <a:t>Title: </a:t>
            </a:r>
            <a:r>
              <a:rPr lang="en-IN" sz="2400" dirty="0"/>
              <a:t>A Diversity-Optimized Deep Ensemble Approach for Accurate Plant Leaf Disease Detection</a:t>
            </a:r>
          </a:p>
          <a:p>
            <a:pPr marL="0" indent="0" algn="just">
              <a:buNone/>
            </a:pPr>
            <a:r>
              <a:rPr lang="en-US" sz="2300" b="1" dirty="0">
                <a:solidFill>
                  <a:schemeClr val="accent2">
                    <a:lumMod val="50000"/>
                  </a:schemeClr>
                </a:solidFill>
                <a:latin typeface="Calisto MT" panose="02040603050505030304" pitchFamily="18" charset="0"/>
              </a:rPr>
              <a:t>Journal Details: </a:t>
            </a:r>
            <a:r>
              <a:rPr lang="en-IN" sz="2400" dirty="0" err="1"/>
              <a:t>arXiv</a:t>
            </a:r>
            <a:r>
              <a:rPr lang="en-IN" sz="2400" dirty="0"/>
              <a:t> Preprint, arXiv:2511.16982, 2025.</a:t>
            </a:r>
          </a:p>
          <a:p>
            <a:pPr marL="0" indent="0" algn="just">
              <a:buNone/>
            </a:pPr>
            <a:r>
              <a:rPr lang="en-US" sz="2300" b="1" dirty="0">
                <a:solidFill>
                  <a:schemeClr val="accent2">
                    <a:lumMod val="50000"/>
                  </a:schemeClr>
                </a:solidFill>
                <a:latin typeface="Calisto MT" panose="02040603050505030304" pitchFamily="18" charset="0"/>
              </a:rPr>
              <a:t>Dataset: </a:t>
            </a:r>
            <a:r>
              <a:rPr lang="en-IN" sz="2400" dirty="0"/>
              <a:t>Plant leaf disease dataset containing healthy and diseased leaf classes.</a:t>
            </a:r>
          </a:p>
          <a:p>
            <a:pPr marL="0" indent="0" algn="just">
              <a:buNone/>
            </a:pPr>
            <a:r>
              <a:rPr lang="en-US" sz="2300" b="1" dirty="0">
                <a:solidFill>
                  <a:schemeClr val="accent2">
                    <a:lumMod val="50000"/>
                  </a:schemeClr>
                </a:solidFill>
                <a:latin typeface="Calisto MT" panose="02040603050505030304" pitchFamily="18" charset="0"/>
              </a:rPr>
              <a:t>Description: </a:t>
            </a:r>
          </a:p>
          <a:p>
            <a:pPr marL="0" indent="0" algn="just">
              <a:buNone/>
            </a:pPr>
            <a:r>
              <a:rPr lang="en-IN" sz="2400" dirty="0"/>
              <a:t>Introduces Synergistic Diversity for selecting deep models that are individually accurate and collectively complementary. The method aims to build better ensembles than those selected using conventional diversity metrics.</a:t>
            </a:r>
          </a:p>
          <a:p>
            <a:pPr marL="0" indent="0" algn="just">
              <a:buNone/>
            </a:pPr>
            <a:r>
              <a:rPr lang="en-US" sz="2300" b="1" dirty="0">
                <a:solidFill>
                  <a:schemeClr val="accent2">
                    <a:lumMod val="50000"/>
                  </a:schemeClr>
                </a:solidFill>
                <a:latin typeface="Calisto MT" panose="02040603050505030304" pitchFamily="18" charset="0"/>
              </a:rPr>
              <a:t>Gaps Addressed:</a:t>
            </a:r>
          </a:p>
          <a:p>
            <a:pPr marL="457200" lvl="0" indent="-457200" algn="just">
              <a:buFont typeface="+mj-lt"/>
              <a:buAutoNum type="arabicPeriod"/>
            </a:pPr>
            <a:r>
              <a:rPr lang="en-IN" sz="2400" dirty="0"/>
              <a:t>Addresses poor ensemble selection based only on model accuracy.</a:t>
            </a:r>
          </a:p>
          <a:p>
            <a:pPr marL="457200" lvl="0" indent="-457200" algn="just">
              <a:buFont typeface="+mj-lt"/>
              <a:buAutoNum type="arabicPeriod"/>
            </a:pPr>
            <a:r>
              <a:rPr lang="en-IN" sz="2400" dirty="0"/>
              <a:t>Promotes useful model diversity for improved plant disease prediction.</a:t>
            </a:r>
          </a:p>
          <a:p>
            <a:pPr marL="0" indent="0" algn="just">
              <a:lnSpc>
                <a:spcPct val="100000"/>
              </a:lnSpc>
              <a:buNone/>
            </a:pPr>
            <a:r>
              <a:rPr lang="en-US" sz="2300" b="1" dirty="0">
                <a:solidFill>
                  <a:schemeClr val="accent2">
                    <a:lumMod val="50000"/>
                  </a:schemeClr>
                </a:solidFill>
                <a:latin typeface="Calisto MT" panose="02040603050505030304" pitchFamily="18" charset="0"/>
              </a:rPr>
              <a:t>Limitations:</a:t>
            </a:r>
          </a:p>
          <a:p>
            <a:pPr marL="457200" lvl="0" indent="-457200" algn="just">
              <a:buFont typeface="+mj-lt"/>
              <a:buAutoNum type="arabicPeriod"/>
            </a:pPr>
            <a:r>
              <a:rPr lang="en-IN" sz="2400" dirty="0"/>
              <a:t>Focuses mainly on higher classification accuracy.</a:t>
            </a:r>
          </a:p>
          <a:p>
            <a:pPr marL="457200" lvl="0" indent="-457200" algn="just">
              <a:buFont typeface="+mj-lt"/>
              <a:buAutoNum type="arabicPeriod"/>
            </a:pPr>
            <a:r>
              <a:rPr lang="en-IN" sz="2400" dirty="0"/>
              <a:t>Does not provide conformal prediction or formal abstention.</a:t>
            </a:r>
          </a:p>
          <a:p>
            <a:pPr marL="457200" lvl="0" indent="-457200" algn="just">
              <a:buFont typeface="+mj-lt"/>
              <a:buAutoNum type="arabicPeriod"/>
            </a:pPr>
            <a:r>
              <a:rPr lang="en-IN" sz="2400" dirty="0"/>
              <a:t>Does not include OOD detection or evidence-grounded response generation.</a:t>
            </a:r>
            <a:endParaRPr lang="en-US" sz="1800" dirty="0">
              <a:latin typeface="Calisto MT" panose="02040603050505030304" pitchFamily="18" charset="0"/>
            </a:endParaRPr>
          </a:p>
        </p:txBody>
      </p:sp>
      <p:sp>
        <p:nvSpPr>
          <p:cNvPr id="7" name="Slide Number Placeholder 6">
            <a:extLst>
              <a:ext uri="{FF2B5EF4-FFF2-40B4-BE49-F238E27FC236}">
                <a16:creationId xmlns:a16="http://schemas.microsoft.com/office/drawing/2014/main" id="{9D76B2BC-92E3-6FEF-45B5-5877EED546C6}"/>
              </a:ext>
            </a:extLst>
          </p:cNvPr>
          <p:cNvSpPr>
            <a:spLocks noGrp="1"/>
          </p:cNvSpPr>
          <p:nvPr>
            <p:ph type="sldNum" sz="quarter" idx="12"/>
          </p:nvPr>
        </p:nvSpPr>
        <p:spPr/>
        <p:txBody>
          <a:bodyPr/>
          <a:lstStyle/>
          <a:p>
            <a:fld id="{D90542D4-23E8-43E0-BA8E-C972DA1A005D}" type="slidenum">
              <a:rPr lang="en-US" sz="1400" b="1" smtClean="0">
                <a:solidFill>
                  <a:schemeClr val="tx1"/>
                </a:solidFill>
                <a:latin typeface="Calisto MT" panose="02040603050505030304" pitchFamily="18" charset="0"/>
              </a:rPr>
              <a:pPr/>
              <a:t>18</a:t>
            </a:fld>
            <a:endParaRPr lang="en-US" sz="1400" b="1" dirty="0">
              <a:solidFill>
                <a:schemeClr val="tx1"/>
              </a:solidFill>
              <a:latin typeface="Calisto MT" panose="02040603050505030304" pitchFamily="18" charset="0"/>
            </a:endParaRPr>
          </a:p>
        </p:txBody>
      </p:sp>
    </p:spTree>
    <p:extLst>
      <p:ext uri="{BB962C8B-B14F-4D97-AF65-F5344CB8AC3E}">
        <p14:creationId xmlns:p14="http://schemas.microsoft.com/office/powerpoint/2010/main" val="233604830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9986755-DD06-5707-5C61-67B600DC490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2487206-506E-D22E-E681-2FAFB54816C2}"/>
              </a:ext>
            </a:extLst>
          </p:cNvPr>
          <p:cNvSpPr>
            <a:spLocks noGrp="1"/>
          </p:cNvSpPr>
          <p:nvPr>
            <p:ph type="title"/>
          </p:nvPr>
        </p:nvSpPr>
        <p:spPr>
          <a:xfrm>
            <a:off x="202676" y="-51079"/>
            <a:ext cx="8738648" cy="747237"/>
          </a:xfrm>
        </p:spPr>
        <p:txBody>
          <a:bodyPr>
            <a:noAutofit/>
          </a:bodyPr>
          <a:lstStyle/>
          <a:p>
            <a:r>
              <a:rPr lang="en-US" sz="3000" b="1" dirty="0">
                <a:solidFill>
                  <a:schemeClr val="accent2">
                    <a:lumMod val="50000"/>
                  </a:schemeClr>
                </a:solidFill>
                <a:latin typeface="Calisto MT" panose="02040603050505030304" pitchFamily="18" charset="0"/>
              </a:rPr>
              <a:t>10.7 Study on Existing Technologies  </a:t>
            </a:r>
          </a:p>
        </p:txBody>
      </p:sp>
      <p:sp>
        <p:nvSpPr>
          <p:cNvPr id="3" name="Content Placeholder 2">
            <a:extLst>
              <a:ext uri="{FF2B5EF4-FFF2-40B4-BE49-F238E27FC236}">
                <a16:creationId xmlns:a16="http://schemas.microsoft.com/office/drawing/2014/main" id="{6CC27DA3-5143-D05D-6BA5-1C58A602AA99}"/>
              </a:ext>
            </a:extLst>
          </p:cNvPr>
          <p:cNvSpPr>
            <a:spLocks noGrp="1"/>
          </p:cNvSpPr>
          <p:nvPr>
            <p:ph idx="1"/>
          </p:nvPr>
        </p:nvSpPr>
        <p:spPr>
          <a:xfrm>
            <a:off x="358218" y="584462"/>
            <a:ext cx="8314441" cy="6273538"/>
          </a:xfrm>
        </p:spPr>
        <p:txBody>
          <a:bodyPr numCol="1">
            <a:normAutofit fontScale="92500" lnSpcReduction="20000"/>
          </a:bodyPr>
          <a:lstStyle/>
          <a:p>
            <a:pPr marL="0" indent="0" algn="just">
              <a:buNone/>
            </a:pPr>
            <a:r>
              <a:rPr lang="en-US" sz="2300" b="1" dirty="0">
                <a:solidFill>
                  <a:schemeClr val="accent2">
                    <a:lumMod val="50000"/>
                  </a:schemeClr>
                </a:solidFill>
                <a:latin typeface="Calisto MT" panose="02040603050505030304" pitchFamily="18" charset="0"/>
              </a:rPr>
              <a:t>Title: </a:t>
            </a:r>
            <a:r>
              <a:rPr lang="en-IN" sz="2400" dirty="0"/>
              <a:t>Uncertainty-Aware Transformers-Conformal Prediction for Language Models</a:t>
            </a:r>
          </a:p>
          <a:p>
            <a:pPr marL="0" indent="0" algn="just">
              <a:buNone/>
            </a:pPr>
            <a:r>
              <a:rPr lang="en-US" sz="2300" b="1" dirty="0">
                <a:solidFill>
                  <a:schemeClr val="accent2">
                    <a:lumMod val="50000"/>
                  </a:schemeClr>
                </a:solidFill>
                <a:latin typeface="Calisto MT" panose="02040603050505030304" pitchFamily="18" charset="0"/>
              </a:rPr>
              <a:t>Journal Details: </a:t>
            </a:r>
            <a:r>
              <a:rPr lang="en-IN" sz="2400" dirty="0"/>
              <a:t>Research paper on uncertainty-aware Transformer models and conformal prediction.</a:t>
            </a:r>
          </a:p>
          <a:p>
            <a:pPr marL="0" indent="0" algn="just">
              <a:buNone/>
            </a:pPr>
            <a:r>
              <a:rPr lang="en-US" sz="2300" b="1" dirty="0">
                <a:solidFill>
                  <a:schemeClr val="accent2">
                    <a:lumMod val="50000"/>
                  </a:schemeClr>
                </a:solidFill>
                <a:latin typeface="Calisto MT" panose="02040603050505030304" pitchFamily="18" charset="0"/>
              </a:rPr>
              <a:t>Dataset: </a:t>
            </a:r>
            <a:r>
              <a:rPr lang="en-IN" sz="2400" dirty="0"/>
              <a:t>Language-model datasets; not a plant leaf disease dataset</a:t>
            </a:r>
          </a:p>
          <a:p>
            <a:pPr marL="0" indent="0" algn="just">
              <a:buNone/>
            </a:pPr>
            <a:r>
              <a:rPr lang="en-US" sz="2300" b="1" dirty="0">
                <a:solidFill>
                  <a:schemeClr val="accent2">
                    <a:lumMod val="50000"/>
                  </a:schemeClr>
                </a:solidFill>
                <a:latin typeface="Calisto MT" panose="02040603050505030304" pitchFamily="18" charset="0"/>
              </a:rPr>
              <a:t>Description: </a:t>
            </a:r>
          </a:p>
          <a:p>
            <a:pPr marL="0" indent="0" algn="just">
              <a:buNone/>
            </a:pPr>
            <a:r>
              <a:rPr lang="en-IN" sz="2400" dirty="0"/>
              <a:t>Studies conformal prediction for uncertainty-aware Transformer outputs. It produces prediction sets with statistical reliability guarantees instead of always selecting one label.</a:t>
            </a:r>
          </a:p>
          <a:p>
            <a:pPr marL="0" indent="0" algn="just">
              <a:buNone/>
            </a:pPr>
            <a:r>
              <a:rPr lang="en-US" sz="2300" b="1" dirty="0">
                <a:solidFill>
                  <a:schemeClr val="accent2">
                    <a:lumMod val="50000"/>
                  </a:schemeClr>
                </a:solidFill>
                <a:latin typeface="Calisto MT" panose="02040603050505030304" pitchFamily="18" charset="0"/>
              </a:rPr>
              <a:t>Gaps Addressed:</a:t>
            </a:r>
          </a:p>
          <a:p>
            <a:pPr marL="457200" lvl="0" indent="-457200" algn="just">
              <a:buFont typeface="+mj-lt"/>
              <a:buAutoNum type="arabicPeriod"/>
            </a:pPr>
            <a:r>
              <a:rPr lang="en-IN" sz="2400" dirty="0"/>
              <a:t>Provides a formal method for measuring predictive uncertainty.</a:t>
            </a:r>
          </a:p>
          <a:p>
            <a:pPr marL="457200" lvl="0" indent="-457200" algn="just">
              <a:buFont typeface="+mj-lt"/>
              <a:buAutoNum type="arabicPeriod"/>
            </a:pPr>
            <a:r>
              <a:rPr lang="en-IN" sz="2400" dirty="0"/>
              <a:t>Supports selective prediction and abstention for unreliable outputs.</a:t>
            </a:r>
          </a:p>
          <a:p>
            <a:pPr marL="0" indent="0" algn="just">
              <a:lnSpc>
                <a:spcPct val="100000"/>
              </a:lnSpc>
              <a:buNone/>
            </a:pPr>
            <a:r>
              <a:rPr lang="en-US" sz="2300" b="1" dirty="0">
                <a:solidFill>
                  <a:schemeClr val="accent2">
                    <a:lumMod val="50000"/>
                  </a:schemeClr>
                </a:solidFill>
                <a:latin typeface="Calisto MT" panose="02040603050505030304" pitchFamily="18" charset="0"/>
              </a:rPr>
              <a:t>Limitations:</a:t>
            </a:r>
          </a:p>
          <a:p>
            <a:pPr marL="457200" lvl="0" indent="-457200" algn="just">
              <a:buFont typeface="+mj-lt"/>
              <a:buAutoNum type="arabicPeriod"/>
            </a:pPr>
            <a:r>
              <a:rPr lang="en-IN" sz="2400" dirty="0"/>
              <a:t>Designed for language models, not plant disease image classification.</a:t>
            </a:r>
          </a:p>
          <a:p>
            <a:pPr marL="457200" lvl="0" indent="-457200" algn="just">
              <a:buFont typeface="+mj-lt"/>
              <a:buAutoNum type="arabicPeriod"/>
            </a:pPr>
            <a:r>
              <a:rPr lang="en-IN" sz="2400" dirty="0"/>
              <a:t>Requires adaptation to CNN or vision-ensemble probability outputs.</a:t>
            </a:r>
          </a:p>
          <a:p>
            <a:pPr marL="457200" lvl="0" indent="-457200" algn="just">
              <a:buFont typeface="+mj-lt"/>
              <a:buAutoNum type="arabicPeriod"/>
            </a:pPr>
            <a:r>
              <a:rPr lang="en-IN" sz="2400" dirty="0"/>
              <a:t>Does not address agricultural datasets, field images, or disease evidence retrieval.</a:t>
            </a:r>
          </a:p>
        </p:txBody>
      </p:sp>
      <p:sp>
        <p:nvSpPr>
          <p:cNvPr id="7" name="Slide Number Placeholder 6">
            <a:extLst>
              <a:ext uri="{FF2B5EF4-FFF2-40B4-BE49-F238E27FC236}">
                <a16:creationId xmlns:a16="http://schemas.microsoft.com/office/drawing/2014/main" id="{774FCE09-B0E1-AD45-80AA-F4E3CE21F804}"/>
              </a:ext>
            </a:extLst>
          </p:cNvPr>
          <p:cNvSpPr>
            <a:spLocks noGrp="1"/>
          </p:cNvSpPr>
          <p:nvPr>
            <p:ph type="sldNum" sz="quarter" idx="12"/>
          </p:nvPr>
        </p:nvSpPr>
        <p:spPr/>
        <p:txBody>
          <a:bodyPr/>
          <a:lstStyle/>
          <a:p>
            <a:fld id="{D90542D4-23E8-43E0-BA8E-C972DA1A005D}" type="slidenum">
              <a:rPr lang="en-US" sz="1400" b="1" smtClean="0">
                <a:solidFill>
                  <a:schemeClr val="tx1"/>
                </a:solidFill>
                <a:latin typeface="Calisto MT" panose="02040603050505030304" pitchFamily="18" charset="0"/>
              </a:rPr>
              <a:pPr/>
              <a:t>19</a:t>
            </a:fld>
            <a:endParaRPr lang="en-US" sz="1400" b="1" dirty="0">
              <a:solidFill>
                <a:schemeClr val="tx1"/>
              </a:solidFill>
              <a:latin typeface="Calisto MT" panose="02040603050505030304" pitchFamily="18" charset="0"/>
            </a:endParaRPr>
          </a:p>
        </p:txBody>
      </p:sp>
    </p:spTree>
    <p:extLst>
      <p:ext uri="{BB962C8B-B14F-4D97-AF65-F5344CB8AC3E}">
        <p14:creationId xmlns:p14="http://schemas.microsoft.com/office/powerpoint/2010/main" val="383906722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81EADC0-83C1-3A89-C3B6-83ECCADFAEB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59D5591-A520-003F-9435-E983CD85124E}"/>
              </a:ext>
            </a:extLst>
          </p:cNvPr>
          <p:cNvSpPr>
            <a:spLocks noGrp="1"/>
          </p:cNvSpPr>
          <p:nvPr>
            <p:ph type="title"/>
          </p:nvPr>
        </p:nvSpPr>
        <p:spPr>
          <a:xfrm>
            <a:off x="202676" y="-51079"/>
            <a:ext cx="8738648" cy="747237"/>
          </a:xfrm>
        </p:spPr>
        <p:txBody>
          <a:bodyPr>
            <a:noAutofit/>
          </a:bodyPr>
          <a:lstStyle/>
          <a:p>
            <a:r>
              <a:rPr lang="en-US" sz="3000" b="1" dirty="0">
                <a:solidFill>
                  <a:schemeClr val="accent2">
                    <a:lumMod val="50000"/>
                  </a:schemeClr>
                </a:solidFill>
                <a:latin typeface="Calisto MT" panose="02040603050505030304" pitchFamily="18" charset="0"/>
              </a:rPr>
              <a:t>10.8 Study on Existing Technologies  </a:t>
            </a:r>
          </a:p>
        </p:txBody>
      </p:sp>
      <p:sp>
        <p:nvSpPr>
          <p:cNvPr id="3" name="Content Placeholder 2">
            <a:extLst>
              <a:ext uri="{FF2B5EF4-FFF2-40B4-BE49-F238E27FC236}">
                <a16:creationId xmlns:a16="http://schemas.microsoft.com/office/drawing/2014/main" id="{AEF8AD49-138F-DB06-9B86-966F51CF31B3}"/>
              </a:ext>
            </a:extLst>
          </p:cNvPr>
          <p:cNvSpPr>
            <a:spLocks noGrp="1"/>
          </p:cNvSpPr>
          <p:nvPr>
            <p:ph idx="1"/>
          </p:nvPr>
        </p:nvSpPr>
        <p:spPr>
          <a:xfrm>
            <a:off x="358218" y="584462"/>
            <a:ext cx="8314441" cy="6273538"/>
          </a:xfrm>
        </p:spPr>
        <p:txBody>
          <a:bodyPr numCol="1">
            <a:normAutofit fontScale="92500" lnSpcReduction="10000"/>
          </a:bodyPr>
          <a:lstStyle/>
          <a:p>
            <a:pPr marL="0" indent="0" algn="just">
              <a:buNone/>
            </a:pPr>
            <a:r>
              <a:rPr lang="en-US" sz="2300" b="1" dirty="0">
                <a:solidFill>
                  <a:schemeClr val="accent2">
                    <a:lumMod val="50000"/>
                  </a:schemeClr>
                </a:solidFill>
                <a:latin typeface="Calisto MT" panose="02040603050505030304" pitchFamily="18" charset="0"/>
              </a:rPr>
              <a:t>Title: </a:t>
            </a:r>
            <a:r>
              <a:rPr lang="en-IN" sz="2400" dirty="0"/>
              <a:t>Agentic AI for Smart and Sustainable Precision Agriculture</a:t>
            </a:r>
          </a:p>
          <a:p>
            <a:pPr marL="0" indent="0" algn="just">
              <a:buNone/>
            </a:pPr>
            <a:r>
              <a:rPr lang="en-US" sz="2300" b="1" dirty="0">
                <a:solidFill>
                  <a:schemeClr val="accent2">
                    <a:lumMod val="50000"/>
                  </a:schemeClr>
                </a:solidFill>
                <a:latin typeface="Calisto MT" panose="02040603050505030304" pitchFamily="18" charset="0"/>
              </a:rPr>
              <a:t>Journal Details: </a:t>
            </a:r>
            <a:r>
              <a:rPr lang="en-IN" sz="2400" i="1" dirty="0"/>
              <a:t>Frontiers in Plant Science</a:t>
            </a:r>
            <a:r>
              <a:rPr lang="en-IN" sz="2400" dirty="0"/>
              <a:t>, Vol. 16, Article 1706428, Frontiers Media SA, 2026. DOI: 10.3389/fpls.2025.1706428</a:t>
            </a:r>
          </a:p>
          <a:p>
            <a:pPr marL="0" indent="0" algn="just">
              <a:buNone/>
            </a:pPr>
            <a:r>
              <a:rPr lang="en-US" sz="2300" b="1" dirty="0">
                <a:solidFill>
                  <a:schemeClr val="accent2">
                    <a:lumMod val="50000"/>
                  </a:schemeClr>
                </a:solidFill>
                <a:latin typeface="Calisto MT" panose="02040603050505030304" pitchFamily="18" charset="0"/>
              </a:rPr>
              <a:t>Dataset: </a:t>
            </a:r>
            <a:r>
              <a:rPr lang="en-IN" sz="2400" dirty="0"/>
              <a:t>Tomato disease classification and weed detection datasets</a:t>
            </a:r>
          </a:p>
          <a:p>
            <a:pPr marL="0" indent="0" algn="just">
              <a:buNone/>
            </a:pPr>
            <a:r>
              <a:rPr lang="en-US" sz="2300" b="1" dirty="0">
                <a:solidFill>
                  <a:schemeClr val="accent2">
                    <a:lumMod val="50000"/>
                  </a:schemeClr>
                </a:solidFill>
                <a:latin typeface="Calisto MT" panose="02040603050505030304" pitchFamily="18" charset="0"/>
              </a:rPr>
              <a:t>Description: </a:t>
            </a:r>
          </a:p>
          <a:p>
            <a:pPr marL="0" indent="0" algn="just">
              <a:buNone/>
            </a:pPr>
            <a:r>
              <a:rPr lang="en-IN" sz="2400" dirty="0"/>
              <a:t>Presents an Agentic AI framework integrating intelligent agents, federated learning, DenseNet121, MobileNetV2, EfficientDet-D0, and YOLOv8 for precision agriculture. The federated tomato disease model achieved 96.4% accuracy.</a:t>
            </a:r>
          </a:p>
          <a:p>
            <a:pPr marL="0" indent="0" algn="just">
              <a:buNone/>
            </a:pPr>
            <a:r>
              <a:rPr lang="en-US" sz="2300" b="1" dirty="0">
                <a:solidFill>
                  <a:schemeClr val="accent2">
                    <a:lumMod val="50000"/>
                  </a:schemeClr>
                </a:solidFill>
                <a:latin typeface="Calisto MT" panose="02040603050505030304" pitchFamily="18" charset="0"/>
              </a:rPr>
              <a:t>Gaps Addressed:</a:t>
            </a:r>
          </a:p>
          <a:p>
            <a:pPr marL="457200" lvl="0" indent="-457200" algn="just">
              <a:buFont typeface="+mj-lt"/>
              <a:buAutoNum type="arabicPeriod"/>
            </a:pPr>
            <a:r>
              <a:rPr lang="en-IN" sz="2400" dirty="0"/>
              <a:t>Supports distributed farm intelligence and privacy-aware learning.</a:t>
            </a:r>
          </a:p>
          <a:p>
            <a:pPr marL="457200" lvl="0" indent="-457200" algn="just">
              <a:buFont typeface="+mj-lt"/>
              <a:buAutoNum type="arabicPeriod"/>
            </a:pPr>
            <a:r>
              <a:rPr lang="en-IN" sz="2400" dirty="0"/>
              <a:t>Uses multiple AI models for disease and weed monitoring.</a:t>
            </a:r>
          </a:p>
          <a:p>
            <a:pPr marL="0" indent="0" algn="just">
              <a:lnSpc>
                <a:spcPct val="100000"/>
              </a:lnSpc>
              <a:buNone/>
            </a:pPr>
            <a:r>
              <a:rPr lang="en-US" sz="2300" b="1" dirty="0">
                <a:solidFill>
                  <a:schemeClr val="accent2">
                    <a:lumMod val="50000"/>
                  </a:schemeClr>
                </a:solidFill>
                <a:latin typeface="Calisto MT" panose="02040603050505030304" pitchFamily="18" charset="0"/>
              </a:rPr>
              <a:t>Limitations:</a:t>
            </a:r>
          </a:p>
          <a:p>
            <a:pPr marL="457200" lvl="0" indent="-457200" algn="just">
              <a:buFont typeface="+mj-lt"/>
              <a:buAutoNum type="arabicPeriod"/>
            </a:pPr>
            <a:r>
              <a:rPr lang="en-IN" sz="2400" dirty="0"/>
              <a:t>Focuses on federated agriculture rather than abstention-aware diagnosis.</a:t>
            </a:r>
          </a:p>
          <a:p>
            <a:pPr marL="457200" lvl="0" indent="-457200" algn="just">
              <a:buFont typeface="+mj-lt"/>
              <a:buAutoNum type="arabicPeriod"/>
            </a:pPr>
            <a:r>
              <a:rPr lang="en-IN" sz="2400" dirty="0"/>
              <a:t>Does not use conformal prediction or ensemble disagreement.</a:t>
            </a:r>
          </a:p>
          <a:p>
            <a:pPr marL="457200" lvl="0" indent="-457200" algn="just">
              <a:buFont typeface="+mj-lt"/>
              <a:buAutoNum type="arabicPeriod"/>
            </a:pPr>
            <a:r>
              <a:rPr lang="en-IN" sz="2400" dirty="0"/>
              <a:t>Does not provide disease-specific evidence retrieval and validation.</a:t>
            </a:r>
          </a:p>
        </p:txBody>
      </p:sp>
      <p:sp>
        <p:nvSpPr>
          <p:cNvPr id="7" name="Slide Number Placeholder 6">
            <a:extLst>
              <a:ext uri="{FF2B5EF4-FFF2-40B4-BE49-F238E27FC236}">
                <a16:creationId xmlns:a16="http://schemas.microsoft.com/office/drawing/2014/main" id="{58FD6A96-D1A1-E105-FC36-52E6C86E2EB4}"/>
              </a:ext>
            </a:extLst>
          </p:cNvPr>
          <p:cNvSpPr>
            <a:spLocks noGrp="1"/>
          </p:cNvSpPr>
          <p:nvPr>
            <p:ph type="sldNum" sz="quarter" idx="12"/>
          </p:nvPr>
        </p:nvSpPr>
        <p:spPr/>
        <p:txBody>
          <a:bodyPr/>
          <a:lstStyle/>
          <a:p>
            <a:fld id="{D90542D4-23E8-43E0-BA8E-C972DA1A005D}" type="slidenum">
              <a:rPr lang="en-US" sz="1400" b="1" smtClean="0">
                <a:solidFill>
                  <a:schemeClr val="tx1"/>
                </a:solidFill>
                <a:latin typeface="Calisto MT" panose="02040603050505030304" pitchFamily="18" charset="0"/>
              </a:rPr>
              <a:pPr/>
              <a:t>20</a:t>
            </a:fld>
            <a:endParaRPr lang="en-US" sz="1400" b="1" dirty="0">
              <a:solidFill>
                <a:schemeClr val="tx1"/>
              </a:solidFill>
              <a:latin typeface="Calisto MT" panose="02040603050505030304" pitchFamily="18" charset="0"/>
            </a:endParaRPr>
          </a:p>
        </p:txBody>
      </p:sp>
    </p:spTree>
    <p:extLst>
      <p:ext uri="{BB962C8B-B14F-4D97-AF65-F5344CB8AC3E}">
        <p14:creationId xmlns:p14="http://schemas.microsoft.com/office/powerpoint/2010/main" val="8067243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DD413B-534E-B732-C551-A8DF78D70CC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7BADF2E-4484-2D92-DD40-6EDFDED30589}"/>
              </a:ext>
            </a:extLst>
          </p:cNvPr>
          <p:cNvSpPr>
            <a:spLocks noGrp="1"/>
          </p:cNvSpPr>
          <p:nvPr>
            <p:ph type="title"/>
          </p:nvPr>
        </p:nvSpPr>
        <p:spPr>
          <a:xfrm>
            <a:off x="202676" y="-51079"/>
            <a:ext cx="8738648" cy="747237"/>
          </a:xfrm>
        </p:spPr>
        <p:txBody>
          <a:bodyPr>
            <a:noAutofit/>
          </a:bodyPr>
          <a:lstStyle/>
          <a:p>
            <a:r>
              <a:rPr lang="en-US" sz="3000" b="1" dirty="0">
                <a:solidFill>
                  <a:schemeClr val="accent2">
                    <a:lumMod val="50000"/>
                  </a:schemeClr>
                </a:solidFill>
                <a:latin typeface="Calisto MT" panose="02040603050505030304" pitchFamily="18" charset="0"/>
              </a:rPr>
              <a:t>10.9 Study on Existing Technologies  </a:t>
            </a:r>
          </a:p>
        </p:txBody>
      </p:sp>
      <p:sp>
        <p:nvSpPr>
          <p:cNvPr id="3" name="Content Placeholder 2">
            <a:extLst>
              <a:ext uri="{FF2B5EF4-FFF2-40B4-BE49-F238E27FC236}">
                <a16:creationId xmlns:a16="http://schemas.microsoft.com/office/drawing/2014/main" id="{110CA0E1-A374-B28E-6259-EC0FEB4CFE3D}"/>
              </a:ext>
            </a:extLst>
          </p:cNvPr>
          <p:cNvSpPr>
            <a:spLocks noGrp="1"/>
          </p:cNvSpPr>
          <p:nvPr>
            <p:ph idx="1"/>
          </p:nvPr>
        </p:nvSpPr>
        <p:spPr>
          <a:xfrm>
            <a:off x="358218" y="584462"/>
            <a:ext cx="8314441" cy="6273538"/>
          </a:xfrm>
        </p:spPr>
        <p:txBody>
          <a:bodyPr numCol="1">
            <a:normAutofit fontScale="92500" lnSpcReduction="20000"/>
          </a:bodyPr>
          <a:lstStyle/>
          <a:p>
            <a:pPr marL="0" indent="0" algn="just">
              <a:buNone/>
            </a:pPr>
            <a:r>
              <a:rPr lang="en-US" sz="2300" b="1" dirty="0">
                <a:solidFill>
                  <a:schemeClr val="accent2">
                    <a:lumMod val="50000"/>
                  </a:schemeClr>
                </a:solidFill>
                <a:latin typeface="Calisto MT" panose="02040603050505030304" pitchFamily="18" charset="0"/>
              </a:rPr>
              <a:t>Title: </a:t>
            </a:r>
            <a:r>
              <a:rPr lang="en-IN" sz="2400" dirty="0"/>
              <a:t>Recent Advances in Plant Disease Detection: Challenges and Future Directions</a:t>
            </a:r>
          </a:p>
          <a:p>
            <a:pPr marL="0" indent="0" algn="just">
              <a:buNone/>
            </a:pPr>
            <a:r>
              <a:rPr lang="en-US" sz="2300" b="1" dirty="0">
                <a:solidFill>
                  <a:schemeClr val="accent2">
                    <a:lumMod val="50000"/>
                  </a:schemeClr>
                </a:solidFill>
                <a:latin typeface="Calisto MT" panose="02040603050505030304" pitchFamily="18" charset="0"/>
              </a:rPr>
              <a:t>Journal Details: </a:t>
            </a:r>
            <a:r>
              <a:rPr lang="en-IN" sz="2400" i="1" dirty="0"/>
              <a:t>Plant Methods</a:t>
            </a:r>
            <a:r>
              <a:rPr lang="en-IN" sz="2400" dirty="0"/>
              <a:t>, Vol. 21, BMC / Springer Nature, 2025. DOI: 10.1186/s13007-025-01450-0</a:t>
            </a:r>
          </a:p>
          <a:p>
            <a:pPr marL="0" indent="0" algn="just">
              <a:buNone/>
            </a:pPr>
            <a:r>
              <a:rPr lang="en-US" sz="2300" b="1" dirty="0">
                <a:solidFill>
                  <a:schemeClr val="accent2">
                    <a:lumMod val="50000"/>
                  </a:schemeClr>
                </a:solidFill>
                <a:latin typeface="Calisto MT" panose="02040603050505030304" pitchFamily="18" charset="0"/>
              </a:rPr>
              <a:t>Dataset: </a:t>
            </a:r>
            <a:r>
              <a:rPr lang="en-IN" sz="2400" dirty="0"/>
              <a:t>Review paper; </a:t>
            </a:r>
            <a:r>
              <a:rPr lang="en-IN" sz="2400" dirty="0" err="1"/>
              <a:t>analyzes</a:t>
            </a:r>
            <a:r>
              <a:rPr lang="en-IN" sz="2400" dirty="0"/>
              <a:t> 11 benchmark datasets and field-deployment conditions</a:t>
            </a:r>
          </a:p>
          <a:p>
            <a:pPr marL="0" indent="0" algn="just">
              <a:buNone/>
            </a:pPr>
            <a:r>
              <a:rPr lang="en-US" sz="2300" b="1" dirty="0">
                <a:solidFill>
                  <a:schemeClr val="accent2">
                    <a:lumMod val="50000"/>
                  </a:schemeClr>
                </a:solidFill>
                <a:latin typeface="Calisto MT" panose="02040603050505030304" pitchFamily="18" charset="0"/>
              </a:rPr>
              <a:t>Description: </a:t>
            </a:r>
          </a:p>
          <a:p>
            <a:pPr marL="0" indent="0" algn="just">
              <a:buNone/>
            </a:pPr>
            <a:r>
              <a:rPr lang="en-IN" sz="2400" dirty="0"/>
              <a:t>Reviews RGB imaging, hyperspectral imaging, CNNs, Transformers, and disease datasets. It reports that laboratory accuracy is often 95%–99%, while real field deployment may fall to approximately 70%–85%.</a:t>
            </a:r>
          </a:p>
          <a:p>
            <a:pPr marL="0" indent="0" algn="just">
              <a:buNone/>
            </a:pPr>
            <a:r>
              <a:rPr lang="en-US" sz="2300" b="1" dirty="0">
                <a:solidFill>
                  <a:schemeClr val="accent2">
                    <a:lumMod val="50000"/>
                  </a:schemeClr>
                </a:solidFill>
                <a:latin typeface="Calisto MT" panose="02040603050505030304" pitchFamily="18" charset="0"/>
              </a:rPr>
              <a:t>Gaps Addressed:</a:t>
            </a:r>
          </a:p>
          <a:p>
            <a:pPr marL="457200" lvl="0" indent="-457200" algn="just">
              <a:buFont typeface="+mj-lt"/>
              <a:buAutoNum type="arabicPeriod"/>
            </a:pPr>
            <a:r>
              <a:rPr lang="en-IN" sz="2400" dirty="0"/>
              <a:t>Identifies the major laboratory-to-field performance gap.</a:t>
            </a:r>
          </a:p>
          <a:p>
            <a:pPr marL="457200" lvl="0" indent="-457200" algn="just">
              <a:buFont typeface="+mj-lt"/>
              <a:buAutoNum type="arabicPeriod"/>
            </a:pPr>
            <a:r>
              <a:rPr lang="en-IN" sz="2400" dirty="0"/>
              <a:t>Discusses imaging cost, field robustness, interpretability, and deployment issues.</a:t>
            </a:r>
          </a:p>
          <a:p>
            <a:pPr marL="0" indent="0" algn="just">
              <a:lnSpc>
                <a:spcPct val="100000"/>
              </a:lnSpc>
              <a:buNone/>
            </a:pPr>
            <a:r>
              <a:rPr lang="en-US" sz="2300" b="1" dirty="0">
                <a:solidFill>
                  <a:schemeClr val="accent2">
                    <a:lumMod val="50000"/>
                  </a:schemeClr>
                </a:solidFill>
                <a:latin typeface="Calisto MT" panose="02040603050505030304" pitchFamily="18" charset="0"/>
              </a:rPr>
              <a:t>Limitations:</a:t>
            </a:r>
          </a:p>
          <a:p>
            <a:pPr marL="457200" lvl="0" indent="-457200" algn="just">
              <a:buFont typeface="+mj-lt"/>
              <a:buAutoNum type="arabicPeriod"/>
            </a:pPr>
            <a:r>
              <a:rPr lang="en-IN" sz="2400" dirty="0"/>
              <a:t>Does not propose a working uncertainty-aware disease model.</a:t>
            </a:r>
          </a:p>
          <a:p>
            <a:pPr marL="457200" lvl="0" indent="-457200" algn="just">
              <a:buFont typeface="+mj-lt"/>
              <a:buAutoNum type="arabicPeriod"/>
            </a:pPr>
            <a:r>
              <a:rPr lang="en-IN" sz="2400" dirty="0"/>
              <a:t>Does not provide a selective prediction or abstention policy.</a:t>
            </a:r>
          </a:p>
          <a:p>
            <a:pPr marL="457200" lvl="0" indent="-457200" algn="just">
              <a:buFont typeface="+mj-lt"/>
              <a:buAutoNum type="arabicPeriod"/>
            </a:pPr>
            <a:r>
              <a:rPr lang="en-IN" sz="2400" dirty="0"/>
              <a:t>Does not integrate model prediction with evidence retrieval.</a:t>
            </a:r>
          </a:p>
        </p:txBody>
      </p:sp>
      <p:sp>
        <p:nvSpPr>
          <p:cNvPr id="7" name="Slide Number Placeholder 6">
            <a:extLst>
              <a:ext uri="{FF2B5EF4-FFF2-40B4-BE49-F238E27FC236}">
                <a16:creationId xmlns:a16="http://schemas.microsoft.com/office/drawing/2014/main" id="{98BFB349-F74B-BE53-E648-B1A017D3D15A}"/>
              </a:ext>
            </a:extLst>
          </p:cNvPr>
          <p:cNvSpPr>
            <a:spLocks noGrp="1"/>
          </p:cNvSpPr>
          <p:nvPr>
            <p:ph type="sldNum" sz="quarter" idx="12"/>
          </p:nvPr>
        </p:nvSpPr>
        <p:spPr/>
        <p:txBody>
          <a:bodyPr/>
          <a:lstStyle/>
          <a:p>
            <a:fld id="{D90542D4-23E8-43E0-BA8E-C972DA1A005D}" type="slidenum">
              <a:rPr lang="en-US" sz="1400" b="1" smtClean="0">
                <a:solidFill>
                  <a:schemeClr val="tx1"/>
                </a:solidFill>
                <a:latin typeface="Calisto MT" panose="02040603050505030304" pitchFamily="18" charset="0"/>
              </a:rPr>
              <a:pPr/>
              <a:t>21</a:t>
            </a:fld>
            <a:endParaRPr lang="en-US" sz="1400" b="1" dirty="0">
              <a:solidFill>
                <a:schemeClr val="tx1"/>
              </a:solidFill>
              <a:latin typeface="Calisto MT" panose="02040603050505030304" pitchFamily="18" charset="0"/>
            </a:endParaRPr>
          </a:p>
        </p:txBody>
      </p:sp>
    </p:spTree>
    <p:extLst>
      <p:ext uri="{BB962C8B-B14F-4D97-AF65-F5344CB8AC3E}">
        <p14:creationId xmlns:p14="http://schemas.microsoft.com/office/powerpoint/2010/main" val="243322539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5250082-7866-FBCC-2B95-8B677AE668F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1B6EE8F-1CA5-2852-886F-56F275797A3C}"/>
              </a:ext>
            </a:extLst>
          </p:cNvPr>
          <p:cNvSpPr>
            <a:spLocks noGrp="1"/>
          </p:cNvSpPr>
          <p:nvPr>
            <p:ph type="title"/>
          </p:nvPr>
        </p:nvSpPr>
        <p:spPr>
          <a:xfrm>
            <a:off x="202676" y="-51079"/>
            <a:ext cx="8738648" cy="747237"/>
          </a:xfrm>
        </p:spPr>
        <p:txBody>
          <a:bodyPr>
            <a:noAutofit/>
          </a:bodyPr>
          <a:lstStyle/>
          <a:p>
            <a:r>
              <a:rPr lang="en-US" sz="3000" b="1" dirty="0">
                <a:solidFill>
                  <a:schemeClr val="accent2">
                    <a:lumMod val="50000"/>
                  </a:schemeClr>
                </a:solidFill>
                <a:latin typeface="Calisto MT" panose="02040603050505030304" pitchFamily="18" charset="0"/>
              </a:rPr>
              <a:t>10.10 Study on Existing Technologies  </a:t>
            </a:r>
          </a:p>
        </p:txBody>
      </p:sp>
      <p:sp>
        <p:nvSpPr>
          <p:cNvPr id="3" name="Content Placeholder 2">
            <a:extLst>
              <a:ext uri="{FF2B5EF4-FFF2-40B4-BE49-F238E27FC236}">
                <a16:creationId xmlns:a16="http://schemas.microsoft.com/office/drawing/2014/main" id="{AA0AE0D6-9DFB-8A0B-B156-4543D9A99A0E}"/>
              </a:ext>
            </a:extLst>
          </p:cNvPr>
          <p:cNvSpPr>
            <a:spLocks noGrp="1"/>
          </p:cNvSpPr>
          <p:nvPr>
            <p:ph idx="1"/>
          </p:nvPr>
        </p:nvSpPr>
        <p:spPr>
          <a:xfrm>
            <a:off x="358218" y="584462"/>
            <a:ext cx="8314441" cy="6273538"/>
          </a:xfrm>
        </p:spPr>
        <p:txBody>
          <a:bodyPr numCol="1">
            <a:normAutofit fontScale="92500" lnSpcReduction="10000"/>
          </a:bodyPr>
          <a:lstStyle/>
          <a:p>
            <a:pPr marL="0" indent="0" algn="just">
              <a:buNone/>
            </a:pPr>
            <a:r>
              <a:rPr lang="en-US" sz="2300" b="1" dirty="0">
                <a:solidFill>
                  <a:schemeClr val="accent2">
                    <a:lumMod val="50000"/>
                  </a:schemeClr>
                </a:solidFill>
                <a:latin typeface="Calisto MT" panose="02040603050505030304" pitchFamily="18" charset="0"/>
              </a:rPr>
              <a:t>Title: </a:t>
            </a:r>
            <a:r>
              <a:rPr lang="en-IN" sz="2400" dirty="0"/>
              <a:t>Rethinking Plant Disease Diagnosis: Bridging the Academic-Practical Gap with Vision Transformers and Zero-Shot Learning</a:t>
            </a:r>
          </a:p>
          <a:p>
            <a:pPr marL="0" indent="0" algn="just">
              <a:buNone/>
            </a:pPr>
            <a:r>
              <a:rPr lang="en-US" sz="2300" b="1" dirty="0">
                <a:solidFill>
                  <a:schemeClr val="accent2">
                    <a:lumMod val="50000"/>
                  </a:schemeClr>
                </a:solidFill>
                <a:latin typeface="Calisto MT" panose="02040603050505030304" pitchFamily="18" charset="0"/>
              </a:rPr>
              <a:t>Journal Details: </a:t>
            </a:r>
            <a:r>
              <a:rPr lang="en-IN" sz="2400" dirty="0" err="1"/>
              <a:t>arXiv</a:t>
            </a:r>
            <a:r>
              <a:rPr lang="en-IN" sz="2400" dirty="0"/>
              <a:t> Preprint, arXiv:2511.18989, 2025.</a:t>
            </a:r>
          </a:p>
          <a:p>
            <a:pPr marL="0" indent="0" algn="just">
              <a:buNone/>
            </a:pPr>
            <a:r>
              <a:rPr lang="en-US" sz="2300" b="1" dirty="0">
                <a:solidFill>
                  <a:schemeClr val="accent2">
                    <a:lumMod val="50000"/>
                  </a:schemeClr>
                </a:solidFill>
                <a:latin typeface="Calisto MT" panose="02040603050505030304" pitchFamily="18" charset="0"/>
              </a:rPr>
              <a:t>Dataset: </a:t>
            </a:r>
            <a:r>
              <a:rPr lang="en-IN" sz="2400" dirty="0" err="1"/>
              <a:t>PlantVillage</a:t>
            </a:r>
            <a:r>
              <a:rPr lang="en-IN" sz="2400" dirty="0"/>
              <a:t> and field-oriented plant disease image data.</a:t>
            </a:r>
          </a:p>
          <a:p>
            <a:pPr marL="0" indent="0" algn="just">
              <a:buNone/>
            </a:pPr>
            <a:r>
              <a:rPr lang="en-US" sz="2300" b="1" dirty="0">
                <a:solidFill>
                  <a:schemeClr val="accent2">
                    <a:lumMod val="50000"/>
                  </a:schemeClr>
                </a:solidFill>
                <a:latin typeface="Calisto MT" panose="02040603050505030304" pitchFamily="18" charset="0"/>
              </a:rPr>
              <a:t>Description: </a:t>
            </a:r>
          </a:p>
          <a:p>
            <a:pPr marL="0" indent="0" algn="just">
              <a:buNone/>
            </a:pPr>
            <a:r>
              <a:rPr lang="en-IN" sz="2400" dirty="0"/>
              <a:t>Compares CNNs, Vision Transformers, and CLIP-style zero-shot models for plant disease diagnosis. It shows that high controlled-dataset accuracy may not transfer well to real field images.</a:t>
            </a:r>
          </a:p>
          <a:p>
            <a:pPr marL="0" indent="0" algn="just">
              <a:buNone/>
            </a:pPr>
            <a:r>
              <a:rPr lang="en-US" sz="2300" b="1" dirty="0">
                <a:solidFill>
                  <a:schemeClr val="accent2">
                    <a:lumMod val="50000"/>
                  </a:schemeClr>
                </a:solidFill>
                <a:latin typeface="Calisto MT" panose="02040603050505030304" pitchFamily="18" charset="0"/>
              </a:rPr>
              <a:t>Gaps Addressed:</a:t>
            </a:r>
          </a:p>
          <a:p>
            <a:pPr marL="457200" lvl="0" indent="-457200" algn="just">
              <a:buFont typeface="+mj-lt"/>
              <a:buAutoNum type="arabicPeriod"/>
            </a:pPr>
            <a:r>
              <a:rPr lang="en-IN" sz="2400" dirty="0"/>
              <a:t>Highlights the gap between academic datasets and real farm conditions.</a:t>
            </a:r>
          </a:p>
          <a:p>
            <a:pPr marL="457200" lvl="0" indent="-457200" algn="just">
              <a:buFont typeface="+mj-lt"/>
              <a:buAutoNum type="arabicPeriod"/>
            </a:pPr>
            <a:r>
              <a:rPr lang="en-IN" sz="2400" dirty="0"/>
              <a:t>Explores Vision Transformers and zero-shot learning for better generalization.</a:t>
            </a:r>
          </a:p>
          <a:p>
            <a:pPr marL="0" indent="0" algn="just">
              <a:lnSpc>
                <a:spcPct val="100000"/>
              </a:lnSpc>
              <a:buNone/>
            </a:pPr>
            <a:r>
              <a:rPr lang="en-US" sz="2300" b="1" dirty="0">
                <a:solidFill>
                  <a:schemeClr val="accent2">
                    <a:lumMod val="50000"/>
                  </a:schemeClr>
                </a:solidFill>
                <a:latin typeface="Calisto MT" panose="02040603050505030304" pitchFamily="18" charset="0"/>
              </a:rPr>
              <a:t>Limitations:</a:t>
            </a:r>
          </a:p>
          <a:p>
            <a:pPr marL="457200" lvl="0" indent="-457200" algn="just">
              <a:buFont typeface="+mj-lt"/>
              <a:buAutoNum type="arabicPeriod"/>
            </a:pPr>
            <a:r>
              <a:rPr lang="en-IN" sz="2400" dirty="0"/>
              <a:t>Does not use a diverse ensemble of CNN and Transformer models.</a:t>
            </a:r>
          </a:p>
          <a:p>
            <a:pPr marL="457200" lvl="0" indent="-457200" algn="just">
              <a:buFont typeface="+mj-lt"/>
              <a:buAutoNum type="arabicPeriod"/>
            </a:pPr>
            <a:r>
              <a:rPr lang="en-IN" sz="2400" dirty="0"/>
              <a:t>Does not implement conformal abstention for uncertain cases.</a:t>
            </a:r>
          </a:p>
          <a:p>
            <a:pPr marL="457200" lvl="0" indent="-457200" algn="just">
              <a:buFont typeface="+mj-lt"/>
              <a:buAutoNum type="arabicPeriod"/>
            </a:pPr>
            <a:r>
              <a:rPr lang="en-IN" sz="2400" dirty="0"/>
              <a:t>Does not include a retrieval-based agricultural evidence module.</a:t>
            </a:r>
          </a:p>
        </p:txBody>
      </p:sp>
      <p:sp>
        <p:nvSpPr>
          <p:cNvPr id="7" name="Slide Number Placeholder 6">
            <a:extLst>
              <a:ext uri="{FF2B5EF4-FFF2-40B4-BE49-F238E27FC236}">
                <a16:creationId xmlns:a16="http://schemas.microsoft.com/office/drawing/2014/main" id="{149050FD-7AEF-8351-ED8C-FCB0A90DEA5B}"/>
              </a:ext>
            </a:extLst>
          </p:cNvPr>
          <p:cNvSpPr>
            <a:spLocks noGrp="1"/>
          </p:cNvSpPr>
          <p:nvPr>
            <p:ph type="sldNum" sz="quarter" idx="12"/>
          </p:nvPr>
        </p:nvSpPr>
        <p:spPr/>
        <p:txBody>
          <a:bodyPr/>
          <a:lstStyle/>
          <a:p>
            <a:fld id="{D90542D4-23E8-43E0-BA8E-C972DA1A005D}" type="slidenum">
              <a:rPr lang="en-US" sz="1400" b="1" smtClean="0">
                <a:solidFill>
                  <a:schemeClr val="tx1"/>
                </a:solidFill>
                <a:latin typeface="Calisto MT" panose="02040603050505030304" pitchFamily="18" charset="0"/>
              </a:rPr>
              <a:pPr/>
              <a:t>22</a:t>
            </a:fld>
            <a:endParaRPr lang="en-US" sz="1400" b="1" dirty="0">
              <a:solidFill>
                <a:schemeClr val="tx1"/>
              </a:solidFill>
              <a:latin typeface="Calisto MT" panose="02040603050505030304" pitchFamily="18" charset="0"/>
            </a:endParaRPr>
          </a:p>
        </p:txBody>
      </p:sp>
    </p:spTree>
    <p:extLst>
      <p:ext uri="{BB962C8B-B14F-4D97-AF65-F5344CB8AC3E}">
        <p14:creationId xmlns:p14="http://schemas.microsoft.com/office/powerpoint/2010/main" val="309019060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44C8E80-4E8B-4FD1-1E43-54F2AD8A874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2BECE84-93E8-F695-E800-EC6B6E1E81B1}"/>
              </a:ext>
            </a:extLst>
          </p:cNvPr>
          <p:cNvSpPr>
            <a:spLocks noGrp="1"/>
          </p:cNvSpPr>
          <p:nvPr>
            <p:ph type="title"/>
          </p:nvPr>
        </p:nvSpPr>
        <p:spPr>
          <a:xfrm>
            <a:off x="202676" y="-51079"/>
            <a:ext cx="8738648" cy="747237"/>
          </a:xfrm>
        </p:spPr>
        <p:txBody>
          <a:bodyPr>
            <a:noAutofit/>
          </a:bodyPr>
          <a:lstStyle/>
          <a:p>
            <a:r>
              <a:rPr lang="en-US" sz="3000" b="1" dirty="0">
                <a:solidFill>
                  <a:schemeClr val="accent2">
                    <a:lumMod val="50000"/>
                  </a:schemeClr>
                </a:solidFill>
                <a:latin typeface="Calisto MT" panose="02040603050505030304" pitchFamily="18" charset="0"/>
              </a:rPr>
              <a:t>10.11 Study on Existing Technologies  </a:t>
            </a:r>
          </a:p>
        </p:txBody>
      </p:sp>
      <p:sp>
        <p:nvSpPr>
          <p:cNvPr id="3" name="Content Placeholder 2">
            <a:extLst>
              <a:ext uri="{FF2B5EF4-FFF2-40B4-BE49-F238E27FC236}">
                <a16:creationId xmlns:a16="http://schemas.microsoft.com/office/drawing/2014/main" id="{98743BBD-6EE9-3CE8-5710-4CA6FE43884D}"/>
              </a:ext>
            </a:extLst>
          </p:cNvPr>
          <p:cNvSpPr>
            <a:spLocks noGrp="1"/>
          </p:cNvSpPr>
          <p:nvPr>
            <p:ph idx="1"/>
          </p:nvPr>
        </p:nvSpPr>
        <p:spPr>
          <a:xfrm>
            <a:off x="358218" y="584462"/>
            <a:ext cx="8314441" cy="6273538"/>
          </a:xfrm>
        </p:spPr>
        <p:txBody>
          <a:bodyPr numCol="1">
            <a:normAutofit fontScale="92500" lnSpcReduction="20000"/>
          </a:bodyPr>
          <a:lstStyle/>
          <a:p>
            <a:pPr marL="0" indent="0" algn="just">
              <a:buNone/>
            </a:pPr>
            <a:r>
              <a:rPr lang="en-US" sz="2300" b="1" dirty="0">
                <a:solidFill>
                  <a:schemeClr val="accent2">
                    <a:lumMod val="50000"/>
                  </a:schemeClr>
                </a:solidFill>
                <a:latin typeface="Calisto MT" panose="02040603050505030304" pitchFamily="18" charset="0"/>
              </a:rPr>
              <a:t>Title: </a:t>
            </a:r>
            <a:r>
              <a:rPr lang="en-IN" sz="2400" dirty="0"/>
              <a:t>MRC-Net: A Reliable Plant Disease Classification Framework with Multi-Frequency State-Space Enhancement and Conformal Prediction</a:t>
            </a:r>
          </a:p>
          <a:p>
            <a:pPr marL="0" indent="0" algn="just">
              <a:buNone/>
            </a:pPr>
            <a:r>
              <a:rPr lang="en-US" sz="2300" b="1" dirty="0">
                <a:solidFill>
                  <a:schemeClr val="accent2">
                    <a:lumMod val="50000"/>
                  </a:schemeClr>
                </a:solidFill>
                <a:latin typeface="Calisto MT" panose="02040603050505030304" pitchFamily="18" charset="0"/>
              </a:rPr>
              <a:t>Journal Details: </a:t>
            </a:r>
            <a:r>
              <a:rPr lang="en-IN" sz="2400" i="1" dirty="0"/>
              <a:t>Frontiers in Plant Science</a:t>
            </a:r>
            <a:r>
              <a:rPr lang="en-IN" sz="2400" dirty="0"/>
              <a:t>, Vol. 17, Article 1895287, Frontiers Media SA, 2026. DOI: 10.3389/fpls.2026.1895287</a:t>
            </a:r>
          </a:p>
          <a:p>
            <a:pPr marL="0" indent="0" algn="just">
              <a:buNone/>
            </a:pPr>
            <a:r>
              <a:rPr lang="en-US" sz="2300" b="1" dirty="0">
                <a:solidFill>
                  <a:schemeClr val="accent2">
                    <a:lumMod val="50000"/>
                  </a:schemeClr>
                </a:solidFill>
                <a:latin typeface="Calisto MT" panose="02040603050505030304" pitchFamily="18" charset="0"/>
              </a:rPr>
              <a:t>Dataset: </a:t>
            </a:r>
            <a:r>
              <a:rPr lang="en-IN" sz="2400" dirty="0"/>
              <a:t>NGLD, </a:t>
            </a:r>
            <a:r>
              <a:rPr lang="en-IN" sz="2400" dirty="0" err="1"/>
              <a:t>PlantVillage</a:t>
            </a:r>
            <a:r>
              <a:rPr lang="en-IN" sz="2400" dirty="0"/>
              <a:t>, and </a:t>
            </a:r>
            <a:r>
              <a:rPr lang="en-IN" sz="2400" dirty="0" err="1"/>
              <a:t>PlantDoc</a:t>
            </a:r>
            <a:r>
              <a:rPr lang="en-IN" sz="2400" dirty="0"/>
              <a:t> datasets.</a:t>
            </a:r>
          </a:p>
          <a:p>
            <a:pPr marL="0" indent="0" algn="just">
              <a:buNone/>
            </a:pPr>
            <a:r>
              <a:rPr lang="en-US" sz="2300" b="1" dirty="0">
                <a:solidFill>
                  <a:schemeClr val="accent2">
                    <a:lumMod val="50000"/>
                  </a:schemeClr>
                </a:solidFill>
                <a:latin typeface="Calisto MT" panose="02040603050505030304" pitchFamily="18" charset="0"/>
              </a:rPr>
              <a:t>Description: </a:t>
            </a:r>
          </a:p>
          <a:p>
            <a:pPr marL="0" indent="0" algn="just">
              <a:buNone/>
            </a:pPr>
            <a:r>
              <a:rPr lang="en-IN" sz="2400" dirty="0"/>
              <a:t>Proposes MRC-Net using a Swin-Tiny Transformer, multi-frequency feature enhancement, and conformal prediction. It generates reliable prediction sets rather than only forced single-label predictions.</a:t>
            </a:r>
          </a:p>
          <a:p>
            <a:pPr marL="0" indent="0" algn="just">
              <a:buNone/>
            </a:pPr>
            <a:r>
              <a:rPr lang="en-US" sz="2300" b="1" dirty="0">
                <a:solidFill>
                  <a:schemeClr val="accent2">
                    <a:lumMod val="50000"/>
                  </a:schemeClr>
                </a:solidFill>
                <a:latin typeface="Calisto MT" panose="02040603050505030304" pitchFamily="18" charset="0"/>
              </a:rPr>
              <a:t>Gaps Addressed:</a:t>
            </a:r>
          </a:p>
          <a:p>
            <a:pPr marL="457200" lvl="0" indent="-457200" algn="just">
              <a:buFont typeface="+mj-lt"/>
              <a:buAutoNum type="arabicPeriod"/>
            </a:pPr>
            <a:r>
              <a:rPr lang="en-IN" sz="2400" dirty="0"/>
              <a:t>Introduces conformal prediction for reliable plant disease classification.</a:t>
            </a:r>
          </a:p>
          <a:p>
            <a:pPr marL="457200" lvl="0" indent="-457200" algn="just">
              <a:buFont typeface="+mj-lt"/>
              <a:buAutoNum type="arabicPeriod"/>
            </a:pPr>
            <a:r>
              <a:rPr lang="en-IN" sz="2400" dirty="0"/>
              <a:t>Uses multi-frequency features for global leaf appearance and local lesion details.</a:t>
            </a:r>
          </a:p>
          <a:p>
            <a:pPr marL="0" indent="0" algn="just">
              <a:lnSpc>
                <a:spcPct val="100000"/>
              </a:lnSpc>
              <a:buNone/>
            </a:pPr>
            <a:r>
              <a:rPr lang="en-US" sz="2300" b="1" dirty="0">
                <a:solidFill>
                  <a:schemeClr val="accent2">
                    <a:lumMod val="50000"/>
                  </a:schemeClr>
                </a:solidFill>
                <a:latin typeface="Calisto MT" panose="02040603050505030304" pitchFamily="18" charset="0"/>
              </a:rPr>
              <a:t>Limitations:</a:t>
            </a:r>
          </a:p>
          <a:p>
            <a:pPr marL="457200" lvl="0" indent="-457200" algn="just">
              <a:buFont typeface="+mj-lt"/>
              <a:buAutoNum type="arabicPeriod"/>
            </a:pPr>
            <a:r>
              <a:rPr lang="en-IN" sz="2400" dirty="0"/>
              <a:t>Uses one main Transformer model rather than a diverse deep ensemble.</a:t>
            </a:r>
          </a:p>
          <a:p>
            <a:pPr marL="457200" lvl="0" indent="-457200" algn="just">
              <a:buFont typeface="+mj-lt"/>
              <a:buAutoNum type="arabicPeriod"/>
            </a:pPr>
            <a:r>
              <a:rPr lang="en-IN" sz="2400" dirty="0"/>
              <a:t>Shows reduced field-style performance on </a:t>
            </a:r>
            <a:r>
              <a:rPr lang="en-IN" sz="2400" dirty="0" err="1"/>
              <a:t>PlantDoc</a:t>
            </a:r>
            <a:r>
              <a:rPr lang="en-IN" sz="2400" dirty="0"/>
              <a:t> images.</a:t>
            </a:r>
          </a:p>
          <a:p>
            <a:pPr marL="457200" lvl="0" indent="-457200" algn="just">
              <a:buFont typeface="+mj-lt"/>
              <a:buAutoNum type="arabicPeriod"/>
            </a:pPr>
            <a:r>
              <a:rPr lang="en-IN" sz="2400" dirty="0"/>
              <a:t>Does not provide agentic evidence retrieval after accepting a diagnosis.</a:t>
            </a:r>
          </a:p>
        </p:txBody>
      </p:sp>
      <p:sp>
        <p:nvSpPr>
          <p:cNvPr id="7" name="Slide Number Placeholder 6">
            <a:extLst>
              <a:ext uri="{FF2B5EF4-FFF2-40B4-BE49-F238E27FC236}">
                <a16:creationId xmlns:a16="http://schemas.microsoft.com/office/drawing/2014/main" id="{D40692B7-6245-31A9-772F-E301AFF6A416}"/>
              </a:ext>
            </a:extLst>
          </p:cNvPr>
          <p:cNvSpPr>
            <a:spLocks noGrp="1"/>
          </p:cNvSpPr>
          <p:nvPr>
            <p:ph type="sldNum" sz="quarter" idx="12"/>
          </p:nvPr>
        </p:nvSpPr>
        <p:spPr/>
        <p:txBody>
          <a:bodyPr/>
          <a:lstStyle/>
          <a:p>
            <a:fld id="{D90542D4-23E8-43E0-BA8E-C972DA1A005D}" type="slidenum">
              <a:rPr lang="en-US" sz="1400" b="1" smtClean="0">
                <a:solidFill>
                  <a:schemeClr val="tx1"/>
                </a:solidFill>
                <a:latin typeface="Calisto MT" panose="02040603050505030304" pitchFamily="18" charset="0"/>
              </a:rPr>
              <a:pPr/>
              <a:t>23</a:t>
            </a:fld>
            <a:endParaRPr lang="en-US" sz="1400" b="1" dirty="0">
              <a:solidFill>
                <a:schemeClr val="tx1"/>
              </a:solidFill>
              <a:latin typeface="Calisto MT" panose="02040603050505030304" pitchFamily="18" charset="0"/>
            </a:endParaRPr>
          </a:p>
        </p:txBody>
      </p:sp>
    </p:spTree>
    <p:extLst>
      <p:ext uri="{BB962C8B-B14F-4D97-AF65-F5344CB8AC3E}">
        <p14:creationId xmlns:p14="http://schemas.microsoft.com/office/powerpoint/2010/main" val="162898464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FB23ED7-7471-0D0A-8FA6-CA33DBC07C6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65B31E6-C7DF-9409-D835-BF1ECD863C3B}"/>
              </a:ext>
            </a:extLst>
          </p:cNvPr>
          <p:cNvSpPr>
            <a:spLocks noGrp="1"/>
          </p:cNvSpPr>
          <p:nvPr>
            <p:ph type="title"/>
          </p:nvPr>
        </p:nvSpPr>
        <p:spPr>
          <a:xfrm>
            <a:off x="202676" y="-51079"/>
            <a:ext cx="8738648" cy="747237"/>
          </a:xfrm>
        </p:spPr>
        <p:txBody>
          <a:bodyPr>
            <a:noAutofit/>
          </a:bodyPr>
          <a:lstStyle/>
          <a:p>
            <a:r>
              <a:rPr lang="en-US" sz="3000" b="1" dirty="0">
                <a:solidFill>
                  <a:schemeClr val="accent2">
                    <a:lumMod val="50000"/>
                  </a:schemeClr>
                </a:solidFill>
                <a:latin typeface="Calisto MT" panose="02040603050505030304" pitchFamily="18" charset="0"/>
              </a:rPr>
              <a:t>10.12 Study on Existing Technologies  </a:t>
            </a:r>
          </a:p>
        </p:txBody>
      </p:sp>
      <p:sp>
        <p:nvSpPr>
          <p:cNvPr id="3" name="Content Placeholder 2">
            <a:extLst>
              <a:ext uri="{FF2B5EF4-FFF2-40B4-BE49-F238E27FC236}">
                <a16:creationId xmlns:a16="http://schemas.microsoft.com/office/drawing/2014/main" id="{ED724BF4-A28F-035F-7888-3341E901E3CB}"/>
              </a:ext>
            </a:extLst>
          </p:cNvPr>
          <p:cNvSpPr>
            <a:spLocks noGrp="1"/>
          </p:cNvSpPr>
          <p:nvPr>
            <p:ph idx="1"/>
          </p:nvPr>
        </p:nvSpPr>
        <p:spPr>
          <a:xfrm>
            <a:off x="358218" y="584462"/>
            <a:ext cx="8314441" cy="6273538"/>
          </a:xfrm>
        </p:spPr>
        <p:txBody>
          <a:bodyPr numCol="1">
            <a:normAutofit fontScale="85000" lnSpcReduction="10000"/>
          </a:bodyPr>
          <a:lstStyle/>
          <a:p>
            <a:pPr marL="0" indent="0" algn="just">
              <a:buNone/>
            </a:pPr>
            <a:r>
              <a:rPr lang="en-US" sz="2300" b="1" dirty="0">
                <a:solidFill>
                  <a:schemeClr val="accent2">
                    <a:lumMod val="50000"/>
                  </a:schemeClr>
                </a:solidFill>
                <a:latin typeface="Calisto MT" panose="02040603050505030304" pitchFamily="18" charset="0"/>
              </a:rPr>
              <a:t>Title: </a:t>
            </a:r>
            <a:r>
              <a:rPr lang="en-IN" sz="2400" dirty="0"/>
              <a:t>Enhancing Anomaly Detection in Plant Disease Recognition with Knowledge Ensemble</a:t>
            </a:r>
          </a:p>
          <a:p>
            <a:pPr marL="0" indent="0" algn="just">
              <a:buNone/>
            </a:pPr>
            <a:r>
              <a:rPr lang="en-US" sz="2300" b="1" dirty="0">
                <a:solidFill>
                  <a:schemeClr val="accent2">
                    <a:lumMod val="50000"/>
                  </a:schemeClr>
                </a:solidFill>
                <a:latin typeface="Calisto MT" panose="02040603050505030304" pitchFamily="18" charset="0"/>
              </a:rPr>
              <a:t>Journal Details: </a:t>
            </a:r>
            <a:r>
              <a:rPr lang="en-IN" sz="2400" i="1" dirty="0"/>
              <a:t>Frontiers in Plant Science</a:t>
            </a:r>
            <a:r>
              <a:rPr lang="en-IN" sz="2400" dirty="0"/>
              <a:t>, Vol. 16, Frontiers Media SA, 2025. DOI: 10.3389/fpls.2025.1623907</a:t>
            </a:r>
          </a:p>
          <a:p>
            <a:pPr marL="0" indent="0" algn="just">
              <a:buNone/>
            </a:pPr>
            <a:r>
              <a:rPr lang="en-US" sz="2300" b="1" dirty="0">
                <a:solidFill>
                  <a:schemeClr val="accent2">
                    <a:lumMod val="50000"/>
                  </a:schemeClr>
                </a:solidFill>
                <a:latin typeface="Calisto MT" panose="02040603050505030304" pitchFamily="18" charset="0"/>
              </a:rPr>
              <a:t>Dataset: </a:t>
            </a:r>
            <a:r>
              <a:rPr lang="en-IN" sz="2400" dirty="0"/>
              <a:t>Plant disease datasets with known disease classes and unknown or anomalous test images.</a:t>
            </a:r>
          </a:p>
          <a:p>
            <a:pPr marL="0" indent="0" algn="just">
              <a:buNone/>
            </a:pPr>
            <a:r>
              <a:rPr lang="en-US" sz="2300" b="1" dirty="0">
                <a:solidFill>
                  <a:schemeClr val="accent2">
                    <a:lumMod val="50000"/>
                  </a:schemeClr>
                </a:solidFill>
                <a:latin typeface="Calisto MT" panose="02040603050505030304" pitchFamily="18" charset="0"/>
              </a:rPr>
              <a:t>Description: </a:t>
            </a:r>
          </a:p>
          <a:p>
            <a:pPr marL="0" indent="0" algn="just">
              <a:buNone/>
            </a:pPr>
            <a:r>
              <a:rPr lang="en-IN" sz="2400" dirty="0"/>
              <a:t>Presents a knowledge-ensemble method for detecting anomalous plant disease images. It combines prediction confidence, domain-specific knowledge, and general visual knowledge to separate known diseases from unfamiliar inputs.</a:t>
            </a:r>
          </a:p>
          <a:p>
            <a:pPr marL="0" indent="0" algn="just">
              <a:buNone/>
            </a:pPr>
            <a:r>
              <a:rPr lang="en-US" sz="2300" b="1" dirty="0">
                <a:solidFill>
                  <a:schemeClr val="accent2">
                    <a:lumMod val="50000"/>
                  </a:schemeClr>
                </a:solidFill>
                <a:latin typeface="Calisto MT" panose="02040603050505030304" pitchFamily="18" charset="0"/>
              </a:rPr>
              <a:t>Gaps Addressed:</a:t>
            </a:r>
          </a:p>
          <a:p>
            <a:pPr marL="457200" lvl="0" indent="-457200">
              <a:buFont typeface="+mj-lt"/>
              <a:buAutoNum type="arabicPeriod"/>
            </a:pPr>
            <a:r>
              <a:rPr lang="en-IN" sz="2400" dirty="0"/>
              <a:t>Addresses unknown disease and out-of-distribution image detection.</a:t>
            </a:r>
          </a:p>
          <a:p>
            <a:pPr marL="457200" lvl="0" indent="-457200">
              <a:buFont typeface="+mj-lt"/>
              <a:buAutoNum type="arabicPeriod"/>
            </a:pPr>
            <a:r>
              <a:rPr lang="en-IN" sz="2400" dirty="0"/>
              <a:t>Reduces unsafe classification of non-leaf, unfamiliar, or abnormal images.</a:t>
            </a:r>
          </a:p>
          <a:p>
            <a:pPr marL="0" indent="0" algn="just">
              <a:lnSpc>
                <a:spcPct val="100000"/>
              </a:lnSpc>
              <a:buNone/>
            </a:pPr>
            <a:r>
              <a:rPr lang="en-US" sz="2300" b="1" dirty="0">
                <a:solidFill>
                  <a:schemeClr val="accent2">
                    <a:lumMod val="50000"/>
                  </a:schemeClr>
                </a:solidFill>
                <a:latin typeface="Calisto MT" panose="02040603050505030304" pitchFamily="18" charset="0"/>
              </a:rPr>
              <a:t>Limitations:</a:t>
            </a:r>
          </a:p>
          <a:p>
            <a:pPr marL="457200" lvl="0" indent="-457200">
              <a:buFont typeface="+mj-lt"/>
              <a:buAutoNum type="arabicPeriod"/>
            </a:pPr>
            <a:r>
              <a:rPr lang="en-IN" sz="2400" dirty="0"/>
              <a:t>Focuses mainly on anomaly detection rather than final disease diagnosis.</a:t>
            </a:r>
          </a:p>
          <a:p>
            <a:pPr marL="457200" lvl="0" indent="-457200">
              <a:buFont typeface="+mj-lt"/>
              <a:buAutoNum type="arabicPeriod"/>
            </a:pPr>
            <a:r>
              <a:rPr lang="en-IN" sz="2400" dirty="0"/>
              <a:t>Does not combine deep-model disagreement with conformal prediction.</a:t>
            </a:r>
          </a:p>
          <a:p>
            <a:pPr marL="457200" lvl="0" indent="-457200">
              <a:buFont typeface="+mj-lt"/>
              <a:buAutoNum type="arabicPeriod"/>
            </a:pPr>
            <a:r>
              <a:rPr lang="en-IN" sz="2400" dirty="0"/>
              <a:t>Does not provide evidence-grounded agricultural explanations.</a:t>
            </a:r>
          </a:p>
        </p:txBody>
      </p:sp>
      <p:sp>
        <p:nvSpPr>
          <p:cNvPr id="7" name="Slide Number Placeholder 6">
            <a:extLst>
              <a:ext uri="{FF2B5EF4-FFF2-40B4-BE49-F238E27FC236}">
                <a16:creationId xmlns:a16="http://schemas.microsoft.com/office/drawing/2014/main" id="{7BFA28AF-B9C6-843A-8AED-F2AFC0BB94D1}"/>
              </a:ext>
            </a:extLst>
          </p:cNvPr>
          <p:cNvSpPr>
            <a:spLocks noGrp="1"/>
          </p:cNvSpPr>
          <p:nvPr>
            <p:ph type="sldNum" sz="quarter" idx="12"/>
          </p:nvPr>
        </p:nvSpPr>
        <p:spPr/>
        <p:txBody>
          <a:bodyPr/>
          <a:lstStyle/>
          <a:p>
            <a:fld id="{D90542D4-23E8-43E0-BA8E-C972DA1A005D}" type="slidenum">
              <a:rPr lang="en-US" sz="1400" b="1" smtClean="0">
                <a:solidFill>
                  <a:schemeClr val="tx1"/>
                </a:solidFill>
                <a:latin typeface="Calisto MT" panose="02040603050505030304" pitchFamily="18" charset="0"/>
              </a:rPr>
              <a:pPr/>
              <a:t>24</a:t>
            </a:fld>
            <a:endParaRPr lang="en-US" sz="1400" b="1" dirty="0">
              <a:solidFill>
                <a:schemeClr val="tx1"/>
              </a:solidFill>
              <a:latin typeface="Calisto MT" panose="02040603050505030304" pitchFamily="18" charset="0"/>
            </a:endParaRPr>
          </a:p>
        </p:txBody>
      </p:sp>
    </p:spTree>
    <p:extLst>
      <p:ext uri="{BB962C8B-B14F-4D97-AF65-F5344CB8AC3E}">
        <p14:creationId xmlns:p14="http://schemas.microsoft.com/office/powerpoint/2010/main" val="385113344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txBox="1"/>
          <p:nvPr/>
        </p:nvSpPr>
        <p:spPr>
          <a:xfrm>
            <a:off x="292608" y="109728"/>
            <a:ext cx="8503920" cy="502920"/>
          </a:xfrm>
          <a:prstGeom prst="rect">
            <a:avLst/>
          </a:prstGeom>
          <a:noFill/>
          <a:ln/>
        </p:spPr>
        <p:txBody>
          <a:bodyPr wrap="square" lIns="0" tIns="0" rIns="0" bIns="0" rtlCol="0" anchor="ctr"/>
          <a:lstStyle/>
          <a:p>
            <a:pPr marL="0" indent="0">
              <a:buNone/>
            </a:pPr>
            <a:r>
              <a:rPr lang="en-US" sz="3000" b="1" dirty="0">
                <a:solidFill>
                  <a:srgbClr val="8B4513"/>
                </a:solidFill>
                <a:latin typeface="Times New Roman" pitchFamily="34" charset="0"/>
                <a:ea typeface="Times New Roman" pitchFamily="34" charset="-122"/>
                <a:cs typeface="Times New Roman" pitchFamily="34" charset="-120"/>
              </a:rPr>
              <a:t>10. Study on Existing Technologies — I</a:t>
            </a:r>
            <a:endParaRPr lang="en-US" sz="3000" dirty="0"/>
          </a:p>
        </p:txBody>
      </p:sp>
      <p:sp>
        <p:nvSpPr>
          <p:cNvPr id="3" name="Text 1"/>
          <p:cNvSpPr txBox="1"/>
          <p:nvPr/>
        </p:nvSpPr>
        <p:spPr>
          <a:xfrm>
            <a:off x="292608" y="621792"/>
            <a:ext cx="8558784" cy="365760"/>
          </a:xfrm>
          <a:prstGeom prst="rect">
            <a:avLst/>
          </a:prstGeom>
          <a:noFill/>
          <a:ln/>
        </p:spPr>
        <p:txBody>
          <a:bodyPr wrap="square" lIns="0" tIns="0" rIns="0" bIns="0" rtlCol="0" anchor="ctr"/>
          <a:lstStyle/>
          <a:p>
            <a:pPr marL="0" indent="0" algn="ctr">
              <a:buNone/>
            </a:pPr>
            <a:r>
              <a:rPr lang="en-US" sz="1800" dirty="0">
                <a:solidFill>
                  <a:srgbClr val="000000"/>
                </a:solidFill>
                <a:latin typeface="Times New Roman" pitchFamily="34" charset="0"/>
                <a:ea typeface="Times New Roman" pitchFamily="34" charset="-122"/>
                <a:cs typeface="Times New Roman" pitchFamily="34" charset="-120"/>
              </a:rPr>
              <a:t>Table no. 1: Summary of existing implementations</a:t>
            </a:r>
            <a:endParaRPr lang="en-US" sz="1800" dirty="0"/>
          </a:p>
        </p:txBody>
      </p:sp>
      <p:graphicFrame>
        <p:nvGraphicFramePr>
          <p:cNvPr id="4" name="Table 0"/>
          <p:cNvGraphicFramePr>
            <a:graphicFrameLocks noGrp="1"/>
          </p:cNvGraphicFramePr>
          <p:nvPr/>
        </p:nvGraphicFramePr>
        <p:xfrm>
          <a:off x="292608" y="1069848"/>
          <a:ext cx="8558784" cy="5184648"/>
        </p:xfrm>
        <a:graphic>
          <a:graphicData uri="http://schemas.openxmlformats.org/drawingml/2006/table">
            <a:tbl>
              <a:tblPr/>
              <a:tblGrid>
                <a:gridCol w="548640">
                  <a:extLst>
                    <a:ext uri="{9D8B030D-6E8A-4147-A177-3AD203B41FA5}">
                      <a16:colId xmlns:a16="http://schemas.microsoft.com/office/drawing/2014/main" val="20000"/>
                    </a:ext>
                  </a:extLst>
                </a:gridCol>
                <a:gridCol w="1371600">
                  <a:extLst>
                    <a:ext uri="{9D8B030D-6E8A-4147-A177-3AD203B41FA5}">
                      <a16:colId xmlns:a16="http://schemas.microsoft.com/office/drawing/2014/main" val="20001"/>
                    </a:ext>
                  </a:extLst>
                </a:gridCol>
                <a:gridCol w="1371600">
                  <a:extLst>
                    <a:ext uri="{9D8B030D-6E8A-4147-A177-3AD203B41FA5}">
                      <a16:colId xmlns:a16="http://schemas.microsoft.com/office/drawing/2014/main" val="20002"/>
                    </a:ext>
                  </a:extLst>
                </a:gridCol>
                <a:gridCol w="1325880">
                  <a:extLst>
                    <a:ext uri="{9D8B030D-6E8A-4147-A177-3AD203B41FA5}">
                      <a16:colId xmlns:a16="http://schemas.microsoft.com/office/drawing/2014/main" val="20003"/>
                    </a:ext>
                  </a:extLst>
                </a:gridCol>
                <a:gridCol w="1097280">
                  <a:extLst>
                    <a:ext uri="{9D8B030D-6E8A-4147-A177-3AD203B41FA5}">
                      <a16:colId xmlns:a16="http://schemas.microsoft.com/office/drawing/2014/main" val="20004"/>
                    </a:ext>
                  </a:extLst>
                </a:gridCol>
                <a:gridCol w="1463040">
                  <a:extLst>
                    <a:ext uri="{9D8B030D-6E8A-4147-A177-3AD203B41FA5}">
                      <a16:colId xmlns:a16="http://schemas.microsoft.com/office/drawing/2014/main" val="20005"/>
                    </a:ext>
                  </a:extLst>
                </a:gridCol>
                <a:gridCol w="1380744">
                  <a:extLst>
                    <a:ext uri="{9D8B030D-6E8A-4147-A177-3AD203B41FA5}">
                      <a16:colId xmlns:a16="http://schemas.microsoft.com/office/drawing/2014/main" val="20006"/>
                    </a:ext>
                  </a:extLst>
                </a:gridCol>
              </a:tblGrid>
              <a:tr h="438912">
                <a:tc>
                  <a:txBody>
                    <a:bodyPr/>
                    <a:lstStyle/>
                    <a:p>
                      <a:pPr marL="0" indent="0" algn="ctr">
                        <a:buNone/>
                      </a:pPr>
                      <a:r>
                        <a:rPr lang="en-US" sz="1200" b="1" dirty="0">
                          <a:solidFill>
                            <a:srgbClr val="1A1A1A"/>
                          </a:solidFill>
                          <a:latin typeface="Times New Roman" pitchFamily="34" charset="0"/>
                          <a:ea typeface="Times New Roman" pitchFamily="34" charset="-122"/>
                          <a:cs typeface="Times New Roman" pitchFamily="34" charset="-120"/>
                        </a:rPr>
                        <a:t>S. No.</a:t>
                      </a:r>
                      <a:endParaRPr lang="en-US" sz="1200" dirty="0">
                        <a:latin typeface="Times New Roman" charset="0"/>
                        <a:ea typeface="Times New Roman" charset="0"/>
                        <a:cs typeface="Times New Roman" charset="0"/>
                      </a:endParaRPr>
                    </a:p>
                  </a:txBody>
                  <a:tcPr marL="45720" marR="45720" marT="36576" marB="36576"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9E2F3"/>
                    </a:solidFill>
                  </a:tcPr>
                </a:tc>
                <a:tc>
                  <a:txBody>
                    <a:bodyPr/>
                    <a:lstStyle/>
                    <a:p>
                      <a:pPr marL="0" indent="0" algn="ctr">
                        <a:buNone/>
                      </a:pPr>
                      <a:r>
                        <a:rPr lang="en-US" sz="1200" b="1" dirty="0">
                          <a:solidFill>
                            <a:srgbClr val="1A1A1A"/>
                          </a:solidFill>
                          <a:latin typeface="Times New Roman" pitchFamily="34" charset="0"/>
                          <a:ea typeface="Times New Roman" pitchFamily="34" charset="-122"/>
                          <a:cs typeface="Times New Roman" pitchFamily="34" charset="-120"/>
                        </a:rPr>
                        <a:t>Article Title</a:t>
                      </a:r>
                      <a:endParaRPr lang="en-US" sz="1200" dirty="0">
                        <a:latin typeface="Times New Roman" charset="0"/>
                        <a:ea typeface="Times New Roman" charset="0"/>
                        <a:cs typeface="Times New Roman" charset="0"/>
                      </a:endParaRPr>
                    </a:p>
                  </a:txBody>
                  <a:tcPr marL="45720" marR="45720" marT="36576" marB="36576"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9E2F3"/>
                    </a:solidFill>
                  </a:tcPr>
                </a:tc>
                <a:tc>
                  <a:txBody>
                    <a:bodyPr/>
                    <a:lstStyle/>
                    <a:p>
                      <a:pPr marL="0" indent="0" algn="ctr">
                        <a:buNone/>
                      </a:pPr>
                      <a:r>
                        <a:rPr lang="en-US" sz="1200" b="1" dirty="0">
                          <a:solidFill>
                            <a:srgbClr val="1A1A1A"/>
                          </a:solidFill>
                          <a:latin typeface="Times New Roman" pitchFamily="34" charset="0"/>
                          <a:ea typeface="Times New Roman" pitchFamily="34" charset="-122"/>
                          <a:cs typeface="Times New Roman" pitchFamily="34" charset="-120"/>
                        </a:rPr>
                        <a:t>Journal Details</a:t>
                      </a:r>
                      <a:endParaRPr lang="en-US" sz="1200" dirty="0">
                        <a:latin typeface="Times New Roman" charset="0"/>
                        <a:ea typeface="Times New Roman" charset="0"/>
                        <a:cs typeface="Times New Roman" charset="0"/>
                      </a:endParaRPr>
                    </a:p>
                  </a:txBody>
                  <a:tcPr marL="45720" marR="45720" marT="36576" marB="36576"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9E2F3"/>
                    </a:solidFill>
                  </a:tcPr>
                </a:tc>
                <a:tc>
                  <a:txBody>
                    <a:bodyPr/>
                    <a:lstStyle/>
                    <a:p>
                      <a:pPr marL="0" indent="0" algn="ctr">
                        <a:buNone/>
                      </a:pPr>
                      <a:r>
                        <a:rPr lang="en-US" sz="1200" b="1" dirty="0">
                          <a:solidFill>
                            <a:srgbClr val="1A1A1A"/>
                          </a:solidFill>
                          <a:latin typeface="Times New Roman" pitchFamily="34" charset="0"/>
                          <a:ea typeface="Times New Roman" pitchFamily="34" charset="-122"/>
                          <a:cs typeface="Times New Roman" pitchFamily="34" charset="-120"/>
                        </a:rPr>
                        <a:t>Algorithms / Models</a:t>
                      </a:r>
                      <a:endParaRPr lang="en-US" sz="1200" dirty="0">
                        <a:latin typeface="Times New Roman" charset="0"/>
                        <a:ea typeface="Times New Roman" charset="0"/>
                        <a:cs typeface="Times New Roman" charset="0"/>
                      </a:endParaRPr>
                    </a:p>
                  </a:txBody>
                  <a:tcPr marL="45720" marR="45720" marT="36576" marB="36576"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9E2F3"/>
                    </a:solidFill>
                  </a:tcPr>
                </a:tc>
                <a:tc>
                  <a:txBody>
                    <a:bodyPr/>
                    <a:lstStyle/>
                    <a:p>
                      <a:pPr marL="0" indent="0" algn="ctr">
                        <a:buNone/>
                      </a:pPr>
                      <a:r>
                        <a:rPr lang="en-US" sz="1200" b="1" dirty="0">
                          <a:solidFill>
                            <a:srgbClr val="1A1A1A"/>
                          </a:solidFill>
                          <a:latin typeface="Times New Roman" pitchFamily="34" charset="0"/>
                          <a:ea typeface="Times New Roman" pitchFamily="34" charset="-122"/>
                          <a:cs typeface="Times New Roman" pitchFamily="34" charset="-120"/>
                        </a:rPr>
                        <a:t>Datasets</a:t>
                      </a:r>
                      <a:endParaRPr lang="en-US" sz="1200" dirty="0">
                        <a:latin typeface="Times New Roman" charset="0"/>
                        <a:ea typeface="Times New Roman" charset="0"/>
                        <a:cs typeface="Times New Roman" charset="0"/>
                      </a:endParaRPr>
                    </a:p>
                  </a:txBody>
                  <a:tcPr marL="45720" marR="45720" marT="36576" marB="36576"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9E2F3"/>
                    </a:solidFill>
                  </a:tcPr>
                </a:tc>
                <a:tc>
                  <a:txBody>
                    <a:bodyPr/>
                    <a:lstStyle/>
                    <a:p>
                      <a:pPr marL="0" indent="0" algn="ctr">
                        <a:buNone/>
                      </a:pPr>
                      <a:r>
                        <a:rPr lang="en-US" sz="1200" b="1" dirty="0">
                          <a:solidFill>
                            <a:srgbClr val="1A1A1A"/>
                          </a:solidFill>
                          <a:latin typeface="Times New Roman" pitchFamily="34" charset="0"/>
                          <a:ea typeface="Times New Roman" pitchFamily="34" charset="-122"/>
                          <a:cs typeface="Times New Roman" pitchFamily="34" charset="-120"/>
                        </a:rPr>
                        <a:t>Gaps Addressed</a:t>
                      </a:r>
                      <a:endParaRPr lang="en-US" sz="1200" dirty="0">
                        <a:latin typeface="Times New Roman" charset="0"/>
                        <a:ea typeface="Times New Roman" charset="0"/>
                        <a:cs typeface="Times New Roman" charset="0"/>
                      </a:endParaRPr>
                    </a:p>
                  </a:txBody>
                  <a:tcPr marL="45720" marR="45720" marT="36576" marB="36576"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9E2F3"/>
                    </a:solidFill>
                  </a:tcPr>
                </a:tc>
                <a:tc>
                  <a:txBody>
                    <a:bodyPr/>
                    <a:lstStyle/>
                    <a:p>
                      <a:pPr marL="0" indent="0" algn="ctr">
                        <a:buNone/>
                      </a:pPr>
                      <a:r>
                        <a:rPr lang="en-US" sz="1200" b="1" dirty="0">
                          <a:solidFill>
                            <a:srgbClr val="1A1A1A"/>
                          </a:solidFill>
                          <a:latin typeface="Times New Roman" pitchFamily="34" charset="0"/>
                          <a:ea typeface="Times New Roman" pitchFamily="34" charset="-122"/>
                          <a:cs typeface="Times New Roman" pitchFamily="34" charset="-120"/>
                        </a:rPr>
                        <a:t>Limitations</a:t>
                      </a:r>
                      <a:endParaRPr lang="en-US" sz="1200" dirty="0">
                        <a:latin typeface="Times New Roman" charset="0"/>
                        <a:ea typeface="Times New Roman" charset="0"/>
                        <a:cs typeface="Times New Roman" charset="0"/>
                      </a:endParaRPr>
                    </a:p>
                  </a:txBody>
                  <a:tcPr marL="45720" marR="45720" marT="36576" marB="36576"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9E2F3"/>
                    </a:solidFill>
                  </a:tcPr>
                </a:tc>
                <a:extLst>
                  <a:ext uri="{0D108BD9-81ED-4DB2-BD59-A6C34878D82A}">
                    <a16:rowId xmlns:a16="http://schemas.microsoft.com/office/drawing/2014/main" val="10000"/>
                  </a:ext>
                </a:extLst>
              </a:tr>
              <a:tr h="1581912">
                <a:tc>
                  <a:txBody>
                    <a:bodyPr/>
                    <a:lstStyle/>
                    <a:p>
                      <a:pPr marL="0" indent="0" algn="ctr">
                        <a:buNone/>
                      </a:pPr>
                      <a:r>
                        <a:rPr lang="en-US" sz="1200" dirty="0">
                          <a:solidFill>
                            <a:srgbClr val="000000"/>
                          </a:solidFill>
                          <a:latin typeface="Times New Roman" pitchFamily="34" charset="0"/>
                          <a:ea typeface="Times New Roman" pitchFamily="34" charset="-122"/>
                          <a:cs typeface="Times New Roman" pitchFamily="34" charset="-120"/>
                        </a:rPr>
                        <a:t>1</a:t>
                      </a:r>
                      <a:endParaRPr lang="en-US" sz="1200" dirty="0">
                        <a:latin typeface="Times New Roman" charset="0"/>
                        <a:ea typeface="Times New Roman" charset="0"/>
                        <a:cs typeface="Times New Roman" charset="0"/>
                      </a:endParaRPr>
                    </a:p>
                  </a:txBody>
                  <a:tcPr marL="64008" marR="64008"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indent="0" algn="l">
                        <a:buNone/>
                      </a:pPr>
                      <a:r>
                        <a:rPr lang="en-US" sz="1000" dirty="0">
                          <a:solidFill>
                            <a:srgbClr val="000000"/>
                          </a:solidFill>
                          <a:latin typeface="Times New Roman" pitchFamily="34" charset="0"/>
                          <a:ea typeface="Times New Roman" pitchFamily="34" charset="-122"/>
                          <a:cs typeface="Times New Roman" pitchFamily="34" charset="-120"/>
                        </a:rPr>
                        <a:t>Machine Learning and Deep Learning for Plant Disease Detection: A Review of Techniques and Trends</a:t>
                      </a:r>
                      <a:endParaRPr lang="en-US" sz="1000" dirty="0">
                        <a:latin typeface="Times New Roman" charset="0"/>
                        <a:ea typeface="Times New Roman" charset="0"/>
                        <a:cs typeface="Times New Roman" charset="0"/>
                      </a:endParaRPr>
                    </a:p>
                  </a:txBody>
                  <a:tcPr marL="64008" marR="64008"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indent="0" algn="l">
                        <a:buNone/>
                      </a:pPr>
                      <a:r>
                        <a:rPr lang="en-US" sz="1000" dirty="0">
                          <a:solidFill>
                            <a:srgbClr val="000000"/>
                          </a:solidFill>
                          <a:latin typeface="Times New Roman" pitchFamily="34" charset="0"/>
                          <a:ea typeface="Times New Roman" pitchFamily="34" charset="-122"/>
                          <a:cs typeface="Times New Roman" pitchFamily="34" charset="-120"/>
                        </a:rPr>
                        <a:t>International Journal of Science and Innovation, 2025</a:t>
                      </a:r>
                      <a:endParaRPr lang="en-US" sz="1000" dirty="0">
                        <a:latin typeface="Times New Roman" charset="0"/>
                        <a:ea typeface="Times New Roman" charset="0"/>
                        <a:cs typeface="Times New Roman" charset="0"/>
                      </a:endParaRPr>
                    </a:p>
                  </a:txBody>
                  <a:tcPr marL="64008" marR="64008"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indent="0" algn="l">
                        <a:buNone/>
                      </a:pPr>
                      <a:r>
                        <a:rPr lang="en-US" sz="1000" dirty="0">
                          <a:solidFill>
                            <a:srgbClr val="000000"/>
                          </a:solidFill>
                          <a:latin typeface="Times New Roman" pitchFamily="34" charset="0"/>
                          <a:ea typeface="Times New Roman" pitchFamily="34" charset="-122"/>
                          <a:cs typeface="Times New Roman" pitchFamily="34" charset="-120"/>
                        </a:rPr>
                        <a:t>SVM, Random Forest, CNN, ResNet, MobileNet, EfficientNet, YOLO</a:t>
                      </a:r>
                      <a:endParaRPr lang="en-US" sz="1000" dirty="0">
                        <a:latin typeface="Times New Roman" charset="0"/>
                        <a:ea typeface="Times New Roman" charset="0"/>
                        <a:cs typeface="Times New Roman" charset="0"/>
                      </a:endParaRPr>
                    </a:p>
                  </a:txBody>
                  <a:tcPr marL="64008" marR="64008"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indent="0" algn="l">
                        <a:buNone/>
                      </a:pPr>
                      <a:r>
                        <a:rPr lang="en-US" sz="1000" dirty="0">
                          <a:solidFill>
                            <a:srgbClr val="000000"/>
                          </a:solidFill>
                          <a:latin typeface="Times New Roman" pitchFamily="34" charset="0"/>
                          <a:ea typeface="Times New Roman" pitchFamily="34" charset="-122"/>
                          <a:cs typeface="Times New Roman" pitchFamily="34" charset="-120"/>
                        </a:rPr>
                        <a:t>PlantVillage, PlantDoc, custom datasets</a:t>
                      </a:r>
                      <a:endParaRPr lang="en-US" sz="1000" dirty="0">
                        <a:latin typeface="Times New Roman" charset="0"/>
                        <a:ea typeface="Times New Roman" charset="0"/>
                        <a:cs typeface="Times New Roman" charset="0"/>
                      </a:endParaRPr>
                    </a:p>
                  </a:txBody>
                  <a:tcPr marL="64008" marR="64008"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indent="0" algn="l">
                        <a:spcAft>
                          <a:spcPts val="200"/>
                        </a:spcAft>
                        <a:buNone/>
                      </a:pPr>
                      <a:r>
                        <a:rPr lang="en-US" sz="1000" dirty="0">
                          <a:solidFill>
                            <a:srgbClr val="000000"/>
                          </a:solidFill>
                          <a:latin typeface="Times New Roman" pitchFamily="34" charset="0"/>
                          <a:ea typeface="Times New Roman" pitchFamily="34" charset="-122"/>
                          <a:cs typeface="Times New Roman" pitchFamily="34" charset="-120"/>
                        </a:rPr>
                        <a:t>1. Reviews ML/DL approaches for plant disease detection.</a:t>
                      </a:r>
                      <a:endParaRPr lang="en-US" sz="1000" dirty="0">
                        <a:latin typeface="Times New Roman" charset="0"/>
                        <a:ea typeface="Times New Roman" charset="0"/>
                        <a:cs typeface="Times New Roman" charset="0"/>
                      </a:endParaRPr>
                    </a:p>
                    <a:p>
                      <a:pPr marL="0" indent="0" algn="l">
                        <a:spcAft>
                          <a:spcPts val="200"/>
                        </a:spcAft>
                        <a:buNone/>
                      </a:pPr>
                      <a:r>
                        <a:rPr lang="en-US" sz="1000" dirty="0">
                          <a:solidFill>
                            <a:srgbClr val="000000"/>
                          </a:solidFill>
                          <a:latin typeface="Times New Roman" pitchFamily="34" charset="0"/>
                          <a:ea typeface="Times New Roman" pitchFamily="34" charset="-122"/>
                          <a:cs typeface="Times New Roman" pitchFamily="34" charset="-120"/>
                        </a:rPr>
                        <a:t>2. Identifies dataset and deployment challenges.</a:t>
                      </a:r>
                      <a:endParaRPr lang="en-US" sz="1000" dirty="0">
                        <a:latin typeface="Times New Roman" charset="0"/>
                        <a:ea typeface="Times New Roman" charset="0"/>
                        <a:cs typeface="Times New Roman" charset="0"/>
                      </a:endParaRPr>
                    </a:p>
                  </a:txBody>
                  <a:tcPr marL="64008" marR="64008"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indent="0" algn="l">
                        <a:spcAft>
                          <a:spcPts val="200"/>
                        </a:spcAft>
                        <a:buNone/>
                      </a:pPr>
                      <a:r>
                        <a:rPr lang="en-US" sz="1000" dirty="0">
                          <a:solidFill>
                            <a:srgbClr val="000000"/>
                          </a:solidFill>
                          <a:latin typeface="Times New Roman" pitchFamily="34" charset="0"/>
                          <a:ea typeface="Times New Roman" pitchFamily="34" charset="-122"/>
                          <a:cs typeface="Times New Roman" pitchFamily="34" charset="-120"/>
                        </a:rPr>
                        <a:t>1. Limited real-field generalization.</a:t>
                      </a:r>
                      <a:endParaRPr lang="en-US" sz="1000" dirty="0">
                        <a:latin typeface="Times New Roman" charset="0"/>
                        <a:ea typeface="Times New Roman" charset="0"/>
                        <a:cs typeface="Times New Roman" charset="0"/>
                      </a:endParaRPr>
                    </a:p>
                    <a:p>
                      <a:pPr marL="0" indent="0" algn="l">
                        <a:spcAft>
                          <a:spcPts val="200"/>
                        </a:spcAft>
                        <a:buNone/>
                      </a:pPr>
                      <a:r>
                        <a:rPr lang="en-US" sz="1000" dirty="0">
                          <a:solidFill>
                            <a:srgbClr val="000000"/>
                          </a:solidFill>
                          <a:latin typeface="Times New Roman" pitchFamily="34" charset="0"/>
                          <a:ea typeface="Times New Roman" pitchFamily="34" charset="-122"/>
                          <a:cs typeface="Times New Roman" pitchFamily="34" charset="-120"/>
                        </a:rPr>
                        <a:t>2. No integrated abstention or OOD handling.</a:t>
                      </a:r>
                      <a:endParaRPr lang="en-US" sz="1000" dirty="0">
                        <a:latin typeface="Times New Roman" charset="0"/>
                        <a:ea typeface="Times New Roman" charset="0"/>
                        <a:cs typeface="Times New Roman" charset="0"/>
                      </a:endParaRPr>
                    </a:p>
                  </a:txBody>
                  <a:tcPr marL="64008" marR="64008"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1"/>
                  </a:ext>
                </a:extLst>
              </a:tr>
              <a:tr h="1581912">
                <a:tc>
                  <a:txBody>
                    <a:bodyPr/>
                    <a:lstStyle/>
                    <a:p>
                      <a:pPr marL="0" indent="0" algn="ctr">
                        <a:buNone/>
                      </a:pPr>
                      <a:r>
                        <a:rPr lang="en-US" sz="1200" dirty="0">
                          <a:solidFill>
                            <a:srgbClr val="000000"/>
                          </a:solidFill>
                          <a:latin typeface="Times New Roman" pitchFamily="34" charset="0"/>
                          <a:ea typeface="Times New Roman" pitchFamily="34" charset="-122"/>
                          <a:cs typeface="Times New Roman" pitchFamily="34" charset="-120"/>
                        </a:rPr>
                        <a:t>2</a:t>
                      </a:r>
                      <a:endParaRPr lang="en-US" sz="1200" dirty="0">
                        <a:latin typeface="Times New Roman" charset="0"/>
                        <a:ea typeface="Times New Roman" charset="0"/>
                        <a:cs typeface="Times New Roman" charset="0"/>
                      </a:endParaRPr>
                    </a:p>
                  </a:txBody>
                  <a:tcPr marL="64008" marR="64008"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indent="0" algn="l">
                        <a:buNone/>
                      </a:pPr>
                      <a:r>
                        <a:rPr lang="en-US" sz="1000" dirty="0">
                          <a:solidFill>
                            <a:srgbClr val="000000"/>
                          </a:solidFill>
                          <a:latin typeface="Times New Roman" pitchFamily="34" charset="0"/>
                          <a:ea typeface="Times New Roman" pitchFamily="34" charset="-122"/>
                          <a:cs typeface="Times New Roman" pitchFamily="34" charset="-120"/>
                        </a:rPr>
                        <a:t>A Review of Plant Leaf Disease Identification by Deep Learning Algorithms</a:t>
                      </a:r>
                      <a:endParaRPr lang="en-US" sz="1000" dirty="0">
                        <a:latin typeface="Times New Roman" charset="0"/>
                        <a:ea typeface="Times New Roman" charset="0"/>
                        <a:cs typeface="Times New Roman" charset="0"/>
                      </a:endParaRPr>
                    </a:p>
                  </a:txBody>
                  <a:tcPr marL="64008" marR="64008"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indent="0" algn="l">
                        <a:buNone/>
                      </a:pPr>
                      <a:r>
                        <a:rPr lang="en-US" sz="1000" dirty="0">
                          <a:solidFill>
                            <a:srgbClr val="000000"/>
                          </a:solidFill>
                          <a:latin typeface="Times New Roman" pitchFamily="34" charset="0"/>
                          <a:ea typeface="Times New Roman" pitchFamily="34" charset="-122"/>
                          <a:cs typeface="Times New Roman" pitchFamily="34" charset="-120"/>
                        </a:rPr>
                        <a:t>Frontiers in Plant Science, Vol. 16, Article 1637241, 2025</a:t>
                      </a:r>
                      <a:endParaRPr lang="en-US" sz="1000" dirty="0">
                        <a:latin typeface="Times New Roman" charset="0"/>
                        <a:ea typeface="Times New Roman" charset="0"/>
                        <a:cs typeface="Times New Roman" charset="0"/>
                      </a:endParaRPr>
                    </a:p>
                  </a:txBody>
                  <a:tcPr marL="64008" marR="64008"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indent="0" algn="l">
                        <a:buNone/>
                      </a:pPr>
                      <a:r>
                        <a:rPr lang="en-US" sz="1000" dirty="0">
                          <a:solidFill>
                            <a:srgbClr val="000000"/>
                          </a:solidFill>
                          <a:latin typeface="Times New Roman" pitchFamily="34" charset="0"/>
                          <a:ea typeface="Times New Roman" pitchFamily="34" charset="-122"/>
                          <a:cs typeface="Times New Roman" pitchFamily="34" charset="-120"/>
                        </a:rPr>
                        <a:t>CNNs, transfer learning, attention, Transformers</a:t>
                      </a:r>
                      <a:endParaRPr lang="en-US" sz="1000" dirty="0">
                        <a:latin typeface="Times New Roman" charset="0"/>
                        <a:ea typeface="Times New Roman" charset="0"/>
                        <a:cs typeface="Times New Roman" charset="0"/>
                      </a:endParaRPr>
                    </a:p>
                  </a:txBody>
                  <a:tcPr marL="64008" marR="64008"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indent="0" algn="l">
                        <a:buNone/>
                      </a:pPr>
                      <a:r>
                        <a:rPr lang="en-US" sz="1000" dirty="0">
                          <a:solidFill>
                            <a:srgbClr val="000000"/>
                          </a:solidFill>
                          <a:latin typeface="Times New Roman" pitchFamily="34" charset="0"/>
                          <a:ea typeface="Times New Roman" pitchFamily="34" charset="-122"/>
                          <a:cs typeface="Times New Roman" pitchFamily="34" charset="-120"/>
                        </a:rPr>
                        <a:t>PlantVillage, PlantDoc, AI Challenger, crop-specific datasets</a:t>
                      </a:r>
                      <a:endParaRPr lang="en-US" sz="1000" dirty="0">
                        <a:latin typeface="Times New Roman" charset="0"/>
                        <a:ea typeface="Times New Roman" charset="0"/>
                        <a:cs typeface="Times New Roman" charset="0"/>
                      </a:endParaRPr>
                    </a:p>
                  </a:txBody>
                  <a:tcPr marL="64008" marR="64008"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indent="0" algn="l">
                        <a:spcAft>
                          <a:spcPts val="200"/>
                        </a:spcAft>
                        <a:buNone/>
                      </a:pPr>
                      <a:r>
                        <a:rPr lang="en-US" sz="1000" dirty="0">
                          <a:solidFill>
                            <a:srgbClr val="000000"/>
                          </a:solidFill>
                          <a:latin typeface="Times New Roman" pitchFamily="34" charset="0"/>
                          <a:ea typeface="Times New Roman" pitchFamily="34" charset="-122"/>
                          <a:cs typeface="Times New Roman" pitchFamily="34" charset="-120"/>
                        </a:rPr>
                        <a:t>1. Summarizes deep-learning methods for leaf disease identification.</a:t>
                      </a:r>
                      <a:endParaRPr lang="en-US" sz="1000" dirty="0">
                        <a:latin typeface="Times New Roman" charset="0"/>
                        <a:ea typeface="Times New Roman" charset="0"/>
                        <a:cs typeface="Times New Roman" charset="0"/>
                      </a:endParaRPr>
                    </a:p>
                    <a:p>
                      <a:pPr marL="0" indent="0" algn="l">
                        <a:spcAft>
                          <a:spcPts val="200"/>
                        </a:spcAft>
                        <a:buNone/>
                      </a:pPr>
                      <a:r>
                        <a:rPr lang="en-US" sz="1000" dirty="0">
                          <a:solidFill>
                            <a:srgbClr val="000000"/>
                          </a:solidFill>
                          <a:latin typeface="Times New Roman" pitchFamily="34" charset="0"/>
                          <a:ea typeface="Times New Roman" pitchFamily="34" charset="-122"/>
                          <a:cs typeface="Times New Roman" pitchFamily="34" charset="-120"/>
                        </a:rPr>
                        <a:t>2. Discusses emerging architectures.</a:t>
                      </a:r>
                      <a:endParaRPr lang="en-US" sz="1000" dirty="0">
                        <a:latin typeface="Times New Roman" charset="0"/>
                        <a:ea typeface="Times New Roman" charset="0"/>
                        <a:cs typeface="Times New Roman" charset="0"/>
                      </a:endParaRPr>
                    </a:p>
                  </a:txBody>
                  <a:tcPr marL="64008" marR="64008"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indent="0" algn="l">
                        <a:spcAft>
                          <a:spcPts val="200"/>
                        </a:spcAft>
                        <a:buNone/>
                      </a:pPr>
                      <a:r>
                        <a:rPr lang="en-US" sz="1000" dirty="0">
                          <a:solidFill>
                            <a:srgbClr val="000000"/>
                          </a:solidFill>
                          <a:latin typeface="Times New Roman" pitchFamily="34" charset="0"/>
                          <a:ea typeface="Times New Roman" pitchFamily="34" charset="-122"/>
                          <a:cs typeface="Times New Roman" pitchFamily="34" charset="-120"/>
                        </a:rPr>
                        <a:t>1. Review-based, not a deployable model.</a:t>
                      </a:r>
                      <a:endParaRPr lang="en-US" sz="1000" dirty="0">
                        <a:latin typeface="Times New Roman" charset="0"/>
                        <a:ea typeface="Times New Roman" charset="0"/>
                        <a:cs typeface="Times New Roman" charset="0"/>
                      </a:endParaRPr>
                    </a:p>
                    <a:p>
                      <a:pPr marL="0" indent="0" algn="l">
                        <a:spcAft>
                          <a:spcPts val="200"/>
                        </a:spcAft>
                        <a:buNone/>
                      </a:pPr>
                      <a:r>
                        <a:rPr lang="en-US" sz="1000" dirty="0">
                          <a:solidFill>
                            <a:srgbClr val="000000"/>
                          </a:solidFill>
                          <a:latin typeface="Times New Roman" pitchFamily="34" charset="0"/>
                          <a:ea typeface="Times New Roman" pitchFamily="34" charset="-122"/>
                          <a:cs typeface="Times New Roman" pitchFamily="34" charset="-120"/>
                        </a:rPr>
                        <a:t>2. No integrated uncertainty-aware abstention.</a:t>
                      </a:r>
                      <a:endParaRPr lang="en-US" sz="1000" dirty="0">
                        <a:latin typeface="Times New Roman" charset="0"/>
                        <a:ea typeface="Times New Roman" charset="0"/>
                        <a:cs typeface="Times New Roman" charset="0"/>
                      </a:endParaRPr>
                    </a:p>
                  </a:txBody>
                  <a:tcPr marL="64008" marR="64008"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2"/>
                  </a:ext>
                </a:extLst>
              </a:tr>
              <a:tr h="1581912">
                <a:tc>
                  <a:txBody>
                    <a:bodyPr/>
                    <a:lstStyle/>
                    <a:p>
                      <a:pPr marL="0" indent="0" algn="ctr">
                        <a:buNone/>
                      </a:pPr>
                      <a:r>
                        <a:rPr lang="en-US" sz="1200" dirty="0">
                          <a:solidFill>
                            <a:srgbClr val="000000"/>
                          </a:solidFill>
                          <a:latin typeface="Times New Roman" pitchFamily="34" charset="0"/>
                          <a:ea typeface="Times New Roman" pitchFamily="34" charset="-122"/>
                          <a:cs typeface="Times New Roman" pitchFamily="34" charset="-120"/>
                        </a:rPr>
                        <a:t>3</a:t>
                      </a:r>
                      <a:endParaRPr lang="en-US" sz="1200" dirty="0">
                        <a:latin typeface="Times New Roman" charset="0"/>
                        <a:ea typeface="Times New Roman" charset="0"/>
                        <a:cs typeface="Times New Roman" charset="0"/>
                      </a:endParaRPr>
                    </a:p>
                  </a:txBody>
                  <a:tcPr marL="64008" marR="64008"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indent="0" algn="l">
                        <a:buNone/>
                      </a:pPr>
                      <a:r>
                        <a:rPr lang="en-US" sz="1000" dirty="0">
                          <a:solidFill>
                            <a:srgbClr val="000000"/>
                          </a:solidFill>
                          <a:latin typeface="Times New Roman" pitchFamily="34" charset="0"/>
                          <a:ea typeface="Times New Roman" pitchFamily="34" charset="-122"/>
                          <a:cs typeface="Times New Roman" pitchFamily="34" charset="-120"/>
                        </a:rPr>
                        <a:t>ConvGeM-next: A Deep Learning Framework for Plant Disease Detection</a:t>
                      </a:r>
                      <a:endParaRPr lang="en-US" sz="1000" dirty="0">
                        <a:latin typeface="Times New Roman" charset="0"/>
                        <a:ea typeface="Times New Roman" charset="0"/>
                        <a:cs typeface="Times New Roman" charset="0"/>
                      </a:endParaRPr>
                    </a:p>
                  </a:txBody>
                  <a:tcPr marL="64008" marR="64008"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indent="0" algn="l">
                        <a:buNone/>
                      </a:pPr>
                      <a:r>
                        <a:rPr lang="en-US" sz="1000" dirty="0">
                          <a:solidFill>
                            <a:srgbClr val="000000"/>
                          </a:solidFill>
                          <a:latin typeface="Times New Roman" pitchFamily="34" charset="0"/>
                          <a:ea typeface="Times New Roman" pitchFamily="34" charset="-122"/>
                          <a:cs typeface="Times New Roman" pitchFamily="34" charset="-120"/>
                        </a:rPr>
                        <a:t>Frontiers in Plant Science, Vol. 17, Article 1763739, 2026</a:t>
                      </a:r>
                      <a:endParaRPr lang="en-US" sz="1000" dirty="0">
                        <a:latin typeface="Times New Roman" charset="0"/>
                        <a:ea typeface="Times New Roman" charset="0"/>
                        <a:cs typeface="Times New Roman" charset="0"/>
                      </a:endParaRPr>
                    </a:p>
                  </a:txBody>
                  <a:tcPr marL="64008" marR="64008"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indent="0" algn="l">
                        <a:buNone/>
                      </a:pPr>
                      <a:r>
                        <a:rPr lang="en-US" sz="1000" dirty="0">
                          <a:solidFill>
                            <a:srgbClr val="000000"/>
                          </a:solidFill>
                          <a:latin typeface="Times New Roman" pitchFamily="34" charset="0"/>
                          <a:ea typeface="Times New Roman" pitchFamily="34" charset="-122"/>
                          <a:cs typeface="Times New Roman" pitchFamily="34" charset="-120"/>
                        </a:rPr>
                        <a:t>ConvNeXt-Base, Generalized Mean Pooling, transfer learning</a:t>
                      </a:r>
                      <a:endParaRPr lang="en-US" sz="1000" dirty="0">
                        <a:latin typeface="Times New Roman" charset="0"/>
                        <a:ea typeface="Times New Roman" charset="0"/>
                        <a:cs typeface="Times New Roman" charset="0"/>
                      </a:endParaRPr>
                    </a:p>
                  </a:txBody>
                  <a:tcPr marL="64008" marR="64008"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indent="0" algn="l">
                        <a:buNone/>
                      </a:pPr>
                      <a:r>
                        <a:rPr lang="en-US" sz="1000" dirty="0">
                          <a:solidFill>
                            <a:srgbClr val="000000"/>
                          </a:solidFill>
                          <a:latin typeface="Times New Roman" pitchFamily="34" charset="0"/>
                          <a:ea typeface="Times New Roman" pitchFamily="34" charset="-122"/>
                          <a:cs typeface="Times New Roman" pitchFamily="34" charset="-120"/>
                        </a:rPr>
                        <a:t>PlantVillage, PlantDoc</a:t>
                      </a:r>
                      <a:endParaRPr lang="en-US" sz="1000" dirty="0">
                        <a:latin typeface="Times New Roman" charset="0"/>
                        <a:ea typeface="Times New Roman" charset="0"/>
                        <a:cs typeface="Times New Roman" charset="0"/>
                      </a:endParaRPr>
                    </a:p>
                  </a:txBody>
                  <a:tcPr marL="64008" marR="64008"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indent="0" algn="l">
                        <a:spcAft>
                          <a:spcPts val="200"/>
                        </a:spcAft>
                        <a:buNone/>
                      </a:pPr>
                      <a:r>
                        <a:rPr lang="en-US" sz="1000" dirty="0">
                          <a:solidFill>
                            <a:srgbClr val="000000"/>
                          </a:solidFill>
                          <a:latin typeface="Times New Roman" pitchFamily="34" charset="0"/>
                          <a:ea typeface="Times New Roman" pitchFamily="34" charset="-122"/>
                          <a:cs typeface="Times New Roman" pitchFamily="34" charset="-120"/>
                        </a:rPr>
                        <a:t>1. Combines deep feature extraction and pooling.</a:t>
                      </a:r>
                      <a:endParaRPr lang="en-US" sz="1000" dirty="0">
                        <a:latin typeface="Times New Roman" charset="0"/>
                        <a:ea typeface="Times New Roman" charset="0"/>
                        <a:cs typeface="Times New Roman" charset="0"/>
                      </a:endParaRPr>
                    </a:p>
                    <a:p>
                      <a:pPr marL="0" indent="0" algn="l">
                        <a:spcAft>
                          <a:spcPts val="200"/>
                        </a:spcAft>
                        <a:buNone/>
                      </a:pPr>
                      <a:r>
                        <a:rPr lang="en-US" sz="1000" dirty="0">
                          <a:solidFill>
                            <a:srgbClr val="000000"/>
                          </a:solidFill>
                          <a:latin typeface="Times New Roman" pitchFamily="34" charset="0"/>
                          <a:ea typeface="Times New Roman" pitchFamily="34" charset="-122"/>
                          <a:cs typeface="Times New Roman" pitchFamily="34" charset="-120"/>
                        </a:rPr>
                        <a:t>2. Evaluates controlled and field-style images.</a:t>
                      </a:r>
                      <a:endParaRPr lang="en-US" sz="1000" dirty="0">
                        <a:latin typeface="Times New Roman" charset="0"/>
                        <a:ea typeface="Times New Roman" charset="0"/>
                        <a:cs typeface="Times New Roman" charset="0"/>
                      </a:endParaRPr>
                    </a:p>
                  </a:txBody>
                  <a:tcPr marL="64008" marR="64008"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indent="0" algn="l">
                        <a:spcAft>
                          <a:spcPts val="200"/>
                        </a:spcAft>
                        <a:buNone/>
                      </a:pPr>
                      <a:r>
                        <a:rPr lang="en-US" sz="1000" dirty="0">
                          <a:solidFill>
                            <a:srgbClr val="000000"/>
                          </a:solidFill>
                          <a:latin typeface="Times New Roman" pitchFamily="34" charset="0"/>
                          <a:ea typeface="Times New Roman" pitchFamily="34" charset="-122"/>
                          <a:cs typeface="Times New Roman" pitchFamily="34" charset="-120"/>
                        </a:rPr>
                        <a:t>1. Computationally demanding architecture.</a:t>
                      </a:r>
                      <a:endParaRPr lang="en-US" sz="1000" dirty="0">
                        <a:latin typeface="Times New Roman" charset="0"/>
                        <a:ea typeface="Times New Roman" charset="0"/>
                        <a:cs typeface="Times New Roman" charset="0"/>
                      </a:endParaRPr>
                    </a:p>
                    <a:p>
                      <a:pPr marL="0" indent="0" algn="l">
                        <a:spcAft>
                          <a:spcPts val="200"/>
                        </a:spcAft>
                        <a:buNone/>
                      </a:pPr>
                      <a:r>
                        <a:rPr lang="en-US" sz="1000" dirty="0">
                          <a:solidFill>
                            <a:srgbClr val="000000"/>
                          </a:solidFill>
                          <a:latin typeface="Times New Roman" pitchFamily="34" charset="0"/>
                          <a:ea typeface="Times New Roman" pitchFamily="34" charset="-122"/>
                          <a:cs typeface="Times New Roman" pitchFamily="34" charset="-120"/>
                        </a:rPr>
                        <a:t>2. Forced predictions.</a:t>
                      </a:r>
                      <a:endParaRPr lang="en-US" sz="1000" dirty="0">
                        <a:latin typeface="Times New Roman" charset="0"/>
                        <a:ea typeface="Times New Roman" charset="0"/>
                        <a:cs typeface="Times New Roman" charset="0"/>
                      </a:endParaRPr>
                    </a:p>
                    <a:p>
                      <a:pPr marL="0" indent="0" algn="l">
                        <a:spcAft>
                          <a:spcPts val="200"/>
                        </a:spcAft>
                        <a:buNone/>
                      </a:pPr>
                      <a:r>
                        <a:rPr lang="en-US" sz="1000" dirty="0">
                          <a:solidFill>
                            <a:srgbClr val="000000"/>
                          </a:solidFill>
                          <a:latin typeface="Times New Roman" pitchFamily="34" charset="0"/>
                          <a:ea typeface="Times New Roman" pitchFamily="34" charset="-122"/>
                          <a:cs typeface="Times New Roman" pitchFamily="34" charset="-120"/>
                        </a:rPr>
                        <a:t>3. No ensemble uncertainty or evidence retrieval.</a:t>
                      </a:r>
                      <a:endParaRPr lang="en-US" sz="1000" dirty="0">
                        <a:latin typeface="Times New Roman" charset="0"/>
                        <a:ea typeface="Times New Roman" charset="0"/>
                        <a:cs typeface="Times New Roman" charset="0"/>
                      </a:endParaRPr>
                    </a:p>
                  </a:txBody>
                  <a:tcPr marL="64008" marR="64008"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3"/>
                  </a:ext>
                </a:extLst>
              </a:tr>
            </a:tbl>
          </a:graphicData>
        </a:graphic>
      </p:graphicFrame>
      <p:sp>
        <p:nvSpPr>
          <p:cNvPr id="5" name="Text 2"/>
          <p:cNvSpPr txBox="1"/>
          <p:nvPr/>
        </p:nvSpPr>
        <p:spPr>
          <a:xfrm>
            <a:off x="292608" y="6355080"/>
            <a:ext cx="7772400" cy="365760"/>
          </a:xfrm>
          <a:prstGeom prst="rect">
            <a:avLst/>
          </a:prstGeom>
          <a:noFill/>
          <a:ln/>
        </p:spPr>
        <p:txBody>
          <a:bodyPr wrap="square" lIns="0" tIns="0" rIns="0" bIns="0" rtlCol="0" anchor="ctr"/>
          <a:lstStyle/>
          <a:p>
            <a:pPr marL="0" indent="0">
              <a:buNone/>
            </a:pPr>
            <a:endParaRPr lang="en-US" sz="1600" dirty="0"/>
          </a:p>
        </p:txBody>
      </p:sp>
      <p:sp>
        <p:nvSpPr>
          <p:cNvPr id="6" name="Text 3"/>
          <p:cNvSpPr txBox="1"/>
          <p:nvPr/>
        </p:nvSpPr>
        <p:spPr>
          <a:xfrm>
            <a:off x="8288592" y="6355080"/>
            <a:ext cx="457200" cy="365760"/>
          </a:xfrm>
          <a:prstGeom prst="rect">
            <a:avLst/>
          </a:prstGeom>
          <a:noFill/>
          <a:ln/>
        </p:spPr>
        <p:txBody>
          <a:bodyPr wrap="square" lIns="0" tIns="0" rIns="0" bIns="0" rtlCol="0" anchor="ctr"/>
          <a:lstStyle/>
          <a:p>
            <a:pPr marL="0" indent="0" algn="r">
              <a:buNone/>
            </a:pPr>
            <a:r>
              <a:rPr lang="en-US" sz="1200" b="1" dirty="0">
                <a:solidFill>
                  <a:srgbClr val="333333"/>
                </a:solidFill>
                <a:latin typeface="Times New Roman" pitchFamily="34" charset="0"/>
                <a:cs typeface="Times New Roman" pitchFamily="34" charset="-120"/>
              </a:rPr>
              <a:t>25</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txBox="1"/>
          <p:nvPr/>
        </p:nvSpPr>
        <p:spPr>
          <a:xfrm>
            <a:off x="342900" y="305906"/>
            <a:ext cx="8455914" cy="480060"/>
          </a:xfrm>
          <a:prstGeom prst="rect">
            <a:avLst/>
          </a:prstGeom>
          <a:noFill/>
          <a:ln/>
        </p:spPr>
        <p:txBody>
          <a:bodyPr wrap="square" lIns="0" tIns="0" rIns="0" bIns="0" rtlCol="0" anchor="ctr"/>
          <a:lstStyle/>
          <a:p>
            <a:r>
              <a:rPr lang="en-US" sz="2400" b="1" dirty="0">
                <a:solidFill>
                  <a:srgbClr val="8B4513"/>
                </a:solidFill>
                <a:latin typeface="Times New Roman" pitchFamily="34" charset="0"/>
                <a:ea typeface="Times New Roman" pitchFamily="34" charset="-122"/>
                <a:cs typeface="Times New Roman" pitchFamily="34" charset="-120"/>
              </a:rPr>
              <a:t>10. Study on Existing Technologies — II</a:t>
            </a:r>
            <a:endParaRPr lang="en-US" sz="2400" dirty="0"/>
          </a:p>
        </p:txBody>
      </p:sp>
      <p:graphicFrame>
        <p:nvGraphicFramePr>
          <p:cNvPr id="3" name="Table 0"/>
          <p:cNvGraphicFramePr>
            <a:graphicFrameLocks noGrp="1"/>
          </p:cNvGraphicFramePr>
          <p:nvPr>
            <p:extLst>
              <p:ext uri="{D42A27DB-BD31-4B8C-83A1-F6EECF244321}">
                <p14:modId xmlns:p14="http://schemas.microsoft.com/office/powerpoint/2010/main" val="1659967726"/>
              </p:ext>
            </p:extLst>
          </p:nvPr>
        </p:nvGraphicFramePr>
        <p:xfrm>
          <a:off x="342899" y="1297858"/>
          <a:ext cx="8614287" cy="5043947"/>
        </p:xfrm>
        <a:graphic>
          <a:graphicData uri="http://schemas.openxmlformats.org/drawingml/2006/table">
            <a:tbl>
              <a:tblPr/>
              <a:tblGrid>
                <a:gridCol w="489051">
                  <a:extLst>
                    <a:ext uri="{9D8B030D-6E8A-4147-A177-3AD203B41FA5}">
                      <a16:colId xmlns:a16="http://schemas.microsoft.com/office/drawing/2014/main" val="20000"/>
                    </a:ext>
                  </a:extLst>
                </a:gridCol>
                <a:gridCol w="1886340">
                  <a:extLst>
                    <a:ext uri="{9D8B030D-6E8A-4147-A177-3AD203B41FA5}">
                      <a16:colId xmlns:a16="http://schemas.microsoft.com/office/drawing/2014/main" val="20001"/>
                    </a:ext>
                  </a:extLst>
                </a:gridCol>
                <a:gridCol w="1327425">
                  <a:extLst>
                    <a:ext uri="{9D8B030D-6E8A-4147-A177-3AD203B41FA5}">
                      <a16:colId xmlns:a16="http://schemas.microsoft.com/office/drawing/2014/main" val="20002"/>
                    </a:ext>
                  </a:extLst>
                </a:gridCol>
                <a:gridCol w="1187696">
                  <a:extLst>
                    <a:ext uri="{9D8B030D-6E8A-4147-A177-3AD203B41FA5}">
                      <a16:colId xmlns:a16="http://schemas.microsoft.com/office/drawing/2014/main" val="20003"/>
                    </a:ext>
                  </a:extLst>
                </a:gridCol>
                <a:gridCol w="1117831">
                  <a:extLst>
                    <a:ext uri="{9D8B030D-6E8A-4147-A177-3AD203B41FA5}">
                      <a16:colId xmlns:a16="http://schemas.microsoft.com/office/drawing/2014/main" val="20004"/>
                    </a:ext>
                  </a:extLst>
                </a:gridCol>
                <a:gridCol w="1397289">
                  <a:extLst>
                    <a:ext uri="{9D8B030D-6E8A-4147-A177-3AD203B41FA5}">
                      <a16:colId xmlns:a16="http://schemas.microsoft.com/office/drawing/2014/main" val="20005"/>
                    </a:ext>
                  </a:extLst>
                </a:gridCol>
                <a:gridCol w="1208655">
                  <a:extLst>
                    <a:ext uri="{9D8B030D-6E8A-4147-A177-3AD203B41FA5}">
                      <a16:colId xmlns:a16="http://schemas.microsoft.com/office/drawing/2014/main" val="20006"/>
                    </a:ext>
                  </a:extLst>
                </a:gridCol>
              </a:tblGrid>
              <a:tr h="517328">
                <a:tc>
                  <a:txBody>
                    <a:bodyPr/>
                    <a:lstStyle/>
                    <a:p>
                      <a:pPr marL="0" indent="0" algn="ctr">
                        <a:buNone/>
                      </a:pPr>
                      <a:r>
                        <a:rPr lang="en-US" sz="1100" b="1" dirty="0">
                          <a:solidFill>
                            <a:srgbClr val="1A1A1A"/>
                          </a:solidFill>
                          <a:latin typeface="Times New Roman" pitchFamily="34" charset="0"/>
                          <a:ea typeface="Times New Roman" pitchFamily="34" charset="-122"/>
                          <a:cs typeface="Times New Roman" pitchFamily="34" charset="-120"/>
                        </a:rPr>
                        <a:t>S. No.</a:t>
                      </a:r>
                      <a:endParaRPr lang="en-US" sz="1100" dirty="0">
                        <a:latin typeface="Times New Roman" charset="0"/>
                        <a:ea typeface="Times New Roman" charset="0"/>
                        <a:cs typeface="Times New Roman" charset="0"/>
                      </a:endParaRPr>
                    </a:p>
                  </a:txBody>
                  <a:tcPr marL="41148" marR="41148" marT="34290" marB="3429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9E2F3"/>
                    </a:solidFill>
                  </a:tcPr>
                </a:tc>
                <a:tc>
                  <a:txBody>
                    <a:bodyPr/>
                    <a:lstStyle/>
                    <a:p>
                      <a:pPr marL="0" indent="0" algn="ctr">
                        <a:buNone/>
                      </a:pPr>
                      <a:r>
                        <a:rPr lang="en-US" sz="1100" b="1" dirty="0">
                          <a:solidFill>
                            <a:srgbClr val="1A1A1A"/>
                          </a:solidFill>
                          <a:latin typeface="Times New Roman" pitchFamily="34" charset="0"/>
                          <a:ea typeface="Times New Roman" pitchFamily="34" charset="-122"/>
                          <a:cs typeface="Times New Roman" pitchFamily="34" charset="-120"/>
                        </a:rPr>
                        <a:t>Article Title</a:t>
                      </a:r>
                      <a:endParaRPr lang="en-US" sz="1100" dirty="0">
                        <a:latin typeface="Times New Roman" charset="0"/>
                        <a:ea typeface="Times New Roman" charset="0"/>
                        <a:cs typeface="Times New Roman" charset="0"/>
                      </a:endParaRPr>
                    </a:p>
                  </a:txBody>
                  <a:tcPr marL="41148" marR="41148" marT="34290" marB="3429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9E2F3"/>
                    </a:solidFill>
                  </a:tcPr>
                </a:tc>
                <a:tc>
                  <a:txBody>
                    <a:bodyPr/>
                    <a:lstStyle/>
                    <a:p>
                      <a:pPr marL="0" indent="0" algn="ctr">
                        <a:buNone/>
                      </a:pPr>
                      <a:r>
                        <a:rPr lang="en-US" sz="1100" b="1" dirty="0">
                          <a:solidFill>
                            <a:srgbClr val="1A1A1A"/>
                          </a:solidFill>
                          <a:latin typeface="Times New Roman" pitchFamily="34" charset="0"/>
                          <a:ea typeface="Times New Roman" pitchFamily="34" charset="-122"/>
                          <a:cs typeface="Times New Roman" pitchFamily="34" charset="-120"/>
                        </a:rPr>
                        <a:t>Journal Details</a:t>
                      </a:r>
                      <a:endParaRPr lang="en-US" sz="1100" dirty="0">
                        <a:latin typeface="Times New Roman" charset="0"/>
                        <a:ea typeface="Times New Roman" charset="0"/>
                        <a:cs typeface="Times New Roman" charset="0"/>
                      </a:endParaRPr>
                    </a:p>
                  </a:txBody>
                  <a:tcPr marL="41148" marR="41148" marT="34290" marB="3429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9E2F3"/>
                    </a:solidFill>
                  </a:tcPr>
                </a:tc>
                <a:tc>
                  <a:txBody>
                    <a:bodyPr/>
                    <a:lstStyle/>
                    <a:p>
                      <a:pPr marL="0" indent="0" algn="ctr">
                        <a:buNone/>
                      </a:pPr>
                      <a:r>
                        <a:rPr lang="en-US" sz="1100" b="1" dirty="0">
                          <a:solidFill>
                            <a:srgbClr val="1A1A1A"/>
                          </a:solidFill>
                          <a:latin typeface="Times New Roman" pitchFamily="34" charset="0"/>
                          <a:ea typeface="Times New Roman" pitchFamily="34" charset="-122"/>
                          <a:cs typeface="Times New Roman" pitchFamily="34" charset="-120"/>
                        </a:rPr>
                        <a:t>Algorithms / Models</a:t>
                      </a:r>
                      <a:endParaRPr lang="en-US" sz="1100" dirty="0">
                        <a:latin typeface="Times New Roman" charset="0"/>
                        <a:ea typeface="Times New Roman" charset="0"/>
                        <a:cs typeface="Times New Roman" charset="0"/>
                      </a:endParaRPr>
                    </a:p>
                  </a:txBody>
                  <a:tcPr marL="41148" marR="41148" marT="34290" marB="3429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9E2F3"/>
                    </a:solidFill>
                  </a:tcPr>
                </a:tc>
                <a:tc>
                  <a:txBody>
                    <a:bodyPr/>
                    <a:lstStyle/>
                    <a:p>
                      <a:pPr marL="0" indent="0" algn="ctr">
                        <a:buNone/>
                      </a:pPr>
                      <a:r>
                        <a:rPr lang="en-US" sz="1100" b="1" dirty="0">
                          <a:solidFill>
                            <a:srgbClr val="1A1A1A"/>
                          </a:solidFill>
                          <a:latin typeface="Times New Roman" pitchFamily="34" charset="0"/>
                          <a:ea typeface="Times New Roman" pitchFamily="34" charset="-122"/>
                          <a:cs typeface="Times New Roman" pitchFamily="34" charset="-120"/>
                        </a:rPr>
                        <a:t>Datasets</a:t>
                      </a:r>
                      <a:endParaRPr lang="en-US" sz="1100" dirty="0">
                        <a:latin typeface="Times New Roman" charset="0"/>
                        <a:ea typeface="Times New Roman" charset="0"/>
                        <a:cs typeface="Times New Roman" charset="0"/>
                      </a:endParaRPr>
                    </a:p>
                  </a:txBody>
                  <a:tcPr marL="41148" marR="41148" marT="34290" marB="3429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9E2F3"/>
                    </a:solidFill>
                  </a:tcPr>
                </a:tc>
                <a:tc>
                  <a:txBody>
                    <a:bodyPr/>
                    <a:lstStyle/>
                    <a:p>
                      <a:pPr marL="0" indent="0" algn="ctr">
                        <a:buNone/>
                      </a:pPr>
                      <a:r>
                        <a:rPr lang="en-US" sz="1100" b="1" dirty="0">
                          <a:solidFill>
                            <a:srgbClr val="1A1A1A"/>
                          </a:solidFill>
                          <a:latin typeface="Times New Roman" pitchFamily="34" charset="0"/>
                          <a:ea typeface="Times New Roman" pitchFamily="34" charset="-122"/>
                          <a:cs typeface="Times New Roman" pitchFamily="34" charset="-120"/>
                        </a:rPr>
                        <a:t>Gaps Addressed</a:t>
                      </a:r>
                      <a:endParaRPr lang="en-US" sz="1100" dirty="0">
                        <a:latin typeface="Times New Roman" charset="0"/>
                        <a:ea typeface="Times New Roman" charset="0"/>
                        <a:cs typeface="Times New Roman" charset="0"/>
                      </a:endParaRPr>
                    </a:p>
                  </a:txBody>
                  <a:tcPr marL="41148" marR="41148" marT="34290" marB="3429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9E2F3"/>
                    </a:solidFill>
                  </a:tcPr>
                </a:tc>
                <a:tc>
                  <a:txBody>
                    <a:bodyPr/>
                    <a:lstStyle/>
                    <a:p>
                      <a:pPr marL="0" indent="0" algn="ctr">
                        <a:buNone/>
                      </a:pPr>
                      <a:r>
                        <a:rPr lang="en-US" sz="1100" b="1" dirty="0">
                          <a:solidFill>
                            <a:srgbClr val="1A1A1A"/>
                          </a:solidFill>
                          <a:latin typeface="Times New Roman" pitchFamily="34" charset="0"/>
                          <a:ea typeface="Times New Roman" pitchFamily="34" charset="-122"/>
                          <a:cs typeface="Times New Roman" pitchFamily="34" charset="-120"/>
                        </a:rPr>
                        <a:t>Limitations</a:t>
                      </a:r>
                      <a:endParaRPr lang="en-US" sz="1100" dirty="0">
                        <a:latin typeface="Times New Roman" charset="0"/>
                        <a:ea typeface="Times New Roman" charset="0"/>
                        <a:cs typeface="Times New Roman" charset="0"/>
                      </a:endParaRPr>
                    </a:p>
                  </a:txBody>
                  <a:tcPr marL="41148" marR="41148" marT="34290" marB="3429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9E2F3"/>
                    </a:solidFill>
                  </a:tcPr>
                </a:tc>
                <a:extLst>
                  <a:ext uri="{0D108BD9-81ED-4DB2-BD59-A6C34878D82A}">
                    <a16:rowId xmlns:a16="http://schemas.microsoft.com/office/drawing/2014/main" val="10000"/>
                  </a:ext>
                </a:extLst>
              </a:tr>
              <a:tr h="1508873">
                <a:tc>
                  <a:txBody>
                    <a:bodyPr/>
                    <a:lstStyle/>
                    <a:p>
                      <a:pPr marL="0" indent="0" algn="ctr">
                        <a:buNone/>
                      </a:pPr>
                      <a:r>
                        <a:rPr lang="en-US" sz="1100" dirty="0">
                          <a:solidFill>
                            <a:srgbClr val="000000"/>
                          </a:solidFill>
                          <a:latin typeface="Times New Roman" pitchFamily="34" charset="0"/>
                          <a:ea typeface="Times New Roman" pitchFamily="34" charset="-122"/>
                          <a:cs typeface="Times New Roman" pitchFamily="34" charset="-120"/>
                        </a:rPr>
                        <a:t>4</a:t>
                      </a:r>
                      <a:endParaRPr lang="en-US" sz="1100" dirty="0">
                        <a:latin typeface="Times New Roman" charset="0"/>
                        <a:ea typeface="Times New Roman" charset="0"/>
                        <a:cs typeface="Times New Roman" charset="0"/>
                      </a:endParaRPr>
                    </a:p>
                  </a:txBody>
                  <a:tcPr marL="61722" marR="61722" marT="48006" marB="48006"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indent="0" algn="l">
                        <a:buNone/>
                      </a:pPr>
                      <a:r>
                        <a:rPr lang="en-US" sz="900" dirty="0">
                          <a:solidFill>
                            <a:srgbClr val="000000"/>
                          </a:solidFill>
                          <a:latin typeface="Times New Roman" pitchFamily="34" charset="0"/>
                          <a:ea typeface="Times New Roman" pitchFamily="34" charset="-122"/>
                          <a:cs typeface="Times New Roman" pitchFamily="34" charset="-120"/>
                        </a:rPr>
                        <a:t>Advancing Plant Disease Classification Using an Attention-Based CNN for Intra-Dataset and Cross-Dataset Training</a:t>
                      </a:r>
                      <a:endParaRPr lang="en-US" sz="900" dirty="0">
                        <a:latin typeface="Times New Roman" charset="0"/>
                        <a:ea typeface="Times New Roman" charset="0"/>
                        <a:cs typeface="Times New Roman" charset="0"/>
                      </a:endParaRPr>
                    </a:p>
                  </a:txBody>
                  <a:tcPr marL="61722" marR="61722" marT="48006" marB="48006"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indent="0" algn="l">
                        <a:buNone/>
                      </a:pPr>
                      <a:r>
                        <a:rPr lang="en-US" sz="900" dirty="0">
                          <a:solidFill>
                            <a:srgbClr val="000000"/>
                          </a:solidFill>
                          <a:latin typeface="Times New Roman" pitchFamily="34" charset="0"/>
                          <a:ea typeface="Times New Roman" pitchFamily="34" charset="-122"/>
                          <a:cs typeface="Times New Roman" pitchFamily="34" charset="-120"/>
                        </a:rPr>
                        <a:t>Scientific Reports, Vol. 16, Article 45464, 2026</a:t>
                      </a:r>
                      <a:endParaRPr lang="en-US" sz="900" dirty="0">
                        <a:latin typeface="Times New Roman" charset="0"/>
                        <a:ea typeface="Times New Roman" charset="0"/>
                        <a:cs typeface="Times New Roman" charset="0"/>
                      </a:endParaRPr>
                    </a:p>
                  </a:txBody>
                  <a:tcPr marL="61722" marR="61722" marT="48006" marB="48006"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indent="0" algn="l">
                        <a:buNone/>
                      </a:pPr>
                      <a:r>
                        <a:rPr lang="en-US" sz="900" dirty="0">
                          <a:solidFill>
                            <a:srgbClr val="000000"/>
                          </a:solidFill>
                          <a:latin typeface="Times New Roman" pitchFamily="34" charset="0"/>
                          <a:ea typeface="Times New Roman" pitchFamily="34" charset="-122"/>
                          <a:cs typeface="Times New Roman" pitchFamily="34" charset="-120"/>
                        </a:rPr>
                        <a:t>Attention-based CNN</a:t>
                      </a:r>
                      <a:endParaRPr lang="en-US" sz="900" dirty="0">
                        <a:latin typeface="Times New Roman" charset="0"/>
                        <a:ea typeface="Times New Roman" charset="0"/>
                        <a:cs typeface="Times New Roman" charset="0"/>
                      </a:endParaRPr>
                    </a:p>
                  </a:txBody>
                  <a:tcPr marL="61722" marR="61722" marT="48006" marB="48006"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indent="0" algn="l">
                        <a:buNone/>
                      </a:pPr>
                      <a:r>
                        <a:rPr lang="en-US" sz="900" dirty="0">
                          <a:solidFill>
                            <a:srgbClr val="000000"/>
                          </a:solidFill>
                          <a:latin typeface="Times New Roman" pitchFamily="34" charset="0"/>
                          <a:ea typeface="Times New Roman" pitchFamily="34" charset="-122"/>
                          <a:cs typeface="Times New Roman" pitchFamily="34" charset="-120"/>
                        </a:rPr>
                        <a:t>PlantVillage, PlantDoc, Digipathos, Northern Leaf Blight, CD&amp;S</a:t>
                      </a:r>
                      <a:endParaRPr lang="en-US" sz="900" dirty="0">
                        <a:latin typeface="Times New Roman" charset="0"/>
                        <a:ea typeface="Times New Roman" charset="0"/>
                        <a:cs typeface="Times New Roman" charset="0"/>
                      </a:endParaRPr>
                    </a:p>
                  </a:txBody>
                  <a:tcPr marL="61722" marR="61722" marT="48006" marB="48006"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indent="0" algn="l">
                        <a:spcAft>
                          <a:spcPts val="300"/>
                        </a:spcAft>
                        <a:buNone/>
                      </a:pPr>
                      <a:r>
                        <a:rPr lang="en-US" sz="900" dirty="0">
                          <a:solidFill>
                            <a:srgbClr val="000000"/>
                          </a:solidFill>
                          <a:latin typeface="Times New Roman" pitchFamily="34" charset="0"/>
                          <a:ea typeface="Times New Roman" pitchFamily="34" charset="-122"/>
                          <a:cs typeface="Times New Roman" pitchFamily="34" charset="-120"/>
                        </a:rPr>
                        <a:t>1. Focuses on disease-region features.</a:t>
                      </a:r>
                      <a:endParaRPr lang="en-US" sz="900" dirty="0">
                        <a:latin typeface="Times New Roman" charset="0"/>
                        <a:ea typeface="Times New Roman" charset="0"/>
                        <a:cs typeface="Times New Roman" charset="0"/>
                      </a:endParaRPr>
                    </a:p>
                    <a:p>
                      <a:pPr marL="0" indent="0" algn="l">
                        <a:spcAft>
                          <a:spcPts val="300"/>
                        </a:spcAft>
                        <a:buNone/>
                      </a:pPr>
                      <a:r>
                        <a:rPr lang="en-US" sz="900" dirty="0">
                          <a:solidFill>
                            <a:srgbClr val="000000"/>
                          </a:solidFill>
                          <a:latin typeface="Times New Roman" pitchFamily="34" charset="0"/>
                          <a:ea typeface="Times New Roman" pitchFamily="34" charset="-122"/>
                          <a:cs typeface="Times New Roman" pitchFamily="34" charset="-120"/>
                        </a:rPr>
                        <a:t>2. Studies cross-dataset performance.</a:t>
                      </a:r>
                      <a:endParaRPr lang="en-US" sz="900" dirty="0">
                        <a:latin typeface="Times New Roman" charset="0"/>
                        <a:ea typeface="Times New Roman" charset="0"/>
                        <a:cs typeface="Times New Roman" charset="0"/>
                      </a:endParaRPr>
                    </a:p>
                  </a:txBody>
                  <a:tcPr marL="61722" marR="61722" marT="48006" marB="48006"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indent="0" algn="l">
                        <a:spcAft>
                          <a:spcPts val="300"/>
                        </a:spcAft>
                        <a:buNone/>
                      </a:pPr>
                      <a:r>
                        <a:rPr lang="en-US" sz="900" dirty="0">
                          <a:solidFill>
                            <a:srgbClr val="000000"/>
                          </a:solidFill>
                          <a:latin typeface="Times New Roman" pitchFamily="34" charset="0"/>
                          <a:ea typeface="Times New Roman" pitchFamily="34" charset="-122"/>
                          <a:cs typeface="Times New Roman" pitchFamily="34" charset="-120"/>
                        </a:rPr>
                        <a:t>1. Single-model approach.</a:t>
                      </a:r>
                      <a:endParaRPr lang="en-US" sz="900" dirty="0">
                        <a:latin typeface="Times New Roman" charset="0"/>
                        <a:ea typeface="Times New Roman" charset="0"/>
                        <a:cs typeface="Times New Roman" charset="0"/>
                      </a:endParaRPr>
                    </a:p>
                    <a:p>
                      <a:pPr marL="0" indent="0" algn="l">
                        <a:spcAft>
                          <a:spcPts val="300"/>
                        </a:spcAft>
                        <a:buNone/>
                      </a:pPr>
                      <a:r>
                        <a:rPr lang="en-US" sz="900" dirty="0">
                          <a:solidFill>
                            <a:srgbClr val="000000"/>
                          </a:solidFill>
                          <a:latin typeface="Times New Roman" pitchFamily="34" charset="0"/>
                          <a:ea typeface="Times New Roman" pitchFamily="34" charset="-122"/>
                          <a:cs typeface="Times New Roman" pitchFamily="34" charset="-120"/>
                        </a:rPr>
                        <a:t>2. No abstention mechanism.</a:t>
                      </a:r>
                      <a:endParaRPr lang="en-US" sz="900" dirty="0">
                        <a:latin typeface="Times New Roman" charset="0"/>
                        <a:ea typeface="Times New Roman" charset="0"/>
                        <a:cs typeface="Times New Roman" charset="0"/>
                      </a:endParaRPr>
                    </a:p>
                    <a:p>
                      <a:pPr marL="0" indent="0" algn="l">
                        <a:spcAft>
                          <a:spcPts val="300"/>
                        </a:spcAft>
                        <a:buNone/>
                      </a:pPr>
                      <a:r>
                        <a:rPr lang="en-US" sz="900" dirty="0">
                          <a:solidFill>
                            <a:srgbClr val="000000"/>
                          </a:solidFill>
                          <a:latin typeface="Times New Roman" pitchFamily="34" charset="0"/>
                          <a:ea typeface="Times New Roman" pitchFamily="34" charset="-122"/>
                          <a:cs typeface="Times New Roman" pitchFamily="34" charset="-120"/>
                        </a:rPr>
                        <a:t>3. No evidence-based advisory.</a:t>
                      </a:r>
                      <a:endParaRPr lang="en-US" sz="900" dirty="0">
                        <a:latin typeface="Times New Roman" charset="0"/>
                        <a:ea typeface="Times New Roman" charset="0"/>
                        <a:cs typeface="Times New Roman" charset="0"/>
                      </a:endParaRPr>
                    </a:p>
                  </a:txBody>
                  <a:tcPr marL="61722" marR="61722" marT="48006" marB="48006"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1"/>
                  </a:ext>
                </a:extLst>
              </a:tr>
              <a:tr h="1508873">
                <a:tc>
                  <a:txBody>
                    <a:bodyPr/>
                    <a:lstStyle/>
                    <a:p>
                      <a:pPr marL="0" indent="0" algn="ctr">
                        <a:buNone/>
                      </a:pPr>
                      <a:r>
                        <a:rPr lang="en-US" sz="1100" dirty="0">
                          <a:solidFill>
                            <a:srgbClr val="000000"/>
                          </a:solidFill>
                          <a:latin typeface="Times New Roman" pitchFamily="34" charset="0"/>
                          <a:ea typeface="Times New Roman" pitchFamily="34" charset="-122"/>
                          <a:cs typeface="Times New Roman" pitchFamily="34" charset="-120"/>
                        </a:rPr>
                        <a:t>5</a:t>
                      </a:r>
                      <a:endParaRPr lang="en-US" sz="1100" dirty="0">
                        <a:latin typeface="Times New Roman" charset="0"/>
                        <a:ea typeface="Times New Roman" charset="0"/>
                        <a:cs typeface="Times New Roman" charset="0"/>
                      </a:endParaRPr>
                    </a:p>
                  </a:txBody>
                  <a:tcPr marL="61722" marR="61722" marT="48006" marB="48006"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indent="0" algn="l">
                        <a:buNone/>
                      </a:pPr>
                      <a:r>
                        <a:rPr lang="en-US" sz="900" dirty="0">
                          <a:solidFill>
                            <a:srgbClr val="000000"/>
                          </a:solidFill>
                          <a:latin typeface="Times New Roman" pitchFamily="34" charset="0"/>
                          <a:ea typeface="Times New Roman" pitchFamily="34" charset="-122"/>
                          <a:cs typeface="Times New Roman" pitchFamily="34" charset="-120"/>
                        </a:rPr>
                        <a:t>AI Based Real Time Disease Diagnosis in Plants Using Deep Learning Driven CNNs</a:t>
                      </a:r>
                      <a:endParaRPr lang="en-US" sz="900" dirty="0">
                        <a:latin typeface="Times New Roman" charset="0"/>
                        <a:ea typeface="Times New Roman" charset="0"/>
                        <a:cs typeface="Times New Roman" charset="0"/>
                      </a:endParaRPr>
                    </a:p>
                  </a:txBody>
                  <a:tcPr marL="61722" marR="61722" marT="48006" marB="48006"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indent="0" algn="l">
                        <a:buNone/>
                      </a:pPr>
                      <a:r>
                        <a:rPr lang="en-US" sz="900" dirty="0">
                          <a:solidFill>
                            <a:srgbClr val="000000"/>
                          </a:solidFill>
                          <a:latin typeface="Times New Roman" pitchFamily="34" charset="0"/>
                          <a:ea typeface="Times New Roman" pitchFamily="34" charset="-122"/>
                          <a:cs typeface="Times New Roman" pitchFamily="34" charset="-120"/>
                        </a:rPr>
                        <a:t>Scientific Reports, Vol. 16, Article 4587, 2026</a:t>
                      </a:r>
                      <a:endParaRPr lang="en-US" sz="900" dirty="0">
                        <a:latin typeface="Times New Roman" charset="0"/>
                        <a:ea typeface="Times New Roman" charset="0"/>
                        <a:cs typeface="Times New Roman" charset="0"/>
                      </a:endParaRPr>
                    </a:p>
                  </a:txBody>
                  <a:tcPr marL="61722" marR="61722" marT="48006" marB="48006"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indent="0" algn="l">
                        <a:buNone/>
                      </a:pPr>
                      <a:r>
                        <a:rPr lang="en-US" sz="900" dirty="0">
                          <a:solidFill>
                            <a:srgbClr val="000000"/>
                          </a:solidFill>
                          <a:latin typeface="Times New Roman" pitchFamily="34" charset="0"/>
                          <a:ea typeface="Times New Roman" pitchFamily="34" charset="-122"/>
                          <a:cs typeface="Times New Roman" pitchFamily="34" charset="-120"/>
                        </a:rPr>
                        <a:t>PDD-DL CNN, batch normalization, dropout, softmax</a:t>
                      </a:r>
                      <a:endParaRPr lang="en-US" sz="900" dirty="0">
                        <a:latin typeface="Times New Roman" charset="0"/>
                        <a:ea typeface="Times New Roman" charset="0"/>
                        <a:cs typeface="Times New Roman" charset="0"/>
                      </a:endParaRPr>
                    </a:p>
                  </a:txBody>
                  <a:tcPr marL="61722" marR="61722" marT="48006" marB="48006"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indent="0" algn="l">
                        <a:buNone/>
                      </a:pPr>
                      <a:r>
                        <a:rPr lang="en-US" sz="900" dirty="0">
                          <a:solidFill>
                            <a:srgbClr val="000000"/>
                          </a:solidFill>
                          <a:latin typeface="Times New Roman" pitchFamily="34" charset="0"/>
                          <a:ea typeface="Times New Roman" pitchFamily="34" charset="-122"/>
                          <a:cs typeface="Times New Roman" pitchFamily="34" charset="-120"/>
                        </a:rPr>
                        <a:t>42,860 images covering tomato, potato, maize, grape, and pepper</a:t>
                      </a:r>
                      <a:endParaRPr lang="en-US" sz="900" dirty="0">
                        <a:latin typeface="Times New Roman" charset="0"/>
                        <a:ea typeface="Times New Roman" charset="0"/>
                        <a:cs typeface="Times New Roman" charset="0"/>
                      </a:endParaRPr>
                    </a:p>
                  </a:txBody>
                  <a:tcPr marL="61722" marR="61722" marT="48006" marB="48006"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indent="0" algn="l">
                        <a:spcAft>
                          <a:spcPts val="300"/>
                        </a:spcAft>
                        <a:buNone/>
                      </a:pPr>
                      <a:r>
                        <a:rPr lang="en-US" sz="900" dirty="0">
                          <a:solidFill>
                            <a:srgbClr val="000000"/>
                          </a:solidFill>
                          <a:latin typeface="Times New Roman" pitchFamily="34" charset="0"/>
                          <a:ea typeface="Times New Roman" pitchFamily="34" charset="-122"/>
                          <a:cs typeface="Times New Roman" pitchFamily="34" charset="-120"/>
                        </a:rPr>
                        <a:t>1. Develops CNN-based disease diagnosis.</a:t>
                      </a:r>
                      <a:endParaRPr lang="en-US" sz="900" dirty="0">
                        <a:latin typeface="Times New Roman" charset="0"/>
                        <a:ea typeface="Times New Roman" charset="0"/>
                        <a:cs typeface="Times New Roman" charset="0"/>
                      </a:endParaRPr>
                    </a:p>
                    <a:p>
                      <a:pPr marL="0" indent="0" algn="l">
                        <a:spcAft>
                          <a:spcPts val="300"/>
                        </a:spcAft>
                        <a:buNone/>
                      </a:pPr>
                      <a:r>
                        <a:rPr lang="en-US" sz="900" dirty="0">
                          <a:solidFill>
                            <a:srgbClr val="000000"/>
                          </a:solidFill>
                          <a:latin typeface="Times New Roman" pitchFamily="34" charset="0"/>
                          <a:ea typeface="Times New Roman" pitchFamily="34" charset="-122"/>
                          <a:cs typeface="Times New Roman" pitchFamily="34" charset="-120"/>
                        </a:rPr>
                        <a:t>2. Focuses on rapid prediction.</a:t>
                      </a:r>
                      <a:endParaRPr lang="en-US" sz="900" dirty="0">
                        <a:latin typeface="Times New Roman" charset="0"/>
                        <a:ea typeface="Times New Roman" charset="0"/>
                        <a:cs typeface="Times New Roman" charset="0"/>
                      </a:endParaRPr>
                    </a:p>
                  </a:txBody>
                  <a:tcPr marL="61722" marR="61722" marT="48006" marB="48006"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indent="0" algn="l">
                        <a:spcAft>
                          <a:spcPts val="300"/>
                        </a:spcAft>
                        <a:buNone/>
                      </a:pPr>
                      <a:r>
                        <a:rPr lang="en-US" sz="900" dirty="0">
                          <a:solidFill>
                            <a:srgbClr val="000000"/>
                          </a:solidFill>
                          <a:latin typeface="Times New Roman" pitchFamily="34" charset="0"/>
                          <a:ea typeface="Times New Roman" pitchFamily="34" charset="-122"/>
                          <a:cs typeface="Times New Roman" pitchFamily="34" charset="-120"/>
                        </a:rPr>
                        <a:t>1. Forced predictions for uncertain inputs.</a:t>
                      </a:r>
                      <a:endParaRPr lang="en-US" sz="900" dirty="0">
                        <a:latin typeface="Times New Roman" charset="0"/>
                        <a:ea typeface="Times New Roman" charset="0"/>
                        <a:cs typeface="Times New Roman" charset="0"/>
                      </a:endParaRPr>
                    </a:p>
                    <a:p>
                      <a:pPr marL="0" indent="0" algn="l">
                        <a:spcAft>
                          <a:spcPts val="300"/>
                        </a:spcAft>
                        <a:buNone/>
                      </a:pPr>
                      <a:r>
                        <a:rPr lang="en-US" sz="900" dirty="0">
                          <a:solidFill>
                            <a:srgbClr val="000000"/>
                          </a:solidFill>
                          <a:latin typeface="Times New Roman" pitchFamily="34" charset="0"/>
                          <a:ea typeface="Times New Roman" pitchFamily="34" charset="-122"/>
                          <a:cs typeface="Times New Roman" pitchFamily="34" charset="-120"/>
                        </a:rPr>
                        <a:t>2. Limited OOD detection.</a:t>
                      </a:r>
                      <a:endParaRPr lang="en-US" sz="900" dirty="0">
                        <a:latin typeface="Times New Roman" charset="0"/>
                        <a:ea typeface="Times New Roman" charset="0"/>
                        <a:cs typeface="Times New Roman" charset="0"/>
                      </a:endParaRPr>
                    </a:p>
                    <a:p>
                      <a:pPr marL="0" indent="0" algn="l">
                        <a:spcAft>
                          <a:spcPts val="300"/>
                        </a:spcAft>
                        <a:buNone/>
                      </a:pPr>
                      <a:r>
                        <a:rPr lang="en-US" sz="900" dirty="0">
                          <a:solidFill>
                            <a:srgbClr val="000000"/>
                          </a:solidFill>
                          <a:latin typeface="Times New Roman" pitchFamily="34" charset="0"/>
                          <a:ea typeface="Times New Roman" pitchFamily="34" charset="-122"/>
                          <a:cs typeface="Times New Roman" pitchFamily="34" charset="-120"/>
                        </a:rPr>
                        <a:t>3. No evidence validation.</a:t>
                      </a:r>
                      <a:endParaRPr lang="en-US" sz="900" dirty="0">
                        <a:latin typeface="Times New Roman" charset="0"/>
                        <a:ea typeface="Times New Roman" charset="0"/>
                        <a:cs typeface="Times New Roman" charset="0"/>
                      </a:endParaRPr>
                    </a:p>
                  </a:txBody>
                  <a:tcPr marL="61722" marR="61722" marT="48006" marB="48006"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2"/>
                  </a:ext>
                </a:extLst>
              </a:tr>
              <a:tr h="1508873">
                <a:tc>
                  <a:txBody>
                    <a:bodyPr/>
                    <a:lstStyle/>
                    <a:p>
                      <a:pPr marL="0" indent="0" algn="ctr">
                        <a:buNone/>
                      </a:pPr>
                      <a:r>
                        <a:rPr lang="en-US" sz="1100" dirty="0">
                          <a:solidFill>
                            <a:srgbClr val="000000"/>
                          </a:solidFill>
                          <a:latin typeface="Times New Roman" pitchFamily="34" charset="0"/>
                          <a:ea typeface="Times New Roman" pitchFamily="34" charset="-122"/>
                          <a:cs typeface="Times New Roman" pitchFamily="34" charset="-120"/>
                        </a:rPr>
                        <a:t>6</a:t>
                      </a:r>
                      <a:endParaRPr lang="en-US" sz="1100" dirty="0">
                        <a:latin typeface="Times New Roman" charset="0"/>
                        <a:ea typeface="Times New Roman" charset="0"/>
                        <a:cs typeface="Times New Roman" charset="0"/>
                      </a:endParaRPr>
                    </a:p>
                  </a:txBody>
                  <a:tcPr marL="61722" marR="61722" marT="48006" marB="48006"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indent="0" algn="l">
                        <a:buNone/>
                      </a:pPr>
                      <a:r>
                        <a:rPr lang="en-US" sz="900" dirty="0">
                          <a:solidFill>
                            <a:srgbClr val="000000"/>
                          </a:solidFill>
                          <a:latin typeface="Times New Roman" pitchFamily="34" charset="0"/>
                          <a:ea typeface="Times New Roman" pitchFamily="34" charset="-122"/>
                          <a:cs typeface="Times New Roman" pitchFamily="34" charset="-120"/>
                        </a:rPr>
                        <a:t>A Diversity-Optimized Deep Ensemble Approach for Accurate Plant Leaf Disease Detection</a:t>
                      </a:r>
                      <a:endParaRPr lang="en-US" sz="900" dirty="0">
                        <a:latin typeface="Times New Roman" charset="0"/>
                        <a:ea typeface="Times New Roman" charset="0"/>
                        <a:cs typeface="Times New Roman" charset="0"/>
                      </a:endParaRPr>
                    </a:p>
                  </a:txBody>
                  <a:tcPr marL="61722" marR="61722" marT="48006" marB="48006"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indent="0" algn="l">
                        <a:buNone/>
                      </a:pPr>
                      <a:r>
                        <a:rPr lang="en-US" sz="900" dirty="0">
                          <a:solidFill>
                            <a:srgbClr val="000000"/>
                          </a:solidFill>
                          <a:latin typeface="Times New Roman" pitchFamily="34" charset="0"/>
                          <a:ea typeface="Times New Roman" pitchFamily="34" charset="-122"/>
                          <a:cs typeface="Times New Roman" pitchFamily="34" charset="-120"/>
                        </a:rPr>
                        <a:t>2025 IEEE International Conference on Big Data (BigData), 2025</a:t>
                      </a:r>
                      <a:endParaRPr lang="en-US" sz="900" dirty="0">
                        <a:latin typeface="Times New Roman" charset="0"/>
                        <a:ea typeface="Times New Roman" charset="0"/>
                        <a:cs typeface="Times New Roman" charset="0"/>
                      </a:endParaRPr>
                    </a:p>
                  </a:txBody>
                  <a:tcPr marL="61722" marR="61722" marT="48006" marB="48006"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indent="0" algn="l">
                        <a:buNone/>
                      </a:pPr>
                      <a:r>
                        <a:rPr lang="en-US" sz="900" dirty="0">
                          <a:solidFill>
                            <a:srgbClr val="000000"/>
                          </a:solidFill>
                          <a:latin typeface="Times New Roman" pitchFamily="34" charset="0"/>
                          <a:ea typeface="Times New Roman" pitchFamily="34" charset="-122"/>
                          <a:cs typeface="Times New Roman" pitchFamily="34" charset="-120"/>
                        </a:rPr>
                        <a:t>Deep ensembles, Synergistic Diversity, ensemble selection</a:t>
                      </a:r>
                      <a:endParaRPr lang="en-US" sz="900" dirty="0">
                        <a:latin typeface="Times New Roman" charset="0"/>
                        <a:ea typeface="Times New Roman" charset="0"/>
                        <a:cs typeface="Times New Roman" charset="0"/>
                      </a:endParaRPr>
                    </a:p>
                  </a:txBody>
                  <a:tcPr marL="61722" marR="61722" marT="48006" marB="48006"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indent="0" algn="l">
                        <a:buNone/>
                      </a:pPr>
                      <a:r>
                        <a:rPr lang="en-US" sz="900" dirty="0">
                          <a:solidFill>
                            <a:srgbClr val="000000"/>
                          </a:solidFill>
                          <a:latin typeface="Times New Roman" pitchFamily="34" charset="0"/>
                          <a:ea typeface="Times New Roman" pitchFamily="34" charset="-122"/>
                          <a:cs typeface="Times New Roman" pitchFamily="34" charset="-120"/>
                        </a:rPr>
                        <a:t>Plant leaf disease image dataset</a:t>
                      </a:r>
                      <a:endParaRPr lang="en-US" sz="900" dirty="0">
                        <a:latin typeface="Times New Roman" charset="0"/>
                        <a:ea typeface="Times New Roman" charset="0"/>
                        <a:cs typeface="Times New Roman" charset="0"/>
                      </a:endParaRPr>
                    </a:p>
                  </a:txBody>
                  <a:tcPr marL="61722" marR="61722" marT="48006" marB="48006"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indent="0" algn="l">
                        <a:spcAft>
                          <a:spcPts val="300"/>
                        </a:spcAft>
                        <a:buNone/>
                      </a:pPr>
                      <a:r>
                        <a:rPr lang="en-US" sz="900" dirty="0">
                          <a:solidFill>
                            <a:srgbClr val="000000"/>
                          </a:solidFill>
                          <a:latin typeface="Times New Roman" pitchFamily="34" charset="0"/>
                          <a:ea typeface="Times New Roman" pitchFamily="34" charset="-122"/>
                          <a:cs typeface="Times New Roman" pitchFamily="34" charset="-120"/>
                        </a:rPr>
                        <a:t>1. Uses model diversity to select complementary ensemble members.</a:t>
                      </a:r>
                      <a:endParaRPr lang="en-US" sz="900" dirty="0">
                        <a:latin typeface="Times New Roman" charset="0"/>
                        <a:ea typeface="Times New Roman" charset="0"/>
                        <a:cs typeface="Times New Roman" charset="0"/>
                      </a:endParaRPr>
                    </a:p>
                    <a:p>
                      <a:pPr marL="0" indent="0" algn="l">
                        <a:spcAft>
                          <a:spcPts val="300"/>
                        </a:spcAft>
                        <a:buNone/>
                      </a:pPr>
                      <a:r>
                        <a:rPr lang="en-US" sz="900" dirty="0">
                          <a:solidFill>
                            <a:srgbClr val="000000"/>
                          </a:solidFill>
                          <a:latin typeface="Times New Roman" pitchFamily="34" charset="0"/>
                          <a:ea typeface="Times New Roman" pitchFamily="34" charset="-122"/>
                          <a:cs typeface="Times New Roman" pitchFamily="34" charset="-120"/>
                        </a:rPr>
                        <a:t>2. Focuses on ensemble-based classification.</a:t>
                      </a:r>
                      <a:endParaRPr lang="en-US" sz="900" dirty="0">
                        <a:latin typeface="Times New Roman" charset="0"/>
                        <a:ea typeface="Times New Roman" charset="0"/>
                        <a:cs typeface="Times New Roman" charset="0"/>
                      </a:endParaRPr>
                    </a:p>
                  </a:txBody>
                  <a:tcPr marL="61722" marR="61722" marT="48006" marB="48006"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indent="0" algn="l">
                        <a:spcAft>
                          <a:spcPts val="300"/>
                        </a:spcAft>
                        <a:buNone/>
                      </a:pPr>
                      <a:r>
                        <a:rPr lang="en-US" sz="900" dirty="0">
                          <a:solidFill>
                            <a:srgbClr val="000000"/>
                          </a:solidFill>
                          <a:latin typeface="Times New Roman" pitchFamily="34" charset="0"/>
                          <a:ea typeface="Times New Roman" pitchFamily="34" charset="-122"/>
                          <a:cs typeface="Times New Roman" pitchFamily="34" charset="-120"/>
                        </a:rPr>
                        <a:t>1. No integrated conformal abstention.</a:t>
                      </a:r>
                      <a:endParaRPr lang="en-US" sz="900" dirty="0">
                        <a:latin typeface="Times New Roman" charset="0"/>
                        <a:ea typeface="Times New Roman" charset="0"/>
                        <a:cs typeface="Times New Roman" charset="0"/>
                      </a:endParaRPr>
                    </a:p>
                    <a:p>
                      <a:pPr marL="0" indent="0" algn="l">
                        <a:spcAft>
                          <a:spcPts val="300"/>
                        </a:spcAft>
                        <a:buNone/>
                      </a:pPr>
                      <a:r>
                        <a:rPr lang="en-US" sz="900" dirty="0">
                          <a:solidFill>
                            <a:srgbClr val="000000"/>
                          </a:solidFill>
                          <a:latin typeface="Times New Roman" pitchFamily="34" charset="0"/>
                          <a:ea typeface="Times New Roman" pitchFamily="34" charset="-122"/>
                          <a:cs typeface="Times New Roman" pitchFamily="34" charset="-120"/>
                        </a:rPr>
                        <a:t>2. No OOD-aware evidence retrieval.</a:t>
                      </a:r>
                      <a:endParaRPr lang="en-US" sz="900" dirty="0">
                        <a:latin typeface="Times New Roman" charset="0"/>
                        <a:ea typeface="Times New Roman" charset="0"/>
                        <a:cs typeface="Times New Roman" charset="0"/>
                      </a:endParaRPr>
                    </a:p>
                  </a:txBody>
                  <a:tcPr marL="61722" marR="61722" marT="48006" marB="48006"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3"/>
                  </a:ext>
                </a:extLst>
              </a:tr>
            </a:tbl>
          </a:graphicData>
        </a:graphic>
      </p:graphicFrame>
      <p:sp>
        <p:nvSpPr>
          <p:cNvPr id="5" name="Text 1">
            <a:extLst>
              <a:ext uri="{FF2B5EF4-FFF2-40B4-BE49-F238E27FC236}">
                <a16:creationId xmlns:a16="http://schemas.microsoft.com/office/drawing/2014/main" id="{29CC592E-4612-26E6-6561-FDC948D42330}"/>
              </a:ext>
            </a:extLst>
          </p:cNvPr>
          <p:cNvSpPr txBox="1"/>
          <p:nvPr/>
        </p:nvSpPr>
        <p:spPr>
          <a:xfrm>
            <a:off x="240030" y="785966"/>
            <a:ext cx="8558784" cy="365760"/>
          </a:xfrm>
          <a:prstGeom prst="rect">
            <a:avLst/>
          </a:prstGeom>
          <a:noFill/>
          <a:ln/>
        </p:spPr>
        <p:txBody>
          <a:bodyPr wrap="square" lIns="0" tIns="0" rIns="0" bIns="0" rtlCol="0" anchor="ctr"/>
          <a:lstStyle/>
          <a:p>
            <a:pPr marL="0" indent="0" algn="ctr">
              <a:buNone/>
            </a:pPr>
            <a:r>
              <a:rPr lang="en-US" sz="1800" dirty="0">
                <a:solidFill>
                  <a:srgbClr val="000000"/>
                </a:solidFill>
                <a:latin typeface="Times New Roman" pitchFamily="34" charset="0"/>
                <a:ea typeface="Times New Roman" pitchFamily="34" charset="-122"/>
                <a:cs typeface="Times New Roman" pitchFamily="34" charset="-120"/>
              </a:rPr>
              <a:t>Table no. 2: Summary of existing implementations</a:t>
            </a:r>
            <a:endParaRPr lang="en-US" sz="1800" dirty="0"/>
          </a:p>
        </p:txBody>
      </p:sp>
      <p:sp>
        <p:nvSpPr>
          <p:cNvPr id="7" name="Text 3">
            <a:extLst>
              <a:ext uri="{FF2B5EF4-FFF2-40B4-BE49-F238E27FC236}">
                <a16:creationId xmlns:a16="http://schemas.microsoft.com/office/drawing/2014/main" id="{E42D4FF9-5779-420D-4A41-B7150A85F400}"/>
              </a:ext>
            </a:extLst>
          </p:cNvPr>
          <p:cNvSpPr txBox="1"/>
          <p:nvPr/>
        </p:nvSpPr>
        <p:spPr>
          <a:xfrm>
            <a:off x="8288592" y="6355080"/>
            <a:ext cx="457200" cy="365760"/>
          </a:xfrm>
          <a:prstGeom prst="rect">
            <a:avLst/>
          </a:prstGeom>
          <a:noFill/>
          <a:ln/>
        </p:spPr>
        <p:txBody>
          <a:bodyPr wrap="square" lIns="0" tIns="0" rIns="0" bIns="0" rtlCol="0" anchor="ctr"/>
          <a:lstStyle/>
          <a:p>
            <a:pPr marL="0" indent="0" algn="r">
              <a:buNone/>
            </a:pPr>
            <a:r>
              <a:rPr lang="en-US" sz="1200" b="1" dirty="0">
                <a:solidFill>
                  <a:srgbClr val="333333"/>
                </a:solidFill>
                <a:latin typeface="Times New Roman" pitchFamily="34" charset="0"/>
                <a:cs typeface="Times New Roman" pitchFamily="34" charset="-120"/>
              </a:rPr>
              <a:t>26</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txBox="1"/>
          <p:nvPr/>
        </p:nvSpPr>
        <p:spPr>
          <a:xfrm>
            <a:off x="342900" y="345235"/>
            <a:ext cx="8455914" cy="480060"/>
          </a:xfrm>
          <a:prstGeom prst="rect">
            <a:avLst/>
          </a:prstGeom>
          <a:noFill/>
          <a:ln/>
        </p:spPr>
        <p:txBody>
          <a:bodyPr wrap="square" lIns="0" tIns="0" rIns="0" bIns="0" rtlCol="0" anchor="ctr"/>
          <a:lstStyle/>
          <a:p>
            <a:r>
              <a:rPr lang="en-US" sz="2400" b="1" dirty="0">
                <a:solidFill>
                  <a:srgbClr val="8B4513"/>
                </a:solidFill>
                <a:latin typeface="Times New Roman" pitchFamily="34" charset="0"/>
                <a:ea typeface="Times New Roman" pitchFamily="34" charset="-122"/>
                <a:cs typeface="Times New Roman" pitchFamily="34" charset="-120"/>
              </a:rPr>
              <a:t>10. Study on Existing Technologies — III</a:t>
            </a:r>
            <a:endParaRPr lang="en-US" sz="2400" dirty="0"/>
          </a:p>
        </p:txBody>
      </p:sp>
      <p:graphicFrame>
        <p:nvGraphicFramePr>
          <p:cNvPr id="3" name="Table 0"/>
          <p:cNvGraphicFramePr>
            <a:graphicFrameLocks noGrp="1"/>
          </p:cNvGraphicFramePr>
          <p:nvPr>
            <p:extLst>
              <p:ext uri="{D42A27DB-BD31-4B8C-83A1-F6EECF244321}">
                <p14:modId xmlns:p14="http://schemas.microsoft.com/office/powerpoint/2010/main" val="3087003664"/>
              </p:ext>
            </p:extLst>
          </p:nvPr>
        </p:nvGraphicFramePr>
        <p:xfrm>
          <a:off x="342900" y="1506426"/>
          <a:ext cx="8558784" cy="4864878"/>
        </p:xfrm>
        <a:graphic>
          <a:graphicData uri="http://schemas.openxmlformats.org/drawingml/2006/table">
            <a:tbl>
              <a:tblPr/>
              <a:tblGrid>
                <a:gridCol w="485900">
                  <a:extLst>
                    <a:ext uri="{9D8B030D-6E8A-4147-A177-3AD203B41FA5}">
                      <a16:colId xmlns:a16="http://schemas.microsoft.com/office/drawing/2014/main" val="20000"/>
                    </a:ext>
                  </a:extLst>
                </a:gridCol>
                <a:gridCol w="1874186">
                  <a:extLst>
                    <a:ext uri="{9D8B030D-6E8A-4147-A177-3AD203B41FA5}">
                      <a16:colId xmlns:a16="http://schemas.microsoft.com/office/drawing/2014/main" val="20001"/>
                    </a:ext>
                  </a:extLst>
                </a:gridCol>
                <a:gridCol w="1318872">
                  <a:extLst>
                    <a:ext uri="{9D8B030D-6E8A-4147-A177-3AD203B41FA5}">
                      <a16:colId xmlns:a16="http://schemas.microsoft.com/office/drawing/2014/main" val="20002"/>
                    </a:ext>
                  </a:extLst>
                </a:gridCol>
                <a:gridCol w="1180043">
                  <a:extLst>
                    <a:ext uri="{9D8B030D-6E8A-4147-A177-3AD203B41FA5}">
                      <a16:colId xmlns:a16="http://schemas.microsoft.com/office/drawing/2014/main" val="20003"/>
                    </a:ext>
                  </a:extLst>
                </a:gridCol>
                <a:gridCol w="1110629">
                  <a:extLst>
                    <a:ext uri="{9D8B030D-6E8A-4147-A177-3AD203B41FA5}">
                      <a16:colId xmlns:a16="http://schemas.microsoft.com/office/drawing/2014/main" val="20004"/>
                    </a:ext>
                  </a:extLst>
                </a:gridCol>
                <a:gridCol w="1388286">
                  <a:extLst>
                    <a:ext uri="{9D8B030D-6E8A-4147-A177-3AD203B41FA5}">
                      <a16:colId xmlns:a16="http://schemas.microsoft.com/office/drawing/2014/main" val="20005"/>
                    </a:ext>
                  </a:extLst>
                </a:gridCol>
                <a:gridCol w="1200868">
                  <a:extLst>
                    <a:ext uri="{9D8B030D-6E8A-4147-A177-3AD203B41FA5}">
                      <a16:colId xmlns:a16="http://schemas.microsoft.com/office/drawing/2014/main" val="20006"/>
                    </a:ext>
                  </a:extLst>
                </a:gridCol>
              </a:tblGrid>
              <a:tr h="490457">
                <a:tc>
                  <a:txBody>
                    <a:bodyPr/>
                    <a:lstStyle/>
                    <a:p>
                      <a:pPr marL="0" indent="0" algn="ctr">
                        <a:buNone/>
                      </a:pPr>
                      <a:r>
                        <a:rPr lang="en-US" sz="1100" b="1" dirty="0">
                          <a:solidFill>
                            <a:srgbClr val="1A1A1A"/>
                          </a:solidFill>
                          <a:latin typeface="Times New Roman" pitchFamily="34" charset="0"/>
                          <a:ea typeface="Times New Roman" pitchFamily="34" charset="-122"/>
                          <a:cs typeface="Times New Roman" pitchFamily="34" charset="-120"/>
                        </a:rPr>
                        <a:t>S. No.</a:t>
                      </a:r>
                      <a:endParaRPr lang="en-US" sz="1100" dirty="0">
                        <a:latin typeface="Times New Roman" charset="0"/>
                        <a:ea typeface="Times New Roman" charset="0"/>
                        <a:cs typeface="Times New Roman" charset="0"/>
                      </a:endParaRPr>
                    </a:p>
                  </a:txBody>
                  <a:tcPr marL="41148" marR="41148" marT="34290" marB="3429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9E2F3"/>
                    </a:solidFill>
                  </a:tcPr>
                </a:tc>
                <a:tc>
                  <a:txBody>
                    <a:bodyPr/>
                    <a:lstStyle/>
                    <a:p>
                      <a:pPr marL="0" indent="0" algn="ctr">
                        <a:buNone/>
                      </a:pPr>
                      <a:r>
                        <a:rPr lang="en-US" sz="1100" b="1" dirty="0">
                          <a:solidFill>
                            <a:srgbClr val="1A1A1A"/>
                          </a:solidFill>
                          <a:latin typeface="Times New Roman" pitchFamily="34" charset="0"/>
                          <a:ea typeface="Times New Roman" pitchFamily="34" charset="-122"/>
                          <a:cs typeface="Times New Roman" pitchFamily="34" charset="-120"/>
                        </a:rPr>
                        <a:t>Article Title</a:t>
                      </a:r>
                      <a:endParaRPr lang="en-US" sz="1100" dirty="0">
                        <a:latin typeface="Times New Roman" charset="0"/>
                        <a:ea typeface="Times New Roman" charset="0"/>
                        <a:cs typeface="Times New Roman" charset="0"/>
                      </a:endParaRPr>
                    </a:p>
                  </a:txBody>
                  <a:tcPr marL="41148" marR="41148" marT="34290" marB="3429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9E2F3"/>
                    </a:solidFill>
                  </a:tcPr>
                </a:tc>
                <a:tc>
                  <a:txBody>
                    <a:bodyPr/>
                    <a:lstStyle/>
                    <a:p>
                      <a:pPr marL="0" indent="0" algn="ctr">
                        <a:buNone/>
                      </a:pPr>
                      <a:r>
                        <a:rPr lang="en-US" sz="1100" b="1" dirty="0">
                          <a:solidFill>
                            <a:srgbClr val="1A1A1A"/>
                          </a:solidFill>
                          <a:latin typeface="Times New Roman" pitchFamily="34" charset="0"/>
                          <a:ea typeface="Times New Roman" pitchFamily="34" charset="-122"/>
                          <a:cs typeface="Times New Roman" pitchFamily="34" charset="-120"/>
                        </a:rPr>
                        <a:t>Journal Details</a:t>
                      </a:r>
                      <a:endParaRPr lang="en-US" sz="1100" dirty="0">
                        <a:latin typeface="Times New Roman" charset="0"/>
                        <a:ea typeface="Times New Roman" charset="0"/>
                        <a:cs typeface="Times New Roman" charset="0"/>
                      </a:endParaRPr>
                    </a:p>
                  </a:txBody>
                  <a:tcPr marL="41148" marR="41148" marT="34290" marB="3429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9E2F3"/>
                    </a:solidFill>
                  </a:tcPr>
                </a:tc>
                <a:tc>
                  <a:txBody>
                    <a:bodyPr/>
                    <a:lstStyle/>
                    <a:p>
                      <a:pPr marL="0" indent="0" algn="ctr">
                        <a:buNone/>
                      </a:pPr>
                      <a:r>
                        <a:rPr lang="en-US" sz="1100" b="1" dirty="0">
                          <a:solidFill>
                            <a:srgbClr val="1A1A1A"/>
                          </a:solidFill>
                          <a:latin typeface="Times New Roman" pitchFamily="34" charset="0"/>
                          <a:ea typeface="Times New Roman" pitchFamily="34" charset="-122"/>
                          <a:cs typeface="Times New Roman" pitchFamily="34" charset="-120"/>
                        </a:rPr>
                        <a:t>Algorithms / Models</a:t>
                      </a:r>
                      <a:endParaRPr lang="en-US" sz="1100" dirty="0">
                        <a:latin typeface="Times New Roman" charset="0"/>
                        <a:ea typeface="Times New Roman" charset="0"/>
                        <a:cs typeface="Times New Roman" charset="0"/>
                      </a:endParaRPr>
                    </a:p>
                  </a:txBody>
                  <a:tcPr marL="41148" marR="41148" marT="34290" marB="3429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9E2F3"/>
                    </a:solidFill>
                  </a:tcPr>
                </a:tc>
                <a:tc>
                  <a:txBody>
                    <a:bodyPr/>
                    <a:lstStyle/>
                    <a:p>
                      <a:pPr marL="0" indent="0" algn="ctr">
                        <a:buNone/>
                      </a:pPr>
                      <a:r>
                        <a:rPr lang="en-US" sz="1100" b="1" dirty="0">
                          <a:solidFill>
                            <a:srgbClr val="1A1A1A"/>
                          </a:solidFill>
                          <a:latin typeface="Times New Roman" pitchFamily="34" charset="0"/>
                          <a:ea typeface="Times New Roman" pitchFamily="34" charset="-122"/>
                          <a:cs typeface="Times New Roman" pitchFamily="34" charset="-120"/>
                        </a:rPr>
                        <a:t>Datasets</a:t>
                      </a:r>
                      <a:endParaRPr lang="en-US" sz="1100" dirty="0">
                        <a:latin typeface="Times New Roman" charset="0"/>
                        <a:ea typeface="Times New Roman" charset="0"/>
                        <a:cs typeface="Times New Roman" charset="0"/>
                      </a:endParaRPr>
                    </a:p>
                  </a:txBody>
                  <a:tcPr marL="41148" marR="41148" marT="34290" marB="3429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9E2F3"/>
                    </a:solidFill>
                  </a:tcPr>
                </a:tc>
                <a:tc>
                  <a:txBody>
                    <a:bodyPr/>
                    <a:lstStyle/>
                    <a:p>
                      <a:pPr marL="0" indent="0" algn="ctr">
                        <a:buNone/>
                      </a:pPr>
                      <a:r>
                        <a:rPr lang="en-US" sz="1100" b="1" dirty="0">
                          <a:solidFill>
                            <a:srgbClr val="1A1A1A"/>
                          </a:solidFill>
                          <a:latin typeface="Times New Roman" pitchFamily="34" charset="0"/>
                          <a:ea typeface="Times New Roman" pitchFamily="34" charset="-122"/>
                          <a:cs typeface="Times New Roman" pitchFamily="34" charset="-120"/>
                        </a:rPr>
                        <a:t>Gaps Addressed</a:t>
                      </a:r>
                      <a:endParaRPr lang="en-US" sz="1100" dirty="0">
                        <a:latin typeface="Times New Roman" charset="0"/>
                        <a:ea typeface="Times New Roman" charset="0"/>
                        <a:cs typeface="Times New Roman" charset="0"/>
                      </a:endParaRPr>
                    </a:p>
                  </a:txBody>
                  <a:tcPr marL="41148" marR="41148" marT="34290" marB="3429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9E2F3"/>
                    </a:solidFill>
                  </a:tcPr>
                </a:tc>
                <a:tc>
                  <a:txBody>
                    <a:bodyPr/>
                    <a:lstStyle/>
                    <a:p>
                      <a:pPr marL="0" indent="0" algn="ctr">
                        <a:buNone/>
                      </a:pPr>
                      <a:r>
                        <a:rPr lang="en-US" sz="1100" b="1" dirty="0">
                          <a:solidFill>
                            <a:srgbClr val="1A1A1A"/>
                          </a:solidFill>
                          <a:latin typeface="Times New Roman" pitchFamily="34" charset="0"/>
                          <a:ea typeface="Times New Roman" pitchFamily="34" charset="-122"/>
                          <a:cs typeface="Times New Roman" pitchFamily="34" charset="-120"/>
                        </a:rPr>
                        <a:t>Limitations</a:t>
                      </a:r>
                      <a:endParaRPr lang="en-US" sz="1100" dirty="0">
                        <a:latin typeface="Times New Roman" charset="0"/>
                        <a:ea typeface="Times New Roman" charset="0"/>
                        <a:cs typeface="Times New Roman" charset="0"/>
                      </a:endParaRPr>
                    </a:p>
                  </a:txBody>
                  <a:tcPr marL="41148" marR="41148" marT="34290" marB="3429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9E2F3"/>
                    </a:solidFill>
                  </a:tcPr>
                </a:tc>
                <a:extLst>
                  <a:ext uri="{0D108BD9-81ED-4DB2-BD59-A6C34878D82A}">
                    <a16:rowId xmlns:a16="http://schemas.microsoft.com/office/drawing/2014/main" val="10000"/>
                  </a:ext>
                </a:extLst>
              </a:tr>
              <a:tr h="1430502">
                <a:tc>
                  <a:txBody>
                    <a:bodyPr/>
                    <a:lstStyle/>
                    <a:p>
                      <a:pPr marL="0" indent="0" algn="ctr">
                        <a:buNone/>
                      </a:pPr>
                      <a:r>
                        <a:rPr lang="en-US" sz="1100" dirty="0">
                          <a:solidFill>
                            <a:srgbClr val="000000"/>
                          </a:solidFill>
                          <a:latin typeface="Times New Roman" pitchFamily="34" charset="0"/>
                          <a:ea typeface="Times New Roman" pitchFamily="34" charset="-122"/>
                          <a:cs typeface="Times New Roman" pitchFamily="34" charset="-120"/>
                        </a:rPr>
                        <a:t>7</a:t>
                      </a:r>
                      <a:endParaRPr lang="en-US" sz="1100" dirty="0">
                        <a:latin typeface="Times New Roman" charset="0"/>
                        <a:ea typeface="Times New Roman" charset="0"/>
                        <a:cs typeface="Times New Roman" charset="0"/>
                      </a:endParaRPr>
                    </a:p>
                  </a:txBody>
                  <a:tcPr marL="61722" marR="61722" marT="48006" marB="48006"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indent="0" algn="l">
                        <a:buNone/>
                      </a:pPr>
                      <a:r>
                        <a:rPr lang="en-US" sz="900" dirty="0">
                          <a:solidFill>
                            <a:srgbClr val="000000"/>
                          </a:solidFill>
                          <a:latin typeface="Times New Roman" pitchFamily="34" charset="0"/>
                          <a:ea typeface="Times New Roman" pitchFamily="34" charset="-122"/>
                          <a:cs typeface="Times New Roman" pitchFamily="34" charset="-120"/>
                        </a:rPr>
                        <a:t>Uncertainty-Aware Transformers: Conformal Prediction for Language Models</a:t>
                      </a:r>
                      <a:endParaRPr lang="en-US" sz="900" dirty="0">
                        <a:latin typeface="Times New Roman" charset="0"/>
                        <a:ea typeface="Times New Roman" charset="0"/>
                        <a:cs typeface="Times New Roman" charset="0"/>
                      </a:endParaRPr>
                    </a:p>
                  </a:txBody>
                  <a:tcPr marL="61722" marR="61722" marT="48006" marB="48006"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indent="0" algn="l">
                        <a:buNone/>
                      </a:pPr>
                      <a:r>
                        <a:rPr lang="en-US" sz="900" dirty="0">
                          <a:solidFill>
                            <a:srgbClr val="000000"/>
                          </a:solidFill>
                          <a:latin typeface="Times New Roman" pitchFamily="34" charset="0"/>
                          <a:ea typeface="Times New Roman" pitchFamily="34" charset="-122"/>
                          <a:cs typeface="Times New Roman" pitchFamily="34" charset="-120"/>
                        </a:rPr>
                        <a:t>Transactions on Machine Learning Research (TMLR), under review</a:t>
                      </a:r>
                      <a:endParaRPr lang="en-US" sz="900" dirty="0">
                        <a:latin typeface="Times New Roman" charset="0"/>
                        <a:ea typeface="Times New Roman" charset="0"/>
                        <a:cs typeface="Times New Roman" charset="0"/>
                      </a:endParaRPr>
                    </a:p>
                  </a:txBody>
                  <a:tcPr marL="61722" marR="61722" marT="48006" marB="48006"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indent="0" algn="l">
                        <a:buNone/>
                      </a:pPr>
                      <a:r>
                        <a:rPr lang="en-US" sz="900" dirty="0">
                          <a:solidFill>
                            <a:srgbClr val="000000"/>
                          </a:solidFill>
                          <a:latin typeface="Times New Roman" pitchFamily="34" charset="0"/>
                          <a:ea typeface="Times New Roman" pitchFamily="34" charset="-122"/>
                          <a:cs typeface="Times New Roman" pitchFamily="34" charset="-120"/>
                        </a:rPr>
                        <a:t>Transformers, conformal prediction, prediction sets</a:t>
                      </a:r>
                      <a:endParaRPr lang="en-US" sz="900" dirty="0">
                        <a:latin typeface="Times New Roman" charset="0"/>
                        <a:ea typeface="Times New Roman" charset="0"/>
                        <a:cs typeface="Times New Roman" charset="0"/>
                      </a:endParaRPr>
                    </a:p>
                  </a:txBody>
                  <a:tcPr marL="61722" marR="61722" marT="48006" marB="48006"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indent="0" algn="l">
                        <a:buNone/>
                      </a:pPr>
                      <a:r>
                        <a:rPr lang="en-US" sz="900" dirty="0">
                          <a:solidFill>
                            <a:srgbClr val="000000"/>
                          </a:solidFill>
                          <a:latin typeface="Times New Roman" pitchFamily="34" charset="0"/>
                          <a:ea typeface="Times New Roman" pitchFamily="34" charset="-122"/>
                          <a:cs typeface="Times New Roman" pitchFamily="34" charset="-120"/>
                        </a:rPr>
                        <a:t>Language-model datasets</a:t>
                      </a:r>
                      <a:endParaRPr lang="en-US" sz="900" dirty="0">
                        <a:latin typeface="Times New Roman" charset="0"/>
                        <a:ea typeface="Times New Roman" charset="0"/>
                        <a:cs typeface="Times New Roman" charset="0"/>
                      </a:endParaRPr>
                    </a:p>
                  </a:txBody>
                  <a:tcPr marL="61722" marR="61722" marT="48006" marB="48006"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indent="0" algn="l">
                        <a:spcAft>
                          <a:spcPts val="300"/>
                        </a:spcAft>
                        <a:buNone/>
                      </a:pPr>
                      <a:r>
                        <a:rPr lang="en-US" sz="900" dirty="0">
                          <a:solidFill>
                            <a:srgbClr val="000000"/>
                          </a:solidFill>
                          <a:latin typeface="Times New Roman" pitchFamily="34" charset="0"/>
                          <a:ea typeface="Times New Roman" pitchFamily="34" charset="-122"/>
                          <a:cs typeface="Times New Roman" pitchFamily="34" charset="-120"/>
                        </a:rPr>
                        <a:t>1. Studies uncertainty estimation.</a:t>
                      </a:r>
                      <a:endParaRPr lang="en-US" sz="900" dirty="0">
                        <a:latin typeface="Times New Roman" charset="0"/>
                        <a:ea typeface="Times New Roman" charset="0"/>
                        <a:cs typeface="Times New Roman" charset="0"/>
                      </a:endParaRPr>
                    </a:p>
                    <a:p>
                      <a:pPr marL="0" indent="0" algn="l">
                        <a:spcAft>
                          <a:spcPts val="300"/>
                        </a:spcAft>
                        <a:buNone/>
                      </a:pPr>
                      <a:r>
                        <a:rPr lang="en-US" sz="900" dirty="0">
                          <a:solidFill>
                            <a:srgbClr val="000000"/>
                          </a:solidFill>
                          <a:latin typeface="Times New Roman" pitchFamily="34" charset="0"/>
                          <a:ea typeface="Times New Roman" pitchFamily="34" charset="-122"/>
                          <a:cs typeface="Times New Roman" pitchFamily="34" charset="-120"/>
                        </a:rPr>
                        <a:t>2. Explores prediction sets for reliable outputs.</a:t>
                      </a:r>
                      <a:endParaRPr lang="en-US" sz="900" dirty="0">
                        <a:latin typeface="Times New Roman" charset="0"/>
                        <a:ea typeface="Times New Roman" charset="0"/>
                        <a:cs typeface="Times New Roman" charset="0"/>
                      </a:endParaRPr>
                    </a:p>
                  </a:txBody>
                  <a:tcPr marL="61722" marR="61722" marT="48006" marB="48006"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indent="0" algn="l">
                        <a:spcAft>
                          <a:spcPts val="300"/>
                        </a:spcAft>
                        <a:buNone/>
                      </a:pPr>
                      <a:r>
                        <a:rPr lang="en-US" sz="900" dirty="0">
                          <a:solidFill>
                            <a:srgbClr val="000000"/>
                          </a:solidFill>
                          <a:latin typeface="Times New Roman" pitchFamily="34" charset="0"/>
                          <a:ea typeface="Times New Roman" pitchFamily="34" charset="-122"/>
                          <a:cs typeface="Times New Roman" pitchFamily="34" charset="-120"/>
                        </a:rPr>
                        <a:t>1. Focuses on language models.</a:t>
                      </a:r>
                      <a:endParaRPr lang="en-US" sz="900" dirty="0">
                        <a:latin typeface="Times New Roman" charset="0"/>
                        <a:ea typeface="Times New Roman" charset="0"/>
                        <a:cs typeface="Times New Roman" charset="0"/>
                      </a:endParaRPr>
                    </a:p>
                    <a:p>
                      <a:pPr marL="0" indent="0" algn="l">
                        <a:spcAft>
                          <a:spcPts val="300"/>
                        </a:spcAft>
                        <a:buNone/>
                      </a:pPr>
                      <a:r>
                        <a:rPr lang="en-US" sz="900" dirty="0">
                          <a:solidFill>
                            <a:srgbClr val="000000"/>
                          </a:solidFill>
                          <a:latin typeface="Times New Roman" pitchFamily="34" charset="0"/>
                          <a:ea typeface="Times New Roman" pitchFamily="34" charset="-122"/>
                          <a:cs typeface="Times New Roman" pitchFamily="34" charset="-120"/>
                        </a:rPr>
                        <a:t>2. Requires adaptation to plant-image classification.</a:t>
                      </a:r>
                      <a:endParaRPr lang="en-US" sz="900" dirty="0">
                        <a:latin typeface="Times New Roman" charset="0"/>
                        <a:ea typeface="Times New Roman" charset="0"/>
                        <a:cs typeface="Times New Roman" charset="0"/>
                      </a:endParaRPr>
                    </a:p>
                    <a:p>
                      <a:pPr marL="0" indent="0" algn="l">
                        <a:spcAft>
                          <a:spcPts val="300"/>
                        </a:spcAft>
                        <a:buNone/>
                      </a:pPr>
                      <a:r>
                        <a:rPr lang="en-US" sz="900" dirty="0">
                          <a:solidFill>
                            <a:srgbClr val="000000"/>
                          </a:solidFill>
                          <a:latin typeface="Times New Roman" pitchFamily="34" charset="0"/>
                          <a:ea typeface="Times New Roman" pitchFamily="34" charset="-122"/>
                          <a:cs typeface="Times New Roman" pitchFamily="34" charset="-120"/>
                        </a:rPr>
                        <a:t>3. No agricultural evidence retrieval.</a:t>
                      </a:r>
                      <a:endParaRPr lang="en-US" sz="900" dirty="0">
                        <a:latin typeface="Times New Roman" charset="0"/>
                        <a:ea typeface="Times New Roman" charset="0"/>
                        <a:cs typeface="Times New Roman" charset="0"/>
                      </a:endParaRPr>
                    </a:p>
                  </a:txBody>
                  <a:tcPr marL="61722" marR="61722" marT="48006" marB="48006"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1"/>
                  </a:ext>
                </a:extLst>
              </a:tr>
              <a:tr h="1430502">
                <a:tc>
                  <a:txBody>
                    <a:bodyPr/>
                    <a:lstStyle/>
                    <a:p>
                      <a:pPr marL="0" indent="0" algn="ctr">
                        <a:buNone/>
                      </a:pPr>
                      <a:r>
                        <a:rPr lang="en-US" sz="1100" dirty="0">
                          <a:solidFill>
                            <a:srgbClr val="000000"/>
                          </a:solidFill>
                          <a:latin typeface="Times New Roman" pitchFamily="34" charset="0"/>
                          <a:ea typeface="Times New Roman" pitchFamily="34" charset="-122"/>
                          <a:cs typeface="Times New Roman" pitchFamily="34" charset="-120"/>
                        </a:rPr>
                        <a:t>8</a:t>
                      </a:r>
                      <a:endParaRPr lang="en-US" sz="1100" dirty="0">
                        <a:latin typeface="Times New Roman" charset="0"/>
                        <a:ea typeface="Times New Roman" charset="0"/>
                        <a:cs typeface="Times New Roman" charset="0"/>
                      </a:endParaRPr>
                    </a:p>
                  </a:txBody>
                  <a:tcPr marL="61722" marR="61722" marT="48006" marB="48006"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indent="0" algn="l">
                        <a:buNone/>
                      </a:pPr>
                      <a:r>
                        <a:rPr lang="en-US" sz="900" dirty="0">
                          <a:solidFill>
                            <a:srgbClr val="000000"/>
                          </a:solidFill>
                          <a:latin typeface="Times New Roman" pitchFamily="34" charset="0"/>
                          <a:ea typeface="Times New Roman" pitchFamily="34" charset="-122"/>
                          <a:cs typeface="Times New Roman" pitchFamily="34" charset="-120"/>
                        </a:rPr>
                        <a:t>Agentic AI for Smart and Sustainable Precision Agriculture</a:t>
                      </a:r>
                      <a:endParaRPr lang="en-US" sz="900" dirty="0">
                        <a:latin typeface="Times New Roman" charset="0"/>
                        <a:ea typeface="Times New Roman" charset="0"/>
                        <a:cs typeface="Times New Roman" charset="0"/>
                      </a:endParaRPr>
                    </a:p>
                  </a:txBody>
                  <a:tcPr marL="61722" marR="61722" marT="48006" marB="48006"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indent="0" algn="l">
                        <a:buNone/>
                      </a:pPr>
                      <a:r>
                        <a:rPr lang="en-US" sz="900" dirty="0">
                          <a:solidFill>
                            <a:srgbClr val="000000"/>
                          </a:solidFill>
                          <a:latin typeface="Times New Roman" pitchFamily="34" charset="0"/>
                          <a:ea typeface="Times New Roman" pitchFamily="34" charset="-122"/>
                          <a:cs typeface="Times New Roman" pitchFamily="34" charset="-120"/>
                        </a:rPr>
                        <a:t>Frontiers in Plant Science, Vol. 16, Article 1706428, 2026</a:t>
                      </a:r>
                      <a:endParaRPr lang="en-US" sz="900" dirty="0">
                        <a:latin typeface="Times New Roman" charset="0"/>
                        <a:ea typeface="Times New Roman" charset="0"/>
                        <a:cs typeface="Times New Roman" charset="0"/>
                      </a:endParaRPr>
                    </a:p>
                  </a:txBody>
                  <a:tcPr marL="61722" marR="61722" marT="48006" marB="48006"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indent="0" algn="l">
                        <a:buNone/>
                      </a:pPr>
                      <a:r>
                        <a:rPr lang="en-US" sz="900" dirty="0">
                          <a:solidFill>
                            <a:srgbClr val="000000"/>
                          </a:solidFill>
                          <a:latin typeface="Times New Roman" pitchFamily="34" charset="0"/>
                          <a:ea typeface="Times New Roman" pitchFamily="34" charset="-122"/>
                          <a:cs typeface="Times New Roman" pitchFamily="34" charset="-120"/>
                        </a:rPr>
                        <a:t>Agentic AI, federated learning, DenseNet121, MobileNetV2, EfficientDet-D0, YOLOv8</a:t>
                      </a:r>
                      <a:endParaRPr lang="en-US" sz="900" dirty="0">
                        <a:latin typeface="Times New Roman" charset="0"/>
                        <a:ea typeface="Times New Roman" charset="0"/>
                        <a:cs typeface="Times New Roman" charset="0"/>
                      </a:endParaRPr>
                    </a:p>
                  </a:txBody>
                  <a:tcPr marL="61722" marR="61722" marT="48006" marB="48006"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indent="0" algn="l">
                        <a:buNone/>
                      </a:pPr>
                      <a:r>
                        <a:rPr lang="en-US" sz="900" dirty="0">
                          <a:solidFill>
                            <a:srgbClr val="000000"/>
                          </a:solidFill>
                          <a:latin typeface="Times New Roman" pitchFamily="34" charset="0"/>
                          <a:ea typeface="Times New Roman" pitchFamily="34" charset="-122"/>
                          <a:cs typeface="Times New Roman" pitchFamily="34" charset="-120"/>
                        </a:rPr>
                        <a:t>Tomato disease and weed-detection datasets</a:t>
                      </a:r>
                      <a:endParaRPr lang="en-US" sz="900" dirty="0">
                        <a:latin typeface="Times New Roman" charset="0"/>
                        <a:ea typeface="Times New Roman" charset="0"/>
                        <a:cs typeface="Times New Roman" charset="0"/>
                      </a:endParaRPr>
                    </a:p>
                  </a:txBody>
                  <a:tcPr marL="61722" marR="61722" marT="48006" marB="48006"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indent="0" algn="l">
                        <a:spcAft>
                          <a:spcPts val="300"/>
                        </a:spcAft>
                        <a:buNone/>
                      </a:pPr>
                      <a:r>
                        <a:rPr lang="en-US" sz="900" dirty="0">
                          <a:solidFill>
                            <a:srgbClr val="000000"/>
                          </a:solidFill>
                          <a:latin typeface="Times New Roman" pitchFamily="34" charset="0"/>
                          <a:ea typeface="Times New Roman" pitchFamily="34" charset="-122"/>
                          <a:cs typeface="Times New Roman" pitchFamily="34" charset="-120"/>
                        </a:rPr>
                        <a:t>1. Explores agentic workflows in agriculture.</a:t>
                      </a:r>
                      <a:endParaRPr lang="en-US" sz="900" dirty="0">
                        <a:latin typeface="Times New Roman" charset="0"/>
                        <a:ea typeface="Times New Roman" charset="0"/>
                        <a:cs typeface="Times New Roman" charset="0"/>
                      </a:endParaRPr>
                    </a:p>
                    <a:p>
                      <a:pPr marL="0" indent="0" algn="l">
                        <a:spcAft>
                          <a:spcPts val="300"/>
                        </a:spcAft>
                        <a:buNone/>
                      </a:pPr>
                      <a:r>
                        <a:rPr lang="en-US" sz="900" dirty="0">
                          <a:solidFill>
                            <a:srgbClr val="000000"/>
                          </a:solidFill>
                          <a:latin typeface="Times New Roman" pitchFamily="34" charset="0"/>
                          <a:ea typeface="Times New Roman" pitchFamily="34" charset="-122"/>
                          <a:cs typeface="Times New Roman" pitchFamily="34" charset="-120"/>
                        </a:rPr>
                        <a:t>2. Studies distributed learning for agricultural monitoring.</a:t>
                      </a:r>
                      <a:endParaRPr lang="en-US" sz="900" dirty="0">
                        <a:latin typeface="Times New Roman" charset="0"/>
                        <a:ea typeface="Times New Roman" charset="0"/>
                        <a:cs typeface="Times New Roman" charset="0"/>
                      </a:endParaRPr>
                    </a:p>
                  </a:txBody>
                  <a:tcPr marL="61722" marR="61722" marT="48006" marB="48006"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indent="0" algn="l">
                        <a:spcAft>
                          <a:spcPts val="300"/>
                        </a:spcAft>
                        <a:buNone/>
                      </a:pPr>
                      <a:r>
                        <a:rPr lang="en-US" sz="900" dirty="0">
                          <a:solidFill>
                            <a:srgbClr val="000000"/>
                          </a:solidFill>
                          <a:latin typeface="Times New Roman" pitchFamily="34" charset="0"/>
                          <a:ea typeface="Times New Roman" pitchFamily="34" charset="-122"/>
                          <a:cs typeface="Times New Roman" pitchFamily="34" charset="-120"/>
                        </a:rPr>
                        <a:t>1. No integrated conformal abstention.</a:t>
                      </a:r>
                      <a:endParaRPr lang="en-US" sz="900" dirty="0">
                        <a:latin typeface="Times New Roman" charset="0"/>
                        <a:ea typeface="Times New Roman" charset="0"/>
                        <a:cs typeface="Times New Roman" charset="0"/>
                      </a:endParaRPr>
                    </a:p>
                    <a:p>
                      <a:pPr marL="0" indent="0" algn="l">
                        <a:spcAft>
                          <a:spcPts val="300"/>
                        </a:spcAft>
                        <a:buNone/>
                      </a:pPr>
                      <a:r>
                        <a:rPr lang="en-US" sz="900" dirty="0">
                          <a:solidFill>
                            <a:srgbClr val="000000"/>
                          </a:solidFill>
                          <a:latin typeface="Times New Roman" pitchFamily="34" charset="0"/>
                          <a:ea typeface="Times New Roman" pitchFamily="34" charset="-122"/>
                          <a:cs typeface="Times New Roman" pitchFamily="34" charset="-120"/>
                        </a:rPr>
                        <a:t>2. Limited uncertainty-aware diagnosis.</a:t>
                      </a:r>
                      <a:endParaRPr lang="en-US" sz="900" dirty="0">
                        <a:latin typeface="Times New Roman" charset="0"/>
                        <a:ea typeface="Times New Roman" charset="0"/>
                        <a:cs typeface="Times New Roman" charset="0"/>
                      </a:endParaRPr>
                    </a:p>
                    <a:p>
                      <a:pPr marL="0" indent="0" algn="l">
                        <a:spcAft>
                          <a:spcPts val="300"/>
                        </a:spcAft>
                        <a:buNone/>
                      </a:pPr>
                      <a:r>
                        <a:rPr lang="en-US" sz="900" dirty="0">
                          <a:solidFill>
                            <a:srgbClr val="000000"/>
                          </a:solidFill>
                          <a:latin typeface="Times New Roman" pitchFamily="34" charset="0"/>
                          <a:ea typeface="Times New Roman" pitchFamily="34" charset="-122"/>
                          <a:cs typeface="Times New Roman" pitchFamily="34" charset="-120"/>
                        </a:rPr>
                        <a:t>3. No dedicated disease-evidence validation workflow.</a:t>
                      </a:r>
                      <a:endParaRPr lang="en-US" sz="900" dirty="0">
                        <a:latin typeface="Times New Roman" charset="0"/>
                        <a:ea typeface="Times New Roman" charset="0"/>
                        <a:cs typeface="Times New Roman" charset="0"/>
                      </a:endParaRPr>
                    </a:p>
                  </a:txBody>
                  <a:tcPr marL="61722" marR="61722" marT="48006" marB="48006"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2"/>
                  </a:ext>
                </a:extLst>
              </a:tr>
              <a:tr h="1513417">
                <a:tc>
                  <a:txBody>
                    <a:bodyPr/>
                    <a:lstStyle/>
                    <a:p>
                      <a:pPr marL="0" indent="0" algn="ctr">
                        <a:buNone/>
                      </a:pPr>
                      <a:r>
                        <a:rPr lang="en-US" sz="1100" dirty="0">
                          <a:solidFill>
                            <a:srgbClr val="000000"/>
                          </a:solidFill>
                          <a:latin typeface="Times New Roman" pitchFamily="34" charset="0"/>
                          <a:ea typeface="Times New Roman" pitchFamily="34" charset="-122"/>
                          <a:cs typeface="Times New Roman" pitchFamily="34" charset="-120"/>
                        </a:rPr>
                        <a:t>9</a:t>
                      </a:r>
                      <a:endParaRPr lang="en-US" sz="1100" dirty="0">
                        <a:latin typeface="Times New Roman" charset="0"/>
                        <a:ea typeface="Times New Roman" charset="0"/>
                        <a:cs typeface="Times New Roman" charset="0"/>
                      </a:endParaRPr>
                    </a:p>
                  </a:txBody>
                  <a:tcPr marL="61722" marR="61722" marT="48006" marB="48006"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indent="0" algn="l">
                        <a:buNone/>
                      </a:pPr>
                      <a:r>
                        <a:rPr lang="en-US" sz="900" dirty="0">
                          <a:solidFill>
                            <a:srgbClr val="000000"/>
                          </a:solidFill>
                          <a:latin typeface="Times New Roman" pitchFamily="34" charset="0"/>
                          <a:ea typeface="Times New Roman" pitchFamily="34" charset="-122"/>
                          <a:cs typeface="Times New Roman" pitchFamily="34" charset="-120"/>
                        </a:rPr>
                        <a:t>Recent Advances in Plant Disease Detection: Challenges and Future Directions</a:t>
                      </a:r>
                      <a:endParaRPr lang="en-US" sz="900" dirty="0">
                        <a:latin typeface="Times New Roman" charset="0"/>
                        <a:ea typeface="Times New Roman" charset="0"/>
                        <a:cs typeface="Times New Roman" charset="0"/>
                      </a:endParaRPr>
                    </a:p>
                  </a:txBody>
                  <a:tcPr marL="61722" marR="61722" marT="48006" marB="48006"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indent="0" algn="l">
                        <a:buNone/>
                      </a:pPr>
                      <a:r>
                        <a:rPr lang="en-US" sz="900" dirty="0">
                          <a:solidFill>
                            <a:srgbClr val="000000"/>
                          </a:solidFill>
                          <a:latin typeface="Times New Roman" pitchFamily="34" charset="0"/>
                          <a:ea typeface="Times New Roman" pitchFamily="34" charset="-122"/>
                          <a:cs typeface="Times New Roman" pitchFamily="34" charset="-120"/>
                        </a:rPr>
                        <a:t>Plant Methods, Vol. 21, 2025</a:t>
                      </a:r>
                      <a:endParaRPr lang="en-US" sz="900" dirty="0">
                        <a:latin typeface="Times New Roman" charset="0"/>
                        <a:ea typeface="Times New Roman" charset="0"/>
                        <a:cs typeface="Times New Roman" charset="0"/>
                      </a:endParaRPr>
                    </a:p>
                  </a:txBody>
                  <a:tcPr marL="61722" marR="61722" marT="48006" marB="48006"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indent="0" algn="l">
                        <a:buNone/>
                      </a:pPr>
                      <a:r>
                        <a:rPr lang="en-US" sz="900" dirty="0">
                          <a:solidFill>
                            <a:srgbClr val="000000"/>
                          </a:solidFill>
                          <a:latin typeface="Times New Roman" pitchFamily="34" charset="0"/>
                          <a:ea typeface="Times New Roman" pitchFamily="34" charset="-122"/>
                          <a:cs typeface="Times New Roman" pitchFamily="34" charset="-120"/>
                        </a:rPr>
                        <a:t>Classical ML, CNNs, Vision Transformers, RGB and hyperspectral imaging</a:t>
                      </a:r>
                      <a:endParaRPr lang="en-US" sz="900" dirty="0">
                        <a:latin typeface="Times New Roman" charset="0"/>
                        <a:ea typeface="Times New Roman" charset="0"/>
                        <a:cs typeface="Times New Roman" charset="0"/>
                      </a:endParaRPr>
                    </a:p>
                  </a:txBody>
                  <a:tcPr marL="61722" marR="61722" marT="48006" marB="48006"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indent="0" algn="l">
                        <a:buNone/>
                      </a:pPr>
                      <a:r>
                        <a:rPr lang="en-US" sz="900" dirty="0">
                          <a:solidFill>
                            <a:srgbClr val="000000"/>
                          </a:solidFill>
                          <a:latin typeface="Times New Roman" pitchFamily="34" charset="0"/>
                          <a:ea typeface="Times New Roman" pitchFamily="34" charset="-122"/>
                          <a:cs typeface="Times New Roman" pitchFamily="34" charset="-120"/>
                        </a:rPr>
                        <a:t>Review of 11 plant-disease datasets</a:t>
                      </a:r>
                      <a:endParaRPr lang="en-US" sz="900" dirty="0">
                        <a:latin typeface="Times New Roman" charset="0"/>
                        <a:ea typeface="Times New Roman" charset="0"/>
                        <a:cs typeface="Times New Roman" charset="0"/>
                      </a:endParaRPr>
                    </a:p>
                  </a:txBody>
                  <a:tcPr marL="61722" marR="61722" marT="48006" marB="48006"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indent="0" algn="l">
                        <a:spcAft>
                          <a:spcPts val="300"/>
                        </a:spcAft>
                        <a:buNone/>
                      </a:pPr>
                      <a:r>
                        <a:rPr lang="en-US" sz="900" dirty="0">
                          <a:solidFill>
                            <a:srgbClr val="000000"/>
                          </a:solidFill>
                          <a:latin typeface="Times New Roman" pitchFamily="34" charset="0"/>
                          <a:ea typeface="Times New Roman" pitchFamily="34" charset="-122"/>
                          <a:cs typeface="Times New Roman" pitchFamily="34" charset="-120"/>
                        </a:rPr>
                        <a:t>1. Reviews detection methods and dataset challenges.</a:t>
                      </a:r>
                      <a:endParaRPr lang="en-US" sz="900" dirty="0">
                        <a:latin typeface="Times New Roman" charset="0"/>
                        <a:ea typeface="Times New Roman" charset="0"/>
                        <a:cs typeface="Times New Roman" charset="0"/>
                      </a:endParaRPr>
                    </a:p>
                    <a:p>
                      <a:pPr marL="0" indent="0" algn="l">
                        <a:spcAft>
                          <a:spcPts val="300"/>
                        </a:spcAft>
                        <a:buNone/>
                      </a:pPr>
                      <a:r>
                        <a:rPr lang="en-US" sz="900" dirty="0">
                          <a:solidFill>
                            <a:srgbClr val="000000"/>
                          </a:solidFill>
                          <a:latin typeface="Times New Roman" pitchFamily="34" charset="0"/>
                          <a:ea typeface="Times New Roman" pitchFamily="34" charset="-122"/>
                          <a:cs typeface="Times New Roman" pitchFamily="34" charset="-120"/>
                        </a:rPr>
                        <a:t>2. Examines field generalization and deployment.</a:t>
                      </a:r>
                      <a:endParaRPr lang="en-US" sz="900" dirty="0">
                        <a:latin typeface="Times New Roman" charset="0"/>
                        <a:ea typeface="Times New Roman" charset="0"/>
                        <a:cs typeface="Times New Roman" charset="0"/>
                      </a:endParaRPr>
                    </a:p>
                  </a:txBody>
                  <a:tcPr marL="61722" marR="61722" marT="48006" marB="48006"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indent="0" algn="l">
                        <a:spcAft>
                          <a:spcPts val="300"/>
                        </a:spcAft>
                        <a:buNone/>
                      </a:pPr>
                      <a:r>
                        <a:rPr lang="en-US" sz="900" dirty="0">
                          <a:solidFill>
                            <a:srgbClr val="000000"/>
                          </a:solidFill>
                          <a:latin typeface="Times New Roman" pitchFamily="34" charset="0"/>
                          <a:ea typeface="Times New Roman" pitchFamily="34" charset="-122"/>
                          <a:cs typeface="Times New Roman" pitchFamily="34" charset="-120"/>
                        </a:rPr>
                        <a:t>1. Review-based, not an implemented prediction system.</a:t>
                      </a:r>
                      <a:endParaRPr lang="en-US" sz="900" dirty="0">
                        <a:latin typeface="Times New Roman" charset="0"/>
                        <a:ea typeface="Times New Roman" charset="0"/>
                        <a:cs typeface="Times New Roman" charset="0"/>
                      </a:endParaRPr>
                    </a:p>
                    <a:p>
                      <a:pPr marL="0" indent="0" algn="l">
                        <a:spcAft>
                          <a:spcPts val="300"/>
                        </a:spcAft>
                        <a:buNone/>
                      </a:pPr>
                      <a:r>
                        <a:rPr lang="en-US" sz="900" dirty="0">
                          <a:solidFill>
                            <a:srgbClr val="000000"/>
                          </a:solidFill>
                          <a:latin typeface="Times New Roman" pitchFamily="34" charset="0"/>
                          <a:ea typeface="Times New Roman" pitchFamily="34" charset="-122"/>
                          <a:cs typeface="Times New Roman" pitchFamily="34" charset="-120"/>
                        </a:rPr>
                        <a:t>2. No integrated selective prediction or agentic retrieval.</a:t>
                      </a:r>
                      <a:endParaRPr lang="en-US" sz="900" dirty="0">
                        <a:latin typeface="Times New Roman" charset="0"/>
                        <a:ea typeface="Times New Roman" charset="0"/>
                        <a:cs typeface="Times New Roman" charset="0"/>
                      </a:endParaRPr>
                    </a:p>
                  </a:txBody>
                  <a:tcPr marL="61722" marR="61722" marT="48006" marB="48006"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3"/>
                  </a:ext>
                </a:extLst>
              </a:tr>
            </a:tbl>
          </a:graphicData>
        </a:graphic>
      </p:graphicFrame>
      <p:sp>
        <p:nvSpPr>
          <p:cNvPr id="5" name="Text 1">
            <a:extLst>
              <a:ext uri="{FF2B5EF4-FFF2-40B4-BE49-F238E27FC236}">
                <a16:creationId xmlns:a16="http://schemas.microsoft.com/office/drawing/2014/main" id="{64EB08DE-4DB0-1A41-9BCF-39AB073B8AFC}"/>
              </a:ext>
            </a:extLst>
          </p:cNvPr>
          <p:cNvSpPr txBox="1"/>
          <p:nvPr/>
        </p:nvSpPr>
        <p:spPr>
          <a:xfrm>
            <a:off x="240030" y="982980"/>
            <a:ext cx="8558784" cy="365760"/>
          </a:xfrm>
          <a:prstGeom prst="rect">
            <a:avLst/>
          </a:prstGeom>
          <a:noFill/>
          <a:ln/>
        </p:spPr>
        <p:txBody>
          <a:bodyPr wrap="square" lIns="0" tIns="0" rIns="0" bIns="0" rtlCol="0" anchor="ctr"/>
          <a:lstStyle/>
          <a:p>
            <a:pPr marL="0" indent="0" algn="ctr">
              <a:buNone/>
            </a:pPr>
            <a:r>
              <a:rPr lang="en-US" sz="1800" dirty="0">
                <a:solidFill>
                  <a:srgbClr val="000000"/>
                </a:solidFill>
                <a:latin typeface="Times New Roman" pitchFamily="34" charset="0"/>
                <a:ea typeface="Times New Roman" pitchFamily="34" charset="-122"/>
                <a:cs typeface="Times New Roman" pitchFamily="34" charset="-120"/>
              </a:rPr>
              <a:t>Table no. 3: Summary of existing implementations</a:t>
            </a:r>
            <a:endParaRPr lang="en-US" sz="1800" dirty="0"/>
          </a:p>
        </p:txBody>
      </p:sp>
      <p:sp>
        <p:nvSpPr>
          <p:cNvPr id="7" name="Text 3">
            <a:extLst>
              <a:ext uri="{FF2B5EF4-FFF2-40B4-BE49-F238E27FC236}">
                <a16:creationId xmlns:a16="http://schemas.microsoft.com/office/drawing/2014/main" id="{D82AB4B2-EC04-2665-E533-C32A5169BB3A}"/>
              </a:ext>
            </a:extLst>
          </p:cNvPr>
          <p:cNvSpPr txBox="1"/>
          <p:nvPr/>
        </p:nvSpPr>
        <p:spPr>
          <a:xfrm>
            <a:off x="8288592" y="6355080"/>
            <a:ext cx="457200" cy="365760"/>
          </a:xfrm>
          <a:prstGeom prst="rect">
            <a:avLst/>
          </a:prstGeom>
          <a:noFill/>
          <a:ln/>
        </p:spPr>
        <p:txBody>
          <a:bodyPr wrap="square" lIns="0" tIns="0" rIns="0" bIns="0" rtlCol="0" anchor="ctr"/>
          <a:lstStyle/>
          <a:p>
            <a:pPr marL="0" indent="0" algn="r">
              <a:buNone/>
            </a:pPr>
            <a:r>
              <a:rPr lang="en-US" sz="1200" b="1" dirty="0">
                <a:solidFill>
                  <a:srgbClr val="333333"/>
                </a:solidFill>
                <a:latin typeface="Times New Roman" pitchFamily="34" charset="0"/>
                <a:cs typeface="Times New Roman" pitchFamily="34" charset="-120"/>
              </a:rPr>
              <a:t>27</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txBox="1"/>
          <p:nvPr/>
        </p:nvSpPr>
        <p:spPr>
          <a:xfrm>
            <a:off x="342900" y="463222"/>
            <a:ext cx="8455914" cy="480060"/>
          </a:xfrm>
          <a:prstGeom prst="rect">
            <a:avLst/>
          </a:prstGeom>
          <a:noFill/>
          <a:ln/>
        </p:spPr>
        <p:txBody>
          <a:bodyPr wrap="square" lIns="0" tIns="0" rIns="0" bIns="0" rtlCol="0" anchor="ctr"/>
          <a:lstStyle/>
          <a:p>
            <a:r>
              <a:rPr lang="en-US" sz="2400" b="1" dirty="0">
                <a:solidFill>
                  <a:srgbClr val="8B4513"/>
                </a:solidFill>
                <a:latin typeface="Times New Roman" pitchFamily="34" charset="0"/>
                <a:ea typeface="Times New Roman" pitchFamily="34" charset="-122"/>
                <a:cs typeface="Times New Roman" pitchFamily="34" charset="-120"/>
              </a:rPr>
              <a:t>10. Study on Existing Technologies — IV</a:t>
            </a:r>
            <a:endParaRPr lang="en-US" sz="2400" dirty="0"/>
          </a:p>
        </p:txBody>
      </p:sp>
      <p:graphicFrame>
        <p:nvGraphicFramePr>
          <p:cNvPr id="3" name="Table 0"/>
          <p:cNvGraphicFramePr>
            <a:graphicFrameLocks noGrp="1"/>
          </p:cNvGraphicFramePr>
          <p:nvPr>
            <p:extLst>
              <p:ext uri="{D42A27DB-BD31-4B8C-83A1-F6EECF244321}">
                <p14:modId xmlns:p14="http://schemas.microsoft.com/office/powerpoint/2010/main" val="1438529203"/>
              </p:ext>
            </p:extLst>
          </p:nvPr>
        </p:nvGraphicFramePr>
        <p:xfrm>
          <a:off x="342900" y="1494503"/>
          <a:ext cx="8455914" cy="4900274"/>
        </p:xfrm>
        <a:graphic>
          <a:graphicData uri="http://schemas.openxmlformats.org/drawingml/2006/table">
            <a:tbl>
              <a:tblPr/>
              <a:tblGrid>
                <a:gridCol w="480060">
                  <a:extLst>
                    <a:ext uri="{9D8B030D-6E8A-4147-A177-3AD203B41FA5}">
                      <a16:colId xmlns:a16="http://schemas.microsoft.com/office/drawing/2014/main" val="20000"/>
                    </a:ext>
                  </a:extLst>
                </a:gridCol>
                <a:gridCol w="1851660">
                  <a:extLst>
                    <a:ext uri="{9D8B030D-6E8A-4147-A177-3AD203B41FA5}">
                      <a16:colId xmlns:a16="http://schemas.microsoft.com/office/drawing/2014/main" val="20001"/>
                    </a:ext>
                  </a:extLst>
                </a:gridCol>
                <a:gridCol w="1303020">
                  <a:extLst>
                    <a:ext uri="{9D8B030D-6E8A-4147-A177-3AD203B41FA5}">
                      <a16:colId xmlns:a16="http://schemas.microsoft.com/office/drawing/2014/main" val="20002"/>
                    </a:ext>
                  </a:extLst>
                </a:gridCol>
                <a:gridCol w="1165860">
                  <a:extLst>
                    <a:ext uri="{9D8B030D-6E8A-4147-A177-3AD203B41FA5}">
                      <a16:colId xmlns:a16="http://schemas.microsoft.com/office/drawing/2014/main" val="20003"/>
                    </a:ext>
                  </a:extLst>
                </a:gridCol>
                <a:gridCol w="1097280">
                  <a:extLst>
                    <a:ext uri="{9D8B030D-6E8A-4147-A177-3AD203B41FA5}">
                      <a16:colId xmlns:a16="http://schemas.microsoft.com/office/drawing/2014/main" val="20004"/>
                    </a:ext>
                  </a:extLst>
                </a:gridCol>
                <a:gridCol w="1371600">
                  <a:extLst>
                    <a:ext uri="{9D8B030D-6E8A-4147-A177-3AD203B41FA5}">
                      <a16:colId xmlns:a16="http://schemas.microsoft.com/office/drawing/2014/main" val="20005"/>
                    </a:ext>
                  </a:extLst>
                </a:gridCol>
                <a:gridCol w="1186434">
                  <a:extLst>
                    <a:ext uri="{9D8B030D-6E8A-4147-A177-3AD203B41FA5}">
                      <a16:colId xmlns:a16="http://schemas.microsoft.com/office/drawing/2014/main" val="20006"/>
                    </a:ext>
                  </a:extLst>
                </a:gridCol>
              </a:tblGrid>
              <a:tr h="502592">
                <a:tc>
                  <a:txBody>
                    <a:bodyPr/>
                    <a:lstStyle/>
                    <a:p>
                      <a:pPr marL="0" indent="0" algn="ctr">
                        <a:buNone/>
                      </a:pPr>
                      <a:r>
                        <a:rPr lang="en-US" sz="1100" b="1" dirty="0">
                          <a:solidFill>
                            <a:srgbClr val="1A1A1A"/>
                          </a:solidFill>
                          <a:latin typeface="Times New Roman" pitchFamily="34" charset="0"/>
                          <a:ea typeface="Times New Roman" pitchFamily="34" charset="-122"/>
                          <a:cs typeface="Times New Roman" pitchFamily="34" charset="-120"/>
                        </a:rPr>
                        <a:t>S. No.</a:t>
                      </a:r>
                      <a:endParaRPr lang="en-US" sz="1100" dirty="0">
                        <a:latin typeface="Times New Roman" charset="0"/>
                        <a:ea typeface="Times New Roman" charset="0"/>
                        <a:cs typeface="Times New Roman" charset="0"/>
                      </a:endParaRPr>
                    </a:p>
                  </a:txBody>
                  <a:tcPr marL="41148" marR="41148" marT="34290" marB="3429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9E2F3"/>
                    </a:solidFill>
                  </a:tcPr>
                </a:tc>
                <a:tc>
                  <a:txBody>
                    <a:bodyPr/>
                    <a:lstStyle/>
                    <a:p>
                      <a:pPr marL="0" indent="0" algn="ctr">
                        <a:buNone/>
                      </a:pPr>
                      <a:r>
                        <a:rPr lang="en-US" sz="1100" b="1" dirty="0">
                          <a:solidFill>
                            <a:srgbClr val="1A1A1A"/>
                          </a:solidFill>
                          <a:latin typeface="Times New Roman" pitchFamily="34" charset="0"/>
                          <a:ea typeface="Times New Roman" pitchFamily="34" charset="-122"/>
                          <a:cs typeface="Times New Roman" pitchFamily="34" charset="-120"/>
                        </a:rPr>
                        <a:t>Article Title</a:t>
                      </a:r>
                      <a:endParaRPr lang="en-US" sz="1100" dirty="0">
                        <a:latin typeface="Times New Roman" charset="0"/>
                        <a:ea typeface="Times New Roman" charset="0"/>
                        <a:cs typeface="Times New Roman" charset="0"/>
                      </a:endParaRPr>
                    </a:p>
                  </a:txBody>
                  <a:tcPr marL="41148" marR="41148" marT="34290" marB="3429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9E2F3"/>
                    </a:solidFill>
                  </a:tcPr>
                </a:tc>
                <a:tc>
                  <a:txBody>
                    <a:bodyPr/>
                    <a:lstStyle/>
                    <a:p>
                      <a:pPr marL="0" indent="0" algn="ctr">
                        <a:buNone/>
                      </a:pPr>
                      <a:r>
                        <a:rPr lang="en-US" sz="1100" b="1" dirty="0">
                          <a:solidFill>
                            <a:srgbClr val="1A1A1A"/>
                          </a:solidFill>
                          <a:latin typeface="Times New Roman" pitchFamily="34" charset="0"/>
                          <a:ea typeface="Times New Roman" pitchFamily="34" charset="-122"/>
                          <a:cs typeface="Times New Roman" pitchFamily="34" charset="-120"/>
                        </a:rPr>
                        <a:t>Journal Details</a:t>
                      </a:r>
                      <a:endParaRPr lang="en-US" sz="1100" dirty="0">
                        <a:latin typeface="Times New Roman" charset="0"/>
                        <a:ea typeface="Times New Roman" charset="0"/>
                        <a:cs typeface="Times New Roman" charset="0"/>
                      </a:endParaRPr>
                    </a:p>
                  </a:txBody>
                  <a:tcPr marL="41148" marR="41148" marT="34290" marB="3429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9E2F3"/>
                    </a:solidFill>
                  </a:tcPr>
                </a:tc>
                <a:tc>
                  <a:txBody>
                    <a:bodyPr/>
                    <a:lstStyle/>
                    <a:p>
                      <a:pPr marL="0" indent="0" algn="ctr">
                        <a:buNone/>
                      </a:pPr>
                      <a:r>
                        <a:rPr lang="en-US" sz="1100" b="1" dirty="0">
                          <a:solidFill>
                            <a:srgbClr val="1A1A1A"/>
                          </a:solidFill>
                          <a:latin typeface="Times New Roman" pitchFamily="34" charset="0"/>
                          <a:ea typeface="Times New Roman" pitchFamily="34" charset="-122"/>
                          <a:cs typeface="Times New Roman" pitchFamily="34" charset="-120"/>
                        </a:rPr>
                        <a:t>Algorithms / Models</a:t>
                      </a:r>
                      <a:endParaRPr lang="en-US" sz="1100" dirty="0">
                        <a:latin typeface="Times New Roman" charset="0"/>
                        <a:ea typeface="Times New Roman" charset="0"/>
                        <a:cs typeface="Times New Roman" charset="0"/>
                      </a:endParaRPr>
                    </a:p>
                  </a:txBody>
                  <a:tcPr marL="41148" marR="41148" marT="34290" marB="3429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9E2F3"/>
                    </a:solidFill>
                  </a:tcPr>
                </a:tc>
                <a:tc>
                  <a:txBody>
                    <a:bodyPr/>
                    <a:lstStyle/>
                    <a:p>
                      <a:pPr marL="0" indent="0" algn="ctr">
                        <a:buNone/>
                      </a:pPr>
                      <a:r>
                        <a:rPr lang="en-US" sz="1100" b="1" dirty="0">
                          <a:solidFill>
                            <a:srgbClr val="1A1A1A"/>
                          </a:solidFill>
                          <a:latin typeface="Times New Roman" pitchFamily="34" charset="0"/>
                          <a:ea typeface="Times New Roman" pitchFamily="34" charset="-122"/>
                          <a:cs typeface="Times New Roman" pitchFamily="34" charset="-120"/>
                        </a:rPr>
                        <a:t>Datasets</a:t>
                      </a:r>
                      <a:endParaRPr lang="en-US" sz="1100" dirty="0">
                        <a:latin typeface="Times New Roman" charset="0"/>
                        <a:ea typeface="Times New Roman" charset="0"/>
                        <a:cs typeface="Times New Roman" charset="0"/>
                      </a:endParaRPr>
                    </a:p>
                  </a:txBody>
                  <a:tcPr marL="41148" marR="41148" marT="34290" marB="3429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9E2F3"/>
                    </a:solidFill>
                  </a:tcPr>
                </a:tc>
                <a:tc>
                  <a:txBody>
                    <a:bodyPr/>
                    <a:lstStyle/>
                    <a:p>
                      <a:pPr marL="0" indent="0" algn="ctr">
                        <a:buNone/>
                      </a:pPr>
                      <a:r>
                        <a:rPr lang="en-US" sz="1100" b="1" dirty="0">
                          <a:solidFill>
                            <a:srgbClr val="1A1A1A"/>
                          </a:solidFill>
                          <a:latin typeface="Times New Roman" pitchFamily="34" charset="0"/>
                          <a:ea typeface="Times New Roman" pitchFamily="34" charset="-122"/>
                          <a:cs typeface="Times New Roman" pitchFamily="34" charset="-120"/>
                        </a:rPr>
                        <a:t>Gaps Addressed</a:t>
                      </a:r>
                      <a:endParaRPr lang="en-US" sz="1100" dirty="0">
                        <a:latin typeface="Times New Roman" charset="0"/>
                        <a:ea typeface="Times New Roman" charset="0"/>
                        <a:cs typeface="Times New Roman" charset="0"/>
                      </a:endParaRPr>
                    </a:p>
                  </a:txBody>
                  <a:tcPr marL="41148" marR="41148" marT="34290" marB="3429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9E2F3"/>
                    </a:solidFill>
                  </a:tcPr>
                </a:tc>
                <a:tc>
                  <a:txBody>
                    <a:bodyPr/>
                    <a:lstStyle/>
                    <a:p>
                      <a:pPr marL="0" indent="0" algn="ctr">
                        <a:buNone/>
                      </a:pPr>
                      <a:r>
                        <a:rPr lang="en-US" sz="1100" b="1" dirty="0">
                          <a:solidFill>
                            <a:srgbClr val="1A1A1A"/>
                          </a:solidFill>
                          <a:latin typeface="Times New Roman" pitchFamily="34" charset="0"/>
                          <a:ea typeface="Times New Roman" pitchFamily="34" charset="-122"/>
                          <a:cs typeface="Times New Roman" pitchFamily="34" charset="-120"/>
                        </a:rPr>
                        <a:t>Limitations</a:t>
                      </a:r>
                      <a:endParaRPr lang="en-US" sz="1100" dirty="0">
                        <a:latin typeface="Times New Roman" charset="0"/>
                        <a:ea typeface="Times New Roman" charset="0"/>
                        <a:cs typeface="Times New Roman" charset="0"/>
                      </a:endParaRPr>
                    </a:p>
                  </a:txBody>
                  <a:tcPr marL="41148" marR="41148" marT="34290" marB="3429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9E2F3"/>
                    </a:solidFill>
                  </a:tcPr>
                </a:tc>
                <a:extLst>
                  <a:ext uri="{0D108BD9-81ED-4DB2-BD59-A6C34878D82A}">
                    <a16:rowId xmlns:a16="http://schemas.microsoft.com/office/drawing/2014/main" val="10000"/>
                  </a:ext>
                </a:extLst>
              </a:tr>
              <a:tr h="1465894">
                <a:tc>
                  <a:txBody>
                    <a:bodyPr/>
                    <a:lstStyle/>
                    <a:p>
                      <a:pPr marL="0" indent="0" algn="ctr">
                        <a:buNone/>
                      </a:pPr>
                      <a:r>
                        <a:rPr lang="en-US" sz="1100" dirty="0">
                          <a:solidFill>
                            <a:srgbClr val="000000"/>
                          </a:solidFill>
                          <a:latin typeface="Times New Roman" pitchFamily="34" charset="0"/>
                          <a:ea typeface="Times New Roman" pitchFamily="34" charset="-122"/>
                          <a:cs typeface="Times New Roman" pitchFamily="34" charset="-120"/>
                        </a:rPr>
                        <a:t>10</a:t>
                      </a:r>
                      <a:endParaRPr lang="en-US" sz="1100" dirty="0">
                        <a:latin typeface="Times New Roman" charset="0"/>
                        <a:ea typeface="Times New Roman" charset="0"/>
                        <a:cs typeface="Times New Roman" charset="0"/>
                      </a:endParaRPr>
                    </a:p>
                  </a:txBody>
                  <a:tcPr marL="61722" marR="61722" marT="48006" marB="48006"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indent="0" algn="l">
                        <a:buNone/>
                      </a:pPr>
                      <a:r>
                        <a:rPr lang="en-US" sz="900" dirty="0">
                          <a:solidFill>
                            <a:srgbClr val="000000"/>
                          </a:solidFill>
                          <a:latin typeface="Times New Roman" pitchFamily="34" charset="0"/>
                          <a:ea typeface="Times New Roman" pitchFamily="34" charset="-122"/>
                          <a:cs typeface="Times New Roman" pitchFamily="34" charset="-120"/>
                        </a:rPr>
                        <a:t>Rethinking Plant Disease Diagnosis: Bridging the Academic-Practical Gap with Vision Transformers and Zero-Shot Learning</a:t>
                      </a:r>
                      <a:endParaRPr lang="en-US" sz="900" dirty="0">
                        <a:latin typeface="Times New Roman" charset="0"/>
                        <a:ea typeface="Times New Roman" charset="0"/>
                        <a:cs typeface="Times New Roman" charset="0"/>
                      </a:endParaRPr>
                    </a:p>
                  </a:txBody>
                  <a:tcPr marL="61722" marR="61722" marT="48006" marB="48006"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indent="0" algn="l">
                        <a:buNone/>
                      </a:pPr>
                      <a:r>
                        <a:rPr lang="en-US" sz="900" dirty="0">
                          <a:solidFill>
                            <a:srgbClr val="000000"/>
                          </a:solidFill>
                          <a:latin typeface="Times New Roman" pitchFamily="34" charset="0"/>
                          <a:ea typeface="Times New Roman" pitchFamily="34" charset="-122"/>
                          <a:cs typeface="Times New Roman" pitchFamily="34" charset="-120"/>
                        </a:rPr>
                        <a:t>arXiv preprint, arXiv:2511.18989, 2025</a:t>
                      </a:r>
                      <a:endParaRPr lang="en-US" sz="900" dirty="0">
                        <a:latin typeface="Times New Roman" charset="0"/>
                        <a:ea typeface="Times New Roman" charset="0"/>
                        <a:cs typeface="Times New Roman" charset="0"/>
                      </a:endParaRPr>
                    </a:p>
                  </a:txBody>
                  <a:tcPr marL="61722" marR="61722" marT="48006" marB="48006"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indent="0" algn="l">
                        <a:buNone/>
                      </a:pPr>
                      <a:r>
                        <a:rPr lang="en-US" sz="900" dirty="0">
                          <a:solidFill>
                            <a:srgbClr val="000000"/>
                          </a:solidFill>
                          <a:latin typeface="Times New Roman" pitchFamily="34" charset="0"/>
                          <a:ea typeface="Times New Roman" pitchFamily="34" charset="-122"/>
                          <a:cs typeface="Times New Roman" pitchFamily="34" charset="-120"/>
                        </a:rPr>
                        <a:t>CNNs, Vision Transformers, CLIP, zero-shot learning</a:t>
                      </a:r>
                      <a:endParaRPr lang="en-US" sz="900" dirty="0">
                        <a:latin typeface="Times New Roman" charset="0"/>
                        <a:ea typeface="Times New Roman" charset="0"/>
                        <a:cs typeface="Times New Roman" charset="0"/>
                      </a:endParaRPr>
                    </a:p>
                  </a:txBody>
                  <a:tcPr marL="61722" marR="61722" marT="48006" marB="48006"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indent="0" algn="l">
                        <a:buNone/>
                      </a:pPr>
                      <a:r>
                        <a:rPr lang="en-US" sz="900" dirty="0">
                          <a:solidFill>
                            <a:srgbClr val="000000"/>
                          </a:solidFill>
                          <a:latin typeface="Times New Roman" pitchFamily="34" charset="0"/>
                          <a:ea typeface="Times New Roman" pitchFamily="34" charset="-122"/>
                          <a:cs typeface="Times New Roman" pitchFamily="34" charset="-120"/>
                        </a:rPr>
                        <a:t>PlantVillage and field-oriented images</a:t>
                      </a:r>
                      <a:endParaRPr lang="en-US" sz="900" dirty="0">
                        <a:latin typeface="Times New Roman" charset="0"/>
                        <a:ea typeface="Times New Roman" charset="0"/>
                        <a:cs typeface="Times New Roman" charset="0"/>
                      </a:endParaRPr>
                    </a:p>
                  </a:txBody>
                  <a:tcPr marL="61722" marR="61722" marT="48006" marB="48006"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indent="0" algn="l">
                        <a:spcAft>
                          <a:spcPts val="300"/>
                        </a:spcAft>
                        <a:buNone/>
                      </a:pPr>
                      <a:r>
                        <a:rPr lang="en-US" sz="900" dirty="0">
                          <a:solidFill>
                            <a:srgbClr val="000000"/>
                          </a:solidFill>
                          <a:latin typeface="Times New Roman" pitchFamily="34" charset="0"/>
                          <a:ea typeface="Times New Roman" pitchFamily="34" charset="-122"/>
                          <a:cs typeface="Times New Roman" pitchFamily="34" charset="-120"/>
                        </a:rPr>
                        <a:t>1. Studies the gap between laboratory and practical diagnosis.</a:t>
                      </a:r>
                      <a:endParaRPr lang="en-US" sz="900" dirty="0">
                        <a:latin typeface="Times New Roman" charset="0"/>
                        <a:ea typeface="Times New Roman" charset="0"/>
                        <a:cs typeface="Times New Roman" charset="0"/>
                      </a:endParaRPr>
                    </a:p>
                    <a:p>
                      <a:pPr marL="0" indent="0" algn="l">
                        <a:spcAft>
                          <a:spcPts val="300"/>
                        </a:spcAft>
                        <a:buNone/>
                      </a:pPr>
                      <a:r>
                        <a:rPr lang="en-US" sz="900" dirty="0">
                          <a:solidFill>
                            <a:srgbClr val="000000"/>
                          </a:solidFill>
                          <a:latin typeface="Times New Roman" pitchFamily="34" charset="0"/>
                          <a:ea typeface="Times New Roman" pitchFamily="34" charset="-122"/>
                          <a:cs typeface="Times New Roman" pitchFamily="34" charset="-120"/>
                        </a:rPr>
                        <a:t>2. Explores zero-shot disease recognition.</a:t>
                      </a:r>
                      <a:endParaRPr lang="en-US" sz="900" dirty="0">
                        <a:latin typeface="Times New Roman" charset="0"/>
                        <a:ea typeface="Times New Roman" charset="0"/>
                        <a:cs typeface="Times New Roman" charset="0"/>
                      </a:endParaRPr>
                    </a:p>
                  </a:txBody>
                  <a:tcPr marL="61722" marR="61722" marT="48006" marB="48006"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indent="0" algn="l">
                        <a:spcAft>
                          <a:spcPts val="300"/>
                        </a:spcAft>
                        <a:buNone/>
                      </a:pPr>
                      <a:r>
                        <a:rPr lang="en-US" sz="900" dirty="0">
                          <a:solidFill>
                            <a:srgbClr val="000000"/>
                          </a:solidFill>
                          <a:latin typeface="Times New Roman" pitchFamily="34" charset="0"/>
                          <a:ea typeface="Times New Roman" pitchFamily="34" charset="-122"/>
                          <a:cs typeface="Times New Roman" pitchFamily="34" charset="-120"/>
                        </a:rPr>
                        <a:t>1. Limited ensemble uncertainty estimation.</a:t>
                      </a:r>
                      <a:endParaRPr lang="en-US" sz="900" dirty="0">
                        <a:latin typeface="Times New Roman" charset="0"/>
                        <a:ea typeface="Times New Roman" charset="0"/>
                        <a:cs typeface="Times New Roman" charset="0"/>
                      </a:endParaRPr>
                    </a:p>
                    <a:p>
                      <a:pPr marL="0" indent="0" algn="l">
                        <a:spcAft>
                          <a:spcPts val="300"/>
                        </a:spcAft>
                        <a:buNone/>
                      </a:pPr>
                      <a:r>
                        <a:rPr lang="en-US" sz="900" dirty="0">
                          <a:solidFill>
                            <a:srgbClr val="000000"/>
                          </a:solidFill>
                          <a:latin typeface="Times New Roman" pitchFamily="34" charset="0"/>
                          <a:ea typeface="Times New Roman" pitchFamily="34" charset="-122"/>
                          <a:cs typeface="Times New Roman" pitchFamily="34" charset="-120"/>
                        </a:rPr>
                        <a:t>2. No conformal abstention.</a:t>
                      </a:r>
                      <a:endParaRPr lang="en-US" sz="900" dirty="0">
                        <a:latin typeface="Times New Roman" charset="0"/>
                        <a:ea typeface="Times New Roman" charset="0"/>
                        <a:cs typeface="Times New Roman" charset="0"/>
                      </a:endParaRPr>
                    </a:p>
                    <a:p>
                      <a:pPr marL="0" indent="0" algn="l">
                        <a:spcAft>
                          <a:spcPts val="300"/>
                        </a:spcAft>
                        <a:buNone/>
                      </a:pPr>
                      <a:r>
                        <a:rPr lang="en-US" sz="900" dirty="0">
                          <a:solidFill>
                            <a:srgbClr val="000000"/>
                          </a:solidFill>
                          <a:latin typeface="Times New Roman" pitchFamily="34" charset="0"/>
                          <a:ea typeface="Times New Roman" pitchFamily="34" charset="-122"/>
                          <a:cs typeface="Times New Roman" pitchFamily="34" charset="-120"/>
                        </a:rPr>
                        <a:t>3. No integrated evidence retrieval.</a:t>
                      </a:r>
                      <a:endParaRPr lang="en-US" sz="900" dirty="0">
                        <a:latin typeface="Times New Roman" charset="0"/>
                        <a:ea typeface="Times New Roman" charset="0"/>
                        <a:cs typeface="Times New Roman" charset="0"/>
                      </a:endParaRPr>
                    </a:p>
                  </a:txBody>
                  <a:tcPr marL="61722" marR="61722" marT="48006" marB="48006"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1"/>
                  </a:ext>
                </a:extLst>
              </a:tr>
              <a:tr h="1465894">
                <a:tc>
                  <a:txBody>
                    <a:bodyPr/>
                    <a:lstStyle/>
                    <a:p>
                      <a:pPr marL="0" indent="0" algn="ctr">
                        <a:buNone/>
                      </a:pPr>
                      <a:r>
                        <a:rPr lang="en-US" sz="1100" dirty="0">
                          <a:solidFill>
                            <a:srgbClr val="000000"/>
                          </a:solidFill>
                          <a:latin typeface="Times New Roman" pitchFamily="34" charset="0"/>
                          <a:ea typeface="Times New Roman" pitchFamily="34" charset="-122"/>
                          <a:cs typeface="Times New Roman" pitchFamily="34" charset="-120"/>
                        </a:rPr>
                        <a:t>12</a:t>
                      </a:r>
                      <a:endParaRPr lang="en-US" sz="1100" dirty="0">
                        <a:latin typeface="Times New Roman" charset="0"/>
                        <a:ea typeface="Times New Roman" charset="0"/>
                        <a:cs typeface="Times New Roman" charset="0"/>
                      </a:endParaRPr>
                    </a:p>
                  </a:txBody>
                  <a:tcPr marL="61722" marR="61722" marT="48006" marB="48006"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indent="0" algn="l">
                        <a:buNone/>
                      </a:pPr>
                      <a:r>
                        <a:rPr lang="en-US" sz="900" dirty="0">
                          <a:solidFill>
                            <a:srgbClr val="000000"/>
                          </a:solidFill>
                          <a:latin typeface="Times New Roman" pitchFamily="34" charset="0"/>
                          <a:ea typeface="Times New Roman" pitchFamily="34" charset="-122"/>
                          <a:cs typeface="Times New Roman" pitchFamily="34" charset="-120"/>
                        </a:rPr>
                        <a:t>MRC-Net: A Reliable Plant Disease Classification Framework with Multi-Frequency State-Space Enhancement and Conformal Prediction</a:t>
                      </a:r>
                      <a:endParaRPr lang="en-US" sz="900" dirty="0">
                        <a:latin typeface="Times New Roman" charset="0"/>
                        <a:ea typeface="Times New Roman" charset="0"/>
                        <a:cs typeface="Times New Roman" charset="0"/>
                      </a:endParaRPr>
                    </a:p>
                  </a:txBody>
                  <a:tcPr marL="61722" marR="61722" marT="48006" marB="48006"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indent="0" algn="l">
                        <a:buNone/>
                      </a:pPr>
                      <a:r>
                        <a:rPr lang="en-US" sz="900" dirty="0">
                          <a:solidFill>
                            <a:srgbClr val="000000"/>
                          </a:solidFill>
                          <a:latin typeface="Times New Roman" pitchFamily="34" charset="0"/>
                          <a:ea typeface="Times New Roman" pitchFamily="34" charset="-122"/>
                          <a:cs typeface="Times New Roman" pitchFamily="34" charset="-120"/>
                        </a:rPr>
                        <a:t>Frontiers in Plant Science, Vol. 17, Article 1895287, 2026</a:t>
                      </a:r>
                      <a:endParaRPr lang="en-US" sz="900" dirty="0">
                        <a:latin typeface="Times New Roman" charset="0"/>
                        <a:ea typeface="Times New Roman" charset="0"/>
                        <a:cs typeface="Times New Roman" charset="0"/>
                      </a:endParaRPr>
                    </a:p>
                  </a:txBody>
                  <a:tcPr marL="61722" marR="61722" marT="48006" marB="48006"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indent="0" algn="l">
                        <a:buNone/>
                      </a:pPr>
                      <a:r>
                        <a:rPr lang="en-US" sz="900" dirty="0">
                          <a:solidFill>
                            <a:srgbClr val="000000"/>
                          </a:solidFill>
                          <a:latin typeface="Times New Roman" pitchFamily="34" charset="0"/>
                          <a:ea typeface="Times New Roman" pitchFamily="34" charset="-122"/>
                          <a:cs typeface="Times New Roman" pitchFamily="34" charset="-120"/>
                        </a:rPr>
                        <a:t>Swin-Tiny Transformer, multi-frequency state-space enhancement, conformal prediction</a:t>
                      </a:r>
                      <a:endParaRPr lang="en-US" sz="900" dirty="0">
                        <a:latin typeface="Times New Roman" charset="0"/>
                        <a:ea typeface="Times New Roman" charset="0"/>
                        <a:cs typeface="Times New Roman" charset="0"/>
                      </a:endParaRPr>
                    </a:p>
                  </a:txBody>
                  <a:tcPr marL="61722" marR="61722" marT="48006" marB="48006"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indent="0" algn="l">
                        <a:buNone/>
                      </a:pPr>
                      <a:r>
                        <a:rPr lang="en-US" sz="900" dirty="0">
                          <a:solidFill>
                            <a:srgbClr val="000000"/>
                          </a:solidFill>
                          <a:latin typeface="Times New Roman" pitchFamily="34" charset="0"/>
                          <a:ea typeface="Times New Roman" pitchFamily="34" charset="-122"/>
                          <a:cs typeface="Times New Roman" pitchFamily="34" charset="-120"/>
                        </a:rPr>
                        <a:t>NGLD, PlantVillage, PlantDoc</a:t>
                      </a:r>
                      <a:endParaRPr lang="en-US" sz="900" dirty="0">
                        <a:latin typeface="Times New Roman" charset="0"/>
                        <a:ea typeface="Times New Roman" charset="0"/>
                        <a:cs typeface="Times New Roman" charset="0"/>
                      </a:endParaRPr>
                    </a:p>
                  </a:txBody>
                  <a:tcPr marL="61722" marR="61722" marT="48006" marB="48006"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indent="0" algn="l">
                        <a:spcAft>
                          <a:spcPts val="300"/>
                        </a:spcAft>
                        <a:buNone/>
                      </a:pPr>
                      <a:r>
                        <a:rPr lang="en-US" sz="900" dirty="0">
                          <a:solidFill>
                            <a:srgbClr val="000000"/>
                          </a:solidFill>
                          <a:latin typeface="Times New Roman" pitchFamily="34" charset="0"/>
                          <a:ea typeface="Times New Roman" pitchFamily="34" charset="-122"/>
                          <a:cs typeface="Times New Roman" pitchFamily="34" charset="-120"/>
                        </a:rPr>
                        <a:t>1. Combines enhanced feature extraction with conformal prediction.</a:t>
                      </a:r>
                      <a:endParaRPr lang="en-US" sz="900" dirty="0">
                        <a:latin typeface="Times New Roman" charset="0"/>
                        <a:ea typeface="Times New Roman" charset="0"/>
                        <a:cs typeface="Times New Roman" charset="0"/>
                      </a:endParaRPr>
                    </a:p>
                    <a:p>
                      <a:pPr marL="0" indent="0" algn="l">
                        <a:spcAft>
                          <a:spcPts val="300"/>
                        </a:spcAft>
                        <a:buNone/>
                      </a:pPr>
                      <a:r>
                        <a:rPr lang="en-US" sz="900" dirty="0">
                          <a:solidFill>
                            <a:srgbClr val="000000"/>
                          </a:solidFill>
                          <a:latin typeface="Times New Roman" pitchFamily="34" charset="0"/>
                          <a:ea typeface="Times New Roman" pitchFamily="34" charset="-122"/>
                          <a:cs typeface="Times New Roman" pitchFamily="34" charset="-120"/>
                        </a:rPr>
                        <a:t>2. Produces prediction sets for classification.</a:t>
                      </a:r>
                      <a:endParaRPr lang="en-US" sz="900" dirty="0">
                        <a:latin typeface="Times New Roman" charset="0"/>
                        <a:ea typeface="Times New Roman" charset="0"/>
                        <a:cs typeface="Times New Roman" charset="0"/>
                      </a:endParaRPr>
                    </a:p>
                  </a:txBody>
                  <a:tcPr marL="61722" marR="61722" marT="48006" marB="48006"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indent="0" algn="l">
                        <a:spcAft>
                          <a:spcPts val="300"/>
                        </a:spcAft>
                        <a:buNone/>
                      </a:pPr>
                      <a:r>
                        <a:rPr lang="en-US" sz="900" dirty="0">
                          <a:solidFill>
                            <a:srgbClr val="000000"/>
                          </a:solidFill>
                          <a:latin typeface="Times New Roman" pitchFamily="34" charset="0"/>
                          <a:ea typeface="Times New Roman" pitchFamily="34" charset="-122"/>
                          <a:cs typeface="Times New Roman" pitchFamily="34" charset="-120"/>
                        </a:rPr>
                        <a:t>1. Relies on a primary architecture.</a:t>
                      </a:r>
                      <a:endParaRPr lang="en-US" sz="900" dirty="0">
                        <a:latin typeface="Times New Roman" charset="0"/>
                        <a:ea typeface="Times New Roman" charset="0"/>
                        <a:cs typeface="Times New Roman" charset="0"/>
                      </a:endParaRPr>
                    </a:p>
                    <a:p>
                      <a:pPr marL="0" indent="0" algn="l">
                        <a:spcAft>
                          <a:spcPts val="300"/>
                        </a:spcAft>
                        <a:buNone/>
                      </a:pPr>
                      <a:r>
                        <a:rPr lang="en-US" sz="900" dirty="0">
                          <a:solidFill>
                            <a:srgbClr val="000000"/>
                          </a:solidFill>
                          <a:latin typeface="Times New Roman" pitchFamily="34" charset="0"/>
                          <a:ea typeface="Times New Roman" pitchFamily="34" charset="-122"/>
                          <a:cs typeface="Times New Roman" pitchFamily="34" charset="-120"/>
                        </a:rPr>
                        <a:t>2. Field-style generalization remains challenging.</a:t>
                      </a:r>
                      <a:endParaRPr lang="en-US" sz="900" dirty="0">
                        <a:latin typeface="Times New Roman" charset="0"/>
                        <a:ea typeface="Times New Roman" charset="0"/>
                        <a:cs typeface="Times New Roman" charset="0"/>
                      </a:endParaRPr>
                    </a:p>
                    <a:p>
                      <a:pPr marL="0" indent="0" algn="l">
                        <a:spcAft>
                          <a:spcPts val="300"/>
                        </a:spcAft>
                        <a:buNone/>
                      </a:pPr>
                      <a:r>
                        <a:rPr lang="en-US" sz="900" dirty="0">
                          <a:solidFill>
                            <a:srgbClr val="000000"/>
                          </a:solidFill>
                          <a:latin typeface="Times New Roman" pitchFamily="34" charset="0"/>
                          <a:ea typeface="Times New Roman" pitchFamily="34" charset="-122"/>
                          <a:cs typeface="Times New Roman" pitchFamily="34" charset="-120"/>
                        </a:rPr>
                        <a:t>3. No agentic evidence retrieval.</a:t>
                      </a:r>
                      <a:endParaRPr lang="en-US" sz="900" dirty="0">
                        <a:latin typeface="Times New Roman" charset="0"/>
                        <a:ea typeface="Times New Roman" charset="0"/>
                        <a:cs typeface="Times New Roman" charset="0"/>
                      </a:endParaRPr>
                    </a:p>
                  </a:txBody>
                  <a:tcPr marL="61722" marR="61722" marT="48006" marB="48006"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2"/>
                  </a:ext>
                </a:extLst>
              </a:tr>
              <a:tr h="1465894">
                <a:tc>
                  <a:txBody>
                    <a:bodyPr/>
                    <a:lstStyle/>
                    <a:p>
                      <a:pPr marL="0" indent="0" algn="ctr">
                        <a:buNone/>
                      </a:pPr>
                      <a:r>
                        <a:rPr lang="en-US" sz="1100" dirty="0">
                          <a:solidFill>
                            <a:srgbClr val="000000"/>
                          </a:solidFill>
                          <a:latin typeface="Times New Roman" pitchFamily="34" charset="0"/>
                          <a:ea typeface="Times New Roman" pitchFamily="34" charset="-122"/>
                          <a:cs typeface="Times New Roman" pitchFamily="34" charset="-120"/>
                        </a:rPr>
                        <a:t>13</a:t>
                      </a:r>
                      <a:endParaRPr lang="en-US" sz="1100" dirty="0">
                        <a:latin typeface="Times New Roman" charset="0"/>
                        <a:ea typeface="Times New Roman" charset="0"/>
                        <a:cs typeface="Times New Roman" charset="0"/>
                      </a:endParaRPr>
                    </a:p>
                  </a:txBody>
                  <a:tcPr marL="61722" marR="61722" marT="48006" marB="48006"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indent="0" algn="l">
                        <a:buNone/>
                      </a:pPr>
                      <a:r>
                        <a:rPr lang="en-US" sz="900" dirty="0">
                          <a:solidFill>
                            <a:srgbClr val="000000"/>
                          </a:solidFill>
                          <a:latin typeface="Times New Roman" pitchFamily="34" charset="0"/>
                          <a:ea typeface="Times New Roman" pitchFamily="34" charset="-122"/>
                          <a:cs typeface="Times New Roman" pitchFamily="34" charset="-120"/>
                        </a:rPr>
                        <a:t>Enhancing Anomaly Detection in Plant Disease Recognition with Knowledge Ensemble</a:t>
                      </a:r>
                      <a:endParaRPr lang="en-US" sz="900" dirty="0">
                        <a:latin typeface="Times New Roman" charset="0"/>
                        <a:ea typeface="Times New Roman" charset="0"/>
                        <a:cs typeface="Times New Roman" charset="0"/>
                      </a:endParaRPr>
                    </a:p>
                  </a:txBody>
                  <a:tcPr marL="61722" marR="61722" marT="48006" marB="48006"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indent="0" algn="l">
                        <a:buNone/>
                      </a:pPr>
                      <a:r>
                        <a:rPr lang="en-US" sz="900" dirty="0">
                          <a:solidFill>
                            <a:srgbClr val="000000"/>
                          </a:solidFill>
                          <a:latin typeface="Times New Roman" pitchFamily="34" charset="0"/>
                          <a:ea typeface="Times New Roman" pitchFamily="34" charset="-122"/>
                          <a:cs typeface="Times New Roman" pitchFamily="34" charset="-120"/>
                        </a:rPr>
                        <a:t>Frontiers in Plant Science, Vol. 16, 2025</a:t>
                      </a:r>
                      <a:endParaRPr lang="en-US" sz="900" dirty="0">
                        <a:latin typeface="Times New Roman" charset="0"/>
                        <a:ea typeface="Times New Roman" charset="0"/>
                        <a:cs typeface="Times New Roman" charset="0"/>
                      </a:endParaRPr>
                    </a:p>
                  </a:txBody>
                  <a:tcPr marL="61722" marR="61722" marT="48006" marB="48006"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indent="0" algn="l">
                        <a:buNone/>
                      </a:pPr>
                      <a:r>
                        <a:rPr lang="en-US" sz="900" dirty="0">
                          <a:solidFill>
                            <a:srgbClr val="000000"/>
                          </a:solidFill>
                          <a:latin typeface="Times New Roman" pitchFamily="34" charset="0"/>
                          <a:ea typeface="Times New Roman" pitchFamily="34" charset="-122"/>
                          <a:cs typeface="Times New Roman" pitchFamily="34" charset="-120"/>
                        </a:rPr>
                        <a:t>Knowledge ensemble, confidence scoring, domain-specific and general visual knowledge, OOD detection</a:t>
                      </a:r>
                      <a:endParaRPr lang="en-US" sz="900" dirty="0">
                        <a:latin typeface="Times New Roman" charset="0"/>
                        <a:ea typeface="Times New Roman" charset="0"/>
                        <a:cs typeface="Times New Roman" charset="0"/>
                      </a:endParaRPr>
                    </a:p>
                  </a:txBody>
                  <a:tcPr marL="61722" marR="61722" marT="48006" marB="48006"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indent="0" algn="l">
                        <a:buNone/>
                      </a:pPr>
                      <a:r>
                        <a:rPr lang="en-US" sz="900" dirty="0">
                          <a:solidFill>
                            <a:srgbClr val="000000"/>
                          </a:solidFill>
                          <a:latin typeface="Times New Roman" pitchFamily="34" charset="0"/>
                          <a:ea typeface="Times New Roman" pitchFamily="34" charset="-122"/>
                          <a:cs typeface="Times New Roman" pitchFamily="34" charset="-120"/>
                        </a:rPr>
                        <a:t>Known-disease and unknown/anomalous images</a:t>
                      </a:r>
                      <a:endParaRPr lang="en-US" sz="900" dirty="0">
                        <a:latin typeface="Times New Roman" charset="0"/>
                        <a:ea typeface="Times New Roman" charset="0"/>
                        <a:cs typeface="Times New Roman" charset="0"/>
                      </a:endParaRPr>
                    </a:p>
                  </a:txBody>
                  <a:tcPr marL="61722" marR="61722" marT="48006" marB="48006"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indent="0" algn="l">
                        <a:spcAft>
                          <a:spcPts val="300"/>
                        </a:spcAft>
                        <a:buNone/>
                      </a:pPr>
                      <a:r>
                        <a:rPr lang="en-US" sz="900" dirty="0">
                          <a:solidFill>
                            <a:srgbClr val="000000"/>
                          </a:solidFill>
                          <a:latin typeface="Times New Roman" pitchFamily="34" charset="0"/>
                          <a:ea typeface="Times New Roman" pitchFamily="34" charset="-122"/>
                          <a:cs typeface="Times New Roman" pitchFamily="34" charset="-120"/>
                        </a:rPr>
                        <a:t>1. Uses complementary visual knowledge for anomaly detection.</a:t>
                      </a:r>
                      <a:endParaRPr lang="en-US" sz="900" dirty="0">
                        <a:latin typeface="Times New Roman" charset="0"/>
                        <a:ea typeface="Times New Roman" charset="0"/>
                        <a:cs typeface="Times New Roman" charset="0"/>
                      </a:endParaRPr>
                    </a:p>
                    <a:p>
                      <a:pPr marL="0" indent="0" algn="l">
                        <a:spcAft>
                          <a:spcPts val="300"/>
                        </a:spcAft>
                        <a:buNone/>
                      </a:pPr>
                      <a:r>
                        <a:rPr lang="en-US" sz="900" dirty="0">
                          <a:solidFill>
                            <a:srgbClr val="000000"/>
                          </a:solidFill>
                          <a:latin typeface="Times New Roman" pitchFamily="34" charset="0"/>
                          <a:ea typeface="Times New Roman" pitchFamily="34" charset="-122"/>
                          <a:cs typeface="Times New Roman" pitchFamily="34" charset="-120"/>
                        </a:rPr>
                        <a:t>2. Addresses recognition of previously unseen inputs.</a:t>
                      </a:r>
                      <a:endParaRPr lang="en-US" sz="900" dirty="0">
                        <a:latin typeface="Times New Roman" charset="0"/>
                        <a:ea typeface="Times New Roman" charset="0"/>
                        <a:cs typeface="Times New Roman" charset="0"/>
                      </a:endParaRPr>
                    </a:p>
                  </a:txBody>
                  <a:tcPr marL="61722" marR="61722" marT="48006" marB="48006"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indent="0" algn="l">
                        <a:spcAft>
                          <a:spcPts val="300"/>
                        </a:spcAft>
                        <a:buNone/>
                      </a:pPr>
                      <a:r>
                        <a:rPr lang="en-US" sz="900" dirty="0">
                          <a:solidFill>
                            <a:srgbClr val="000000"/>
                          </a:solidFill>
                          <a:latin typeface="Times New Roman" pitchFamily="34" charset="0"/>
                          <a:ea typeface="Times New Roman" pitchFamily="34" charset="-122"/>
                          <a:cs typeface="Times New Roman" pitchFamily="34" charset="-120"/>
                        </a:rPr>
                        <a:t>1. Primarily focuses on anomaly detection.</a:t>
                      </a:r>
                      <a:endParaRPr lang="en-US" sz="900" dirty="0">
                        <a:latin typeface="Times New Roman" charset="0"/>
                        <a:ea typeface="Times New Roman" charset="0"/>
                        <a:cs typeface="Times New Roman" charset="0"/>
                      </a:endParaRPr>
                    </a:p>
                    <a:p>
                      <a:pPr marL="0" indent="0" algn="l">
                        <a:spcAft>
                          <a:spcPts val="300"/>
                        </a:spcAft>
                        <a:buNone/>
                      </a:pPr>
                      <a:r>
                        <a:rPr lang="en-US" sz="900" dirty="0">
                          <a:solidFill>
                            <a:srgbClr val="000000"/>
                          </a:solidFill>
                          <a:latin typeface="Times New Roman" pitchFamily="34" charset="0"/>
                          <a:ea typeface="Times New Roman" pitchFamily="34" charset="-122"/>
                          <a:cs typeface="Times New Roman" pitchFamily="34" charset="-120"/>
                        </a:rPr>
                        <a:t>2. No integrated conformal abstention.</a:t>
                      </a:r>
                      <a:endParaRPr lang="en-US" sz="900" dirty="0">
                        <a:latin typeface="Times New Roman" charset="0"/>
                        <a:ea typeface="Times New Roman" charset="0"/>
                        <a:cs typeface="Times New Roman" charset="0"/>
                      </a:endParaRPr>
                    </a:p>
                    <a:p>
                      <a:pPr marL="0" indent="0" algn="l">
                        <a:spcAft>
                          <a:spcPts val="300"/>
                        </a:spcAft>
                        <a:buNone/>
                      </a:pPr>
                      <a:r>
                        <a:rPr lang="en-US" sz="900" dirty="0">
                          <a:solidFill>
                            <a:srgbClr val="000000"/>
                          </a:solidFill>
                          <a:latin typeface="Times New Roman" pitchFamily="34" charset="0"/>
                          <a:ea typeface="Times New Roman" pitchFamily="34" charset="-122"/>
                          <a:cs typeface="Times New Roman" pitchFamily="34" charset="-120"/>
                        </a:rPr>
                        <a:t>3. No evidence-grounded diagnostic response.</a:t>
                      </a:r>
                      <a:endParaRPr lang="en-US" sz="900" dirty="0">
                        <a:latin typeface="Times New Roman" charset="0"/>
                        <a:ea typeface="Times New Roman" charset="0"/>
                        <a:cs typeface="Times New Roman" charset="0"/>
                      </a:endParaRPr>
                    </a:p>
                  </a:txBody>
                  <a:tcPr marL="61722" marR="61722" marT="48006" marB="48006"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3"/>
                  </a:ext>
                </a:extLst>
              </a:tr>
            </a:tbl>
          </a:graphicData>
        </a:graphic>
      </p:graphicFrame>
      <p:sp>
        <p:nvSpPr>
          <p:cNvPr id="5" name="Text 1">
            <a:extLst>
              <a:ext uri="{FF2B5EF4-FFF2-40B4-BE49-F238E27FC236}">
                <a16:creationId xmlns:a16="http://schemas.microsoft.com/office/drawing/2014/main" id="{5BEF962A-1F15-9655-41AE-6EA52304000B}"/>
              </a:ext>
            </a:extLst>
          </p:cNvPr>
          <p:cNvSpPr txBox="1"/>
          <p:nvPr/>
        </p:nvSpPr>
        <p:spPr>
          <a:xfrm>
            <a:off x="240030" y="982980"/>
            <a:ext cx="8558784" cy="365760"/>
          </a:xfrm>
          <a:prstGeom prst="rect">
            <a:avLst/>
          </a:prstGeom>
          <a:noFill/>
          <a:ln/>
        </p:spPr>
        <p:txBody>
          <a:bodyPr wrap="square" lIns="0" tIns="0" rIns="0" bIns="0" rtlCol="0" anchor="ctr"/>
          <a:lstStyle/>
          <a:p>
            <a:pPr marL="0" indent="0" algn="ctr">
              <a:buNone/>
            </a:pPr>
            <a:r>
              <a:rPr lang="en-US" sz="1800" dirty="0">
                <a:solidFill>
                  <a:srgbClr val="000000"/>
                </a:solidFill>
                <a:latin typeface="Times New Roman" pitchFamily="34" charset="0"/>
                <a:ea typeface="Times New Roman" pitchFamily="34" charset="-122"/>
                <a:cs typeface="Times New Roman" pitchFamily="34" charset="-120"/>
              </a:rPr>
              <a:t>Table no. 4: Summary of existing implementations</a:t>
            </a:r>
            <a:endParaRPr lang="en-US" sz="1800" dirty="0"/>
          </a:p>
        </p:txBody>
      </p:sp>
      <p:sp>
        <p:nvSpPr>
          <p:cNvPr id="7" name="Text 3">
            <a:extLst>
              <a:ext uri="{FF2B5EF4-FFF2-40B4-BE49-F238E27FC236}">
                <a16:creationId xmlns:a16="http://schemas.microsoft.com/office/drawing/2014/main" id="{D8A84142-A789-0E03-0FED-8969B9A0ED7C}"/>
              </a:ext>
            </a:extLst>
          </p:cNvPr>
          <p:cNvSpPr txBox="1"/>
          <p:nvPr/>
        </p:nvSpPr>
        <p:spPr>
          <a:xfrm>
            <a:off x="8288592" y="6355080"/>
            <a:ext cx="457200" cy="365760"/>
          </a:xfrm>
          <a:prstGeom prst="rect">
            <a:avLst/>
          </a:prstGeom>
          <a:noFill/>
          <a:ln/>
        </p:spPr>
        <p:txBody>
          <a:bodyPr wrap="square" lIns="0" tIns="0" rIns="0" bIns="0" rtlCol="0" anchor="ctr"/>
          <a:lstStyle/>
          <a:p>
            <a:pPr marL="0" indent="0" algn="r">
              <a:buNone/>
            </a:pPr>
            <a:r>
              <a:rPr lang="en-US" sz="1200" b="1" dirty="0">
                <a:solidFill>
                  <a:srgbClr val="333333"/>
                </a:solidFill>
                <a:latin typeface="Times New Roman" pitchFamily="34" charset="0"/>
                <a:cs typeface="Times New Roman" pitchFamily="34" charset="-120"/>
              </a:rPr>
              <a:t>28</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738971-B764-E045-F92B-01E3322A0123}"/>
              </a:ext>
            </a:extLst>
          </p:cNvPr>
          <p:cNvSpPr>
            <a:spLocks noGrp="1"/>
          </p:cNvSpPr>
          <p:nvPr>
            <p:ph type="title"/>
          </p:nvPr>
        </p:nvSpPr>
        <p:spPr>
          <a:xfrm>
            <a:off x="202676" y="120029"/>
            <a:ext cx="8738648" cy="747237"/>
          </a:xfrm>
        </p:spPr>
        <p:txBody>
          <a:bodyPr>
            <a:noAutofit/>
          </a:bodyPr>
          <a:lstStyle/>
          <a:p>
            <a:r>
              <a:rPr lang="en-US" sz="3000" b="1" dirty="0">
                <a:solidFill>
                  <a:schemeClr val="accent2">
                    <a:lumMod val="50000"/>
                  </a:schemeClr>
                </a:solidFill>
                <a:latin typeface="Calisto MT" panose="02040603050505030304" pitchFamily="18" charset="0"/>
              </a:rPr>
              <a:t>11. Gap Analysis</a:t>
            </a:r>
          </a:p>
        </p:txBody>
      </p:sp>
      <p:sp>
        <p:nvSpPr>
          <p:cNvPr id="3" name="Content Placeholder 2">
            <a:extLst>
              <a:ext uri="{FF2B5EF4-FFF2-40B4-BE49-F238E27FC236}">
                <a16:creationId xmlns:a16="http://schemas.microsoft.com/office/drawing/2014/main" id="{E5D502BE-F636-7D1D-85F0-BAFFD3E05E1C}"/>
              </a:ext>
            </a:extLst>
          </p:cNvPr>
          <p:cNvSpPr>
            <a:spLocks noGrp="1"/>
          </p:cNvSpPr>
          <p:nvPr>
            <p:ph idx="1"/>
          </p:nvPr>
        </p:nvSpPr>
        <p:spPr>
          <a:xfrm>
            <a:off x="358218" y="867265"/>
            <a:ext cx="8314441" cy="5870705"/>
          </a:xfrm>
        </p:spPr>
        <p:txBody>
          <a:bodyPr numCol="1">
            <a:normAutofit fontScale="92500" lnSpcReduction="10000"/>
          </a:bodyPr>
          <a:lstStyle/>
          <a:p>
            <a:pPr marL="457200" indent="-457200" algn="just">
              <a:buFont typeface="+mj-lt"/>
              <a:buAutoNum type="arabicPeriod"/>
            </a:pPr>
            <a:r>
              <a:rPr lang="en-IN" sz="2400" dirty="0"/>
              <a:t>Existing plant disease classification models primarily focus on prediction accuracy, with limited emphasis on reliable decisions under uncertainty.</a:t>
            </a:r>
          </a:p>
          <a:p>
            <a:pPr marL="457200" indent="-457200" algn="just">
              <a:buFont typeface="+mj-lt"/>
              <a:buAutoNum type="arabicPeriod"/>
            </a:pPr>
            <a:r>
              <a:rPr lang="en-IN" sz="2400" dirty="0"/>
              <a:t>Many approaches rely on a single model, limiting the use of complementary features and disagreement between diverse architectures.</a:t>
            </a:r>
          </a:p>
          <a:p>
            <a:pPr marL="457200" indent="-457200" algn="just">
              <a:buFont typeface="+mj-lt"/>
              <a:buAutoNum type="arabicPeriod"/>
            </a:pPr>
            <a:r>
              <a:rPr lang="en-IN" sz="2400" dirty="0"/>
              <a:t>Models trained on controlled datasets such as </a:t>
            </a:r>
            <a:r>
              <a:rPr lang="en-IN" sz="2400" dirty="0" err="1"/>
              <a:t>PlantVillage</a:t>
            </a:r>
            <a:r>
              <a:rPr lang="en-IN" sz="2400" dirty="0"/>
              <a:t> may not generalize effectively to field images with varying lighting, backgrounds, and disease severity.</a:t>
            </a:r>
          </a:p>
          <a:p>
            <a:pPr marL="457200" indent="-457200" algn="just">
              <a:buFont typeface="+mj-lt"/>
              <a:buAutoNum type="arabicPeriod"/>
            </a:pPr>
            <a:r>
              <a:rPr lang="en-IN" sz="2400" dirty="0"/>
              <a:t>Unknown diseases and out-of-distribution (OOD) images remain challenging, with limited integration of uncertainty estimation and abstention mechanisms.</a:t>
            </a:r>
          </a:p>
          <a:p>
            <a:pPr marL="457200" indent="-457200" algn="just">
              <a:buFont typeface="+mj-lt"/>
              <a:buAutoNum type="arabicPeriod"/>
            </a:pPr>
            <a:r>
              <a:rPr lang="en-IN" sz="2400" dirty="0"/>
              <a:t>Prediction confidence alone may not guarantee reliable outputs, highlighting the need for calibrated uncertainty and selective prediction with measurable coverage and accuracy.</a:t>
            </a:r>
          </a:p>
          <a:p>
            <a:pPr marL="457200" indent="-457200" algn="just">
              <a:buFont typeface="+mj-lt"/>
              <a:buAutoNum type="arabicPeriod"/>
            </a:pPr>
            <a:r>
              <a:rPr lang="en-IN" sz="2400" dirty="0"/>
              <a:t>Existing approaches often lack an integrated agentic evidence-retrieval mechanism to support predictions with relevant, traceable disease information.</a:t>
            </a:r>
          </a:p>
        </p:txBody>
      </p:sp>
      <p:sp>
        <p:nvSpPr>
          <p:cNvPr id="7" name="Slide Number Placeholder 6">
            <a:extLst>
              <a:ext uri="{FF2B5EF4-FFF2-40B4-BE49-F238E27FC236}">
                <a16:creationId xmlns:a16="http://schemas.microsoft.com/office/drawing/2014/main" id="{14F45621-8939-04E9-03B4-11AF180D5862}"/>
              </a:ext>
            </a:extLst>
          </p:cNvPr>
          <p:cNvSpPr>
            <a:spLocks noGrp="1"/>
          </p:cNvSpPr>
          <p:nvPr>
            <p:ph type="sldNum" sz="quarter" idx="12"/>
          </p:nvPr>
        </p:nvSpPr>
        <p:spPr/>
        <p:txBody>
          <a:bodyPr/>
          <a:lstStyle/>
          <a:p>
            <a:fld id="{D90542D4-23E8-43E0-BA8E-C972DA1A005D}" type="slidenum">
              <a:rPr lang="en-US" sz="1400" b="1" smtClean="0">
                <a:solidFill>
                  <a:schemeClr val="tx1"/>
                </a:solidFill>
                <a:latin typeface="Calisto MT" panose="02040603050505030304" pitchFamily="18" charset="0"/>
              </a:rPr>
              <a:pPr/>
              <a:t>29</a:t>
            </a:fld>
            <a:endParaRPr lang="en-US" sz="1400" b="1" dirty="0">
              <a:solidFill>
                <a:schemeClr val="tx1"/>
              </a:solidFill>
              <a:latin typeface="Calisto MT" panose="02040603050505030304" pitchFamily="18" charset="0"/>
            </a:endParaRPr>
          </a:p>
        </p:txBody>
      </p:sp>
    </p:spTree>
    <p:extLst>
      <p:ext uri="{BB962C8B-B14F-4D97-AF65-F5344CB8AC3E}">
        <p14:creationId xmlns:p14="http://schemas.microsoft.com/office/powerpoint/2010/main" val="2843785032"/>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txBox="1"/>
          <p:nvPr/>
        </p:nvSpPr>
        <p:spPr>
          <a:xfrm>
            <a:off x="288076" y="445323"/>
            <a:ext cx="8455914" cy="411480"/>
          </a:xfrm>
          <a:prstGeom prst="rect">
            <a:avLst/>
          </a:prstGeom>
          <a:noFill/>
          <a:ln/>
        </p:spPr>
        <p:txBody>
          <a:bodyPr wrap="square" lIns="0" tIns="0" rIns="0" bIns="0" rtlCol="0" anchor="ctr"/>
          <a:lstStyle/>
          <a:p>
            <a:r>
              <a:rPr lang="en-US" sz="2700" b="1" dirty="0">
                <a:solidFill>
                  <a:srgbClr val="8B4513"/>
                </a:solidFill>
                <a:latin typeface="Times New Roman" pitchFamily="34" charset="0"/>
                <a:ea typeface="Times New Roman" pitchFamily="34" charset="-122"/>
                <a:cs typeface="Times New Roman" pitchFamily="34" charset="-120"/>
              </a:rPr>
              <a:t>12. SDLC Model</a:t>
            </a:r>
            <a:endParaRPr lang="en-US" sz="2700" dirty="0"/>
          </a:p>
        </p:txBody>
      </p:sp>
      <p:sp>
        <p:nvSpPr>
          <p:cNvPr id="3" name="Shape 1"/>
          <p:cNvSpPr/>
          <p:nvPr/>
        </p:nvSpPr>
        <p:spPr>
          <a:xfrm>
            <a:off x="4632540" y="1699393"/>
            <a:ext cx="1099961" cy="866873"/>
          </a:xfrm>
          <a:custGeom>
            <a:avLst/>
            <a:gdLst/>
            <a:ahLst/>
            <a:cxnLst/>
            <a:rect l="l" t="t" r="r" b="b"/>
            <a:pathLst>
              <a:path w="1466615" h="1155831">
                <a:moveTo>
                  <a:pt x="549998" y="14772"/>
                </a:moveTo>
                <a:lnTo>
                  <a:pt x="599317" y="29144"/>
                </a:lnTo>
                <a:lnTo>
                  <a:pt x="648306" y="44599"/>
                </a:lnTo>
                <a:lnTo>
                  <a:pt x="696943" y="61130"/>
                </a:lnTo>
                <a:lnTo>
                  <a:pt x="745205" y="78728"/>
                </a:lnTo>
                <a:lnTo>
                  <a:pt x="793067" y="97385"/>
                </a:lnTo>
                <a:lnTo>
                  <a:pt x="840506" y="117092"/>
                </a:lnTo>
                <a:lnTo>
                  <a:pt x="887500" y="137839"/>
                </a:lnTo>
                <a:lnTo>
                  <a:pt x="934025" y="159616"/>
                </a:lnTo>
                <a:lnTo>
                  <a:pt x="980059" y="182413"/>
                </a:lnTo>
                <a:lnTo>
                  <a:pt x="1025580" y="206219"/>
                </a:lnTo>
                <a:lnTo>
                  <a:pt x="1070565" y="231021"/>
                </a:lnTo>
                <a:lnTo>
                  <a:pt x="1114993" y="256809"/>
                </a:lnTo>
                <a:lnTo>
                  <a:pt x="1158842" y="283569"/>
                </a:lnTo>
                <a:lnTo>
                  <a:pt x="1202091" y="311288"/>
                </a:lnTo>
                <a:lnTo>
                  <a:pt x="1244719" y="339954"/>
                </a:lnTo>
                <a:lnTo>
                  <a:pt x="1286705" y="369551"/>
                </a:lnTo>
                <a:lnTo>
                  <a:pt x="1350537" y="425901"/>
                </a:lnTo>
                <a:lnTo>
                  <a:pt x="1402148" y="493621"/>
                </a:lnTo>
                <a:lnTo>
                  <a:pt x="1439557" y="570109"/>
                </a:lnTo>
                <a:lnTo>
                  <a:pt x="1461325" y="652425"/>
                </a:lnTo>
                <a:lnTo>
                  <a:pt x="1466615" y="737406"/>
                </a:lnTo>
                <a:lnTo>
                  <a:pt x="1455225" y="821786"/>
                </a:lnTo>
                <a:lnTo>
                  <a:pt x="1427592" y="902323"/>
                </a:lnTo>
                <a:lnTo>
                  <a:pt x="1384778" y="975921"/>
                </a:lnTo>
                <a:lnTo>
                  <a:pt x="1328428" y="1039753"/>
                </a:lnTo>
                <a:lnTo>
                  <a:pt x="1260708" y="1091364"/>
                </a:lnTo>
                <a:lnTo>
                  <a:pt x="1184221" y="1128773"/>
                </a:lnTo>
                <a:lnTo>
                  <a:pt x="1101905" y="1150541"/>
                </a:lnTo>
                <a:lnTo>
                  <a:pt x="1016924" y="1155831"/>
                </a:lnTo>
                <a:lnTo>
                  <a:pt x="932543" y="1144441"/>
                </a:lnTo>
                <a:lnTo>
                  <a:pt x="852007" y="1116808"/>
                </a:lnTo>
                <a:lnTo>
                  <a:pt x="778408" y="1073994"/>
                </a:lnTo>
                <a:lnTo>
                  <a:pt x="752064" y="1055423"/>
                </a:lnTo>
                <a:lnTo>
                  <a:pt x="725317" y="1037437"/>
                </a:lnTo>
                <a:lnTo>
                  <a:pt x="698181" y="1020044"/>
                </a:lnTo>
                <a:lnTo>
                  <a:pt x="670667" y="1003253"/>
                </a:lnTo>
                <a:lnTo>
                  <a:pt x="642791" y="987073"/>
                </a:lnTo>
                <a:lnTo>
                  <a:pt x="614565" y="971511"/>
                </a:lnTo>
                <a:lnTo>
                  <a:pt x="586003" y="956574"/>
                </a:lnTo>
                <a:lnTo>
                  <a:pt x="557119" y="942270"/>
                </a:lnTo>
                <a:lnTo>
                  <a:pt x="527926" y="928606"/>
                </a:lnTo>
                <a:lnTo>
                  <a:pt x="498440" y="915588"/>
                </a:lnTo>
                <a:lnTo>
                  <a:pt x="468674" y="903223"/>
                </a:lnTo>
                <a:lnTo>
                  <a:pt x="438643" y="891517"/>
                </a:lnTo>
                <a:lnTo>
                  <a:pt x="408362" y="880475"/>
                </a:lnTo>
                <a:lnTo>
                  <a:pt x="377844" y="870102"/>
                </a:lnTo>
                <a:lnTo>
                  <a:pt x="347106" y="860405"/>
                </a:lnTo>
                <a:lnTo>
                  <a:pt x="316161" y="851387"/>
                </a:lnTo>
                <a:lnTo>
                  <a:pt x="236800" y="820540"/>
                </a:lnTo>
                <a:lnTo>
                  <a:pt x="164981" y="774803"/>
                </a:lnTo>
                <a:lnTo>
                  <a:pt x="103466" y="715933"/>
                </a:lnTo>
                <a:lnTo>
                  <a:pt x="54617" y="646194"/>
                </a:lnTo>
                <a:lnTo>
                  <a:pt x="20313" y="568265"/>
                </a:lnTo>
                <a:lnTo>
                  <a:pt x="1871" y="485140"/>
                </a:lnTo>
                <a:lnTo>
                  <a:pt x="0" y="400015"/>
                </a:lnTo>
                <a:lnTo>
                  <a:pt x="14772" y="316161"/>
                </a:lnTo>
                <a:lnTo>
                  <a:pt x="45619" y="236800"/>
                </a:lnTo>
                <a:lnTo>
                  <a:pt x="91357" y="164981"/>
                </a:lnTo>
                <a:lnTo>
                  <a:pt x="150226" y="103466"/>
                </a:lnTo>
                <a:lnTo>
                  <a:pt x="219966" y="54617"/>
                </a:lnTo>
                <a:lnTo>
                  <a:pt x="297895" y="20313"/>
                </a:lnTo>
                <a:lnTo>
                  <a:pt x="381019" y="1871"/>
                </a:lnTo>
                <a:lnTo>
                  <a:pt x="466144" y="0"/>
                </a:lnTo>
                <a:close/>
              </a:path>
            </a:pathLst>
          </a:custGeom>
          <a:solidFill>
            <a:srgbClr val="8CB92D"/>
          </a:solidFill>
          <a:ln w="6350">
            <a:solidFill>
              <a:srgbClr val="8CB92D"/>
            </a:solidFill>
            <a:prstDash val="solid"/>
          </a:ln>
        </p:spPr>
      </p:sp>
      <p:sp>
        <p:nvSpPr>
          <p:cNvPr id="4" name="Text 2"/>
          <p:cNvSpPr txBox="1"/>
          <p:nvPr/>
        </p:nvSpPr>
        <p:spPr>
          <a:xfrm>
            <a:off x="4745948" y="1906860"/>
            <a:ext cx="891540" cy="411480"/>
          </a:xfrm>
          <a:prstGeom prst="rect">
            <a:avLst/>
          </a:prstGeom>
          <a:noFill/>
          <a:ln/>
        </p:spPr>
        <p:txBody>
          <a:bodyPr wrap="square" lIns="0" tIns="0" rIns="0" bIns="0" rtlCol="0" anchor="ctr"/>
          <a:lstStyle/>
          <a:p>
            <a:pPr algn="ctr"/>
            <a:r>
              <a:rPr lang="en-US" sz="863" b="1" dirty="0">
                <a:solidFill>
                  <a:srgbClr val="FFFFFF"/>
                </a:solidFill>
                <a:latin typeface="Times New Roman" pitchFamily="34" charset="0"/>
                <a:ea typeface="Times New Roman" pitchFamily="34" charset="-122"/>
                <a:cs typeface="Times New Roman" pitchFamily="34" charset="-120"/>
              </a:rPr>
              <a:t>Problem</a:t>
            </a:r>
            <a:endParaRPr lang="en-US" sz="863" dirty="0"/>
          </a:p>
          <a:p>
            <a:pPr algn="ctr"/>
            <a:r>
              <a:rPr lang="en-US" sz="863" b="1" dirty="0">
                <a:solidFill>
                  <a:srgbClr val="FFFFFF"/>
                </a:solidFill>
                <a:latin typeface="Times New Roman" pitchFamily="34" charset="0"/>
                <a:ea typeface="Times New Roman" pitchFamily="34" charset="-122"/>
                <a:cs typeface="Times New Roman" pitchFamily="34" charset="-120"/>
              </a:rPr>
              <a:t>Definition</a:t>
            </a:r>
            <a:endParaRPr lang="en-US" sz="863" dirty="0"/>
          </a:p>
        </p:txBody>
      </p:sp>
      <p:sp>
        <p:nvSpPr>
          <p:cNvPr id="5" name="Shape 3"/>
          <p:cNvSpPr/>
          <p:nvPr/>
        </p:nvSpPr>
        <p:spPr>
          <a:xfrm>
            <a:off x="4671875" y="1556319"/>
            <a:ext cx="233172" cy="233172"/>
          </a:xfrm>
          <a:prstGeom prst="ellipse">
            <a:avLst/>
          </a:prstGeom>
          <a:solidFill>
            <a:srgbClr val="FFFFFF"/>
          </a:solidFill>
          <a:ln w="25400">
            <a:solidFill>
              <a:srgbClr val="8CB92D"/>
            </a:solidFill>
            <a:prstDash val="solid"/>
          </a:ln>
        </p:spPr>
      </p:sp>
      <p:sp>
        <p:nvSpPr>
          <p:cNvPr id="6" name="Text 4"/>
          <p:cNvSpPr txBox="1"/>
          <p:nvPr/>
        </p:nvSpPr>
        <p:spPr>
          <a:xfrm>
            <a:off x="4671875" y="1556319"/>
            <a:ext cx="233172" cy="233172"/>
          </a:xfrm>
          <a:prstGeom prst="rect">
            <a:avLst/>
          </a:prstGeom>
          <a:noFill/>
          <a:ln/>
        </p:spPr>
        <p:txBody>
          <a:bodyPr wrap="square" lIns="0" tIns="0" rIns="0" bIns="0" rtlCol="0" anchor="ctr"/>
          <a:lstStyle/>
          <a:p>
            <a:pPr algn="ctr"/>
            <a:r>
              <a:rPr lang="en-US" sz="825" b="1" dirty="0">
                <a:solidFill>
                  <a:srgbClr val="8CB92D"/>
                </a:solidFill>
                <a:latin typeface="Times New Roman" pitchFamily="34" charset="0"/>
                <a:ea typeface="Times New Roman" pitchFamily="34" charset="-122"/>
                <a:cs typeface="Times New Roman" pitchFamily="34" charset="-120"/>
              </a:rPr>
              <a:t>1</a:t>
            </a:r>
            <a:endParaRPr lang="en-US" sz="825" dirty="0"/>
          </a:p>
        </p:txBody>
      </p:sp>
      <p:sp>
        <p:nvSpPr>
          <p:cNvPr id="7" name="Shape 5"/>
          <p:cNvSpPr/>
          <p:nvPr/>
        </p:nvSpPr>
        <p:spPr>
          <a:xfrm>
            <a:off x="5558883" y="2513958"/>
            <a:ext cx="762166" cy="1137638"/>
          </a:xfrm>
          <a:custGeom>
            <a:avLst/>
            <a:gdLst/>
            <a:ahLst/>
            <a:cxnLst/>
            <a:rect l="l" t="t" r="r" b="b"/>
            <a:pathLst>
              <a:path w="1016221" h="1516850">
                <a:moveTo>
                  <a:pt x="834270" y="264926"/>
                </a:moveTo>
                <a:lnTo>
                  <a:pt x="853783" y="312446"/>
                </a:lnTo>
                <a:lnTo>
                  <a:pt x="872244" y="360384"/>
                </a:lnTo>
                <a:lnTo>
                  <a:pt x="889645" y="408717"/>
                </a:lnTo>
                <a:lnTo>
                  <a:pt x="905976" y="457421"/>
                </a:lnTo>
                <a:lnTo>
                  <a:pt x="921231" y="506473"/>
                </a:lnTo>
                <a:lnTo>
                  <a:pt x="935402" y="555850"/>
                </a:lnTo>
                <a:lnTo>
                  <a:pt x="948481" y="605527"/>
                </a:lnTo>
                <a:lnTo>
                  <a:pt x="960463" y="655479"/>
                </a:lnTo>
                <a:lnTo>
                  <a:pt x="971341" y="705684"/>
                </a:lnTo>
                <a:lnTo>
                  <a:pt x="981111" y="756116"/>
                </a:lnTo>
                <a:lnTo>
                  <a:pt x="989768" y="806751"/>
                </a:lnTo>
                <a:lnTo>
                  <a:pt x="997306" y="857565"/>
                </a:lnTo>
                <a:lnTo>
                  <a:pt x="1003724" y="908532"/>
                </a:lnTo>
                <a:lnTo>
                  <a:pt x="1009018" y="959628"/>
                </a:lnTo>
                <a:lnTo>
                  <a:pt x="1013184" y="1010828"/>
                </a:lnTo>
                <a:lnTo>
                  <a:pt x="1016221" y="1062108"/>
                </a:lnTo>
                <a:lnTo>
                  <a:pt x="1011964" y="1147147"/>
                </a:lnTo>
                <a:lnTo>
                  <a:pt x="991198" y="1229722"/>
                </a:lnTo>
                <a:lnTo>
                  <a:pt x="954721" y="1306658"/>
                </a:lnTo>
                <a:lnTo>
                  <a:pt x="903936" y="1375000"/>
                </a:lnTo>
                <a:lnTo>
                  <a:pt x="840794" y="1432121"/>
                </a:lnTo>
                <a:lnTo>
                  <a:pt x="767721" y="1475826"/>
                </a:lnTo>
                <a:lnTo>
                  <a:pt x="687526" y="1504436"/>
                </a:lnTo>
                <a:lnTo>
                  <a:pt x="603290" y="1516850"/>
                </a:lnTo>
                <a:lnTo>
                  <a:pt x="518251" y="1512592"/>
                </a:lnTo>
                <a:lnTo>
                  <a:pt x="435677" y="1491826"/>
                </a:lnTo>
                <a:lnTo>
                  <a:pt x="358740" y="1455350"/>
                </a:lnTo>
                <a:lnTo>
                  <a:pt x="290398" y="1404564"/>
                </a:lnTo>
                <a:lnTo>
                  <a:pt x="233277" y="1341422"/>
                </a:lnTo>
                <a:lnTo>
                  <a:pt x="189572" y="1268349"/>
                </a:lnTo>
                <a:lnTo>
                  <a:pt x="160963" y="1188154"/>
                </a:lnTo>
                <a:lnTo>
                  <a:pt x="148548" y="1103919"/>
                </a:lnTo>
                <a:lnTo>
                  <a:pt x="146642" y="1071743"/>
                </a:lnTo>
                <a:lnTo>
                  <a:pt x="144028" y="1039617"/>
                </a:lnTo>
                <a:lnTo>
                  <a:pt x="140707" y="1007557"/>
                </a:lnTo>
                <a:lnTo>
                  <a:pt x="136680" y="975577"/>
                </a:lnTo>
                <a:lnTo>
                  <a:pt x="131950" y="943694"/>
                </a:lnTo>
                <a:lnTo>
                  <a:pt x="126518" y="911923"/>
                </a:lnTo>
                <a:lnTo>
                  <a:pt x="120388" y="880280"/>
                </a:lnTo>
                <a:lnTo>
                  <a:pt x="113562" y="848779"/>
                </a:lnTo>
                <a:lnTo>
                  <a:pt x="106044" y="817436"/>
                </a:lnTo>
                <a:lnTo>
                  <a:pt x="97838" y="786266"/>
                </a:lnTo>
                <a:lnTo>
                  <a:pt x="88946" y="755285"/>
                </a:lnTo>
                <a:lnTo>
                  <a:pt x="79375" y="724507"/>
                </a:lnTo>
                <a:lnTo>
                  <a:pt x="69127" y="693947"/>
                </a:lnTo>
                <a:lnTo>
                  <a:pt x="58209" y="663621"/>
                </a:lnTo>
                <a:lnTo>
                  <a:pt x="46626" y="633542"/>
                </a:lnTo>
                <a:lnTo>
                  <a:pt x="34383" y="603726"/>
                </a:lnTo>
                <a:lnTo>
                  <a:pt x="9019" y="522446"/>
                </a:lnTo>
                <a:lnTo>
                  <a:pt x="0" y="437779"/>
                </a:lnTo>
                <a:lnTo>
                  <a:pt x="7672" y="352980"/>
                </a:lnTo>
                <a:lnTo>
                  <a:pt x="31740" y="271307"/>
                </a:lnTo>
                <a:lnTo>
                  <a:pt x="71279" y="195899"/>
                </a:lnTo>
                <a:lnTo>
                  <a:pt x="124769" y="129653"/>
                </a:lnTo>
                <a:lnTo>
                  <a:pt x="190156" y="75116"/>
                </a:lnTo>
                <a:lnTo>
                  <a:pt x="264926" y="34383"/>
                </a:lnTo>
                <a:lnTo>
                  <a:pt x="346207" y="9019"/>
                </a:lnTo>
                <a:lnTo>
                  <a:pt x="430873" y="0"/>
                </a:lnTo>
                <a:lnTo>
                  <a:pt x="515672" y="7672"/>
                </a:lnTo>
                <a:lnTo>
                  <a:pt x="597345" y="31740"/>
                </a:lnTo>
                <a:lnTo>
                  <a:pt x="672754" y="71279"/>
                </a:lnTo>
                <a:lnTo>
                  <a:pt x="739000" y="124769"/>
                </a:lnTo>
                <a:lnTo>
                  <a:pt x="793537" y="190156"/>
                </a:lnTo>
                <a:close/>
              </a:path>
            </a:pathLst>
          </a:custGeom>
          <a:solidFill>
            <a:srgbClr val="2E9FC6"/>
          </a:solidFill>
          <a:ln w="6350">
            <a:solidFill>
              <a:srgbClr val="2E9FC6"/>
            </a:solidFill>
            <a:prstDash val="solid"/>
          </a:ln>
        </p:spPr>
      </p:sp>
      <p:sp>
        <p:nvSpPr>
          <p:cNvPr id="8" name="Text 6"/>
          <p:cNvSpPr txBox="1"/>
          <p:nvPr/>
        </p:nvSpPr>
        <p:spPr>
          <a:xfrm>
            <a:off x="5515873" y="2872315"/>
            <a:ext cx="891540" cy="411480"/>
          </a:xfrm>
          <a:prstGeom prst="rect">
            <a:avLst/>
          </a:prstGeom>
          <a:noFill/>
          <a:ln/>
        </p:spPr>
        <p:txBody>
          <a:bodyPr wrap="square" lIns="0" tIns="0" rIns="0" bIns="0" rtlCol="0" anchor="ctr"/>
          <a:lstStyle/>
          <a:p>
            <a:pPr algn="ctr"/>
            <a:r>
              <a:rPr lang="en-US" sz="863" b="1" dirty="0">
                <a:solidFill>
                  <a:srgbClr val="FFFFFF"/>
                </a:solidFill>
                <a:latin typeface="Times New Roman" pitchFamily="34" charset="0"/>
                <a:ea typeface="Times New Roman" pitchFamily="34" charset="-122"/>
                <a:cs typeface="Times New Roman" pitchFamily="34" charset="-120"/>
              </a:rPr>
              <a:t>Data</a:t>
            </a:r>
            <a:endParaRPr lang="en-US" sz="863" dirty="0"/>
          </a:p>
          <a:p>
            <a:pPr algn="ctr"/>
            <a:r>
              <a:rPr lang="en-US" sz="863" b="1" dirty="0">
                <a:solidFill>
                  <a:srgbClr val="FFFFFF"/>
                </a:solidFill>
                <a:latin typeface="Times New Roman" pitchFamily="34" charset="0"/>
                <a:ea typeface="Times New Roman" pitchFamily="34" charset="-122"/>
                <a:cs typeface="Times New Roman" pitchFamily="34" charset="-120"/>
              </a:rPr>
              <a:t>Collection</a:t>
            </a:r>
            <a:endParaRPr lang="en-US" sz="863" dirty="0"/>
          </a:p>
        </p:txBody>
      </p:sp>
      <p:sp>
        <p:nvSpPr>
          <p:cNvPr id="9" name="Shape 7"/>
          <p:cNvSpPr/>
          <p:nvPr/>
        </p:nvSpPr>
        <p:spPr>
          <a:xfrm>
            <a:off x="5937397" y="2372045"/>
            <a:ext cx="233172" cy="233172"/>
          </a:xfrm>
          <a:prstGeom prst="ellipse">
            <a:avLst/>
          </a:prstGeom>
          <a:solidFill>
            <a:srgbClr val="FFFFFF"/>
          </a:solidFill>
          <a:ln w="25400">
            <a:solidFill>
              <a:srgbClr val="2E9FC6"/>
            </a:solidFill>
            <a:prstDash val="solid"/>
          </a:ln>
        </p:spPr>
      </p:sp>
      <p:sp>
        <p:nvSpPr>
          <p:cNvPr id="10" name="Text 8"/>
          <p:cNvSpPr txBox="1"/>
          <p:nvPr/>
        </p:nvSpPr>
        <p:spPr>
          <a:xfrm>
            <a:off x="5937397" y="2372045"/>
            <a:ext cx="233172" cy="233172"/>
          </a:xfrm>
          <a:prstGeom prst="rect">
            <a:avLst/>
          </a:prstGeom>
          <a:noFill/>
          <a:ln/>
        </p:spPr>
        <p:txBody>
          <a:bodyPr wrap="square" lIns="0" tIns="0" rIns="0" bIns="0" rtlCol="0" anchor="ctr"/>
          <a:lstStyle/>
          <a:p>
            <a:pPr algn="ctr"/>
            <a:r>
              <a:rPr lang="en-US" sz="825" b="1" dirty="0">
                <a:solidFill>
                  <a:srgbClr val="2E9FC6"/>
                </a:solidFill>
                <a:latin typeface="Times New Roman" pitchFamily="34" charset="0"/>
                <a:ea typeface="Times New Roman" pitchFamily="34" charset="-122"/>
                <a:cs typeface="Times New Roman" pitchFamily="34" charset="-120"/>
              </a:rPr>
              <a:t>2</a:t>
            </a:r>
            <a:endParaRPr lang="en-US" sz="825" dirty="0"/>
          </a:p>
        </p:txBody>
      </p:sp>
      <p:sp>
        <p:nvSpPr>
          <p:cNvPr id="11" name="Shape 9"/>
          <p:cNvSpPr/>
          <p:nvPr/>
        </p:nvSpPr>
        <p:spPr>
          <a:xfrm>
            <a:off x="5188967" y="3748762"/>
            <a:ext cx="960600" cy="1039616"/>
          </a:xfrm>
          <a:custGeom>
            <a:avLst/>
            <a:gdLst/>
            <a:ahLst/>
            <a:cxnLst/>
            <a:rect l="l" t="t" r="r" b="b"/>
            <a:pathLst>
              <a:path w="1280800" h="1386155">
                <a:moveTo>
                  <a:pt x="1230103" y="639569"/>
                </a:moveTo>
                <a:lnTo>
                  <a:pt x="1205117" y="684452"/>
                </a:lnTo>
                <a:lnTo>
                  <a:pt x="1179148" y="728775"/>
                </a:lnTo>
                <a:lnTo>
                  <a:pt x="1152209" y="772514"/>
                </a:lnTo>
                <a:lnTo>
                  <a:pt x="1124313" y="815649"/>
                </a:lnTo>
                <a:lnTo>
                  <a:pt x="1095474" y="858160"/>
                </a:lnTo>
                <a:lnTo>
                  <a:pt x="1065705" y="900024"/>
                </a:lnTo>
                <a:lnTo>
                  <a:pt x="1035021" y="941223"/>
                </a:lnTo>
                <a:lnTo>
                  <a:pt x="1003437" y="981736"/>
                </a:lnTo>
                <a:lnTo>
                  <a:pt x="970968" y="1021543"/>
                </a:lnTo>
                <a:lnTo>
                  <a:pt x="937630" y="1060625"/>
                </a:lnTo>
                <a:lnTo>
                  <a:pt x="903439" y="1098964"/>
                </a:lnTo>
                <a:lnTo>
                  <a:pt x="868412" y="1136540"/>
                </a:lnTo>
                <a:lnTo>
                  <a:pt x="832565" y="1173335"/>
                </a:lnTo>
                <a:lnTo>
                  <a:pt x="795917" y="1209331"/>
                </a:lnTo>
                <a:lnTo>
                  <a:pt x="758485" y="1244512"/>
                </a:lnTo>
                <a:lnTo>
                  <a:pt x="720286" y="1278859"/>
                </a:lnTo>
                <a:lnTo>
                  <a:pt x="651146" y="1328551"/>
                </a:lnTo>
                <a:lnTo>
                  <a:pt x="573639" y="1363800"/>
                </a:lnTo>
                <a:lnTo>
                  <a:pt x="490745" y="1383250"/>
                </a:lnTo>
                <a:lnTo>
                  <a:pt x="405649" y="1386155"/>
                </a:lnTo>
                <a:lnTo>
                  <a:pt x="321621" y="1372403"/>
                </a:lnTo>
                <a:lnTo>
                  <a:pt x="241891" y="1342522"/>
                </a:lnTo>
                <a:lnTo>
                  <a:pt x="169522" y="1297661"/>
                </a:lnTo>
                <a:lnTo>
                  <a:pt x="107296" y="1239543"/>
                </a:lnTo>
                <a:lnTo>
                  <a:pt x="57604" y="1170402"/>
                </a:lnTo>
                <a:lnTo>
                  <a:pt x="22356" y="1092895"/>
                </a:lnTo>
                <a:lnTo>
                  <a:pt x="2905" y="1010001"/>
                </a:lnTo>
                <a:lnTo>
                  <a:pt x="0" y="924905"/>
                </a:lnTo>
                <a:lnTo>
                  <a:pt x="13752" y="840878"/>
                </a:lnTo>
                <a:lnTo>
                  <a:pt x="43633" y="761148"/>
                </a:lnTo>
                <a:lnTo>
                  <a:pt x="88495" y="688779"/>
                </a:lnTo>
                <a:lnTo>
                  <a:pt x="146612" y="626553"/>
                </a:lnTo>
                <a:lnTo>
                  <a:pt x="170580" y="605002"/>
                </a:lnTo>
                <a:lnTo>
                  <a:pt x="194067" y="582928"/>
                </a:lnTo>
                <a:lnTo>
                  <a:pt x="217062" y="560342"/>
                </a:lnTo>
                <a:lnTo>
                  <a:pt x="239554" y="537254"/>
                </a:lnTo>
                <a:lnTo>
                  <a:pt x="261532" y="513677"/>
                </a:lnTo>
                <a:lnTo>
                  <a:pt x="282985" y="489622"/>
                </a:lnTo>
                <a:lnTo>
                  <a:pt x="303903" y="465100"/>
                </a:lnTo>
                <a:lnTo>
                  <a:pt x="324275" y="440123"/>
                </a:lnTo>
                <a:lnTo>
                  <a:pt x="344093" y="414703"/>
                </a:lnTo>
                <a:lnTo>
                  <a:pt x="363345" y="388853"/>
                </a:lnTo>
                <a:lnTo>
                  <a:pt x="382024" y="362585"/>
                </a:lnTo>
                <a:lnTo>
                  <a:pt x="400119" y="335912"/>
                </a:lnTo>
                <a:lnTo>
                  <a:pt x="417623" y="308846"/>
                </a:lnTo>
                <a:lnTo>
                  <a:pt x="434526" y="281402"/>
                </a:lnTo>
                <a:lnTo>
                  <a:pt x="450820" y="253592"/>
                </a:lnTo>
                <a:lnTo>
                  <a:pt x="466497" y="225430"/>
                </a:lnTo>
                <a:lnTo>
                  <a:pt x="514231" y="154922"/>
                </a:lnTo>
                <a:lnTo>
                  <a:pt x="574803" y="95082"/>
                </a:lnTo>
                <a:lnTo>
                  <a:pt x="645885" y="48209"/>
                </a:lnTo>
                <a:lnTo>
                  <a:pt x="724745" y="16103"/>
                </a:lnTo>
                <a:lnTo>
                  <a:pt x="808354" y="0"/>
                </a:lnTo>
                <a:lnTo>
                  <a:pt x="893498" y="517"/>
                </a:lnTo>
                <a:lnTo>
                  <a:pt x="976905" y="17635"/>
                </a:lnTo>
                <a:lnTo>
                  <a:pt x="1055370" y="50696"/>
                </a:lnTo>
                <a:lnTo>
                  <a:pt x="1125877" y="98430"/>
                </a:lnTo>
                <a:lnTo>
                  <a:pt x="1185717" y="159001"/>
                </a:lnTo>
                <a:lnTo>
                  <a:pt x="1232591" y="230083"/>
                </a:lnTo>
                <a:lnTo>
                  <a:pt x="1264696" y="308944"/>
                </a:lnTo>
                <a:lnTo>
                  <a:pt x="1280800" y="392553"/>
                </a:lnTo>
                <a:lnTo>
                  <a:pt x="1280282" y="477697"/>
                </a:lnTo>
                <a:lnTo>
                  <a:pt x="1263164" y="561104"/>
                </a:lnTo>
                <a:close/>
              </a:path>
            </a:pathLst>
          </a:custGeom>
          <a:solidFill>
            <a:srgbClr val="0B5A8A"/>
          </a:solidFill>
          <a:ln w="6350">
            <a:solidFill>
              <a:srgbClr val="0B5A8A"/>
            </a:solidFill>
            <a:prstDash val="solid"/>
          </a:ln>
        </p:spPr>
      </p:sp>
      <p:sp>
        <p:nvSpPr>
          <p:cNvPr id="12" name="Text 10"/>
          <p:cNvSpPr txBox="1"/>
          <p:nvPr/>
        </p:nvSpPr>
        <p:spPr>
          <a:xfrm>
            <a:off x="5241089" y="4076218"/>
            <a:ext cx="891540" cy="411480"/>
          </a:xfrm>
          <a:prstGeom prst="rect">
            <a:avLst/>
          </a:prstGeom>
          <a:noFill/>
          <a:ln/>
        </p:spPr>
        <p:txBody>
          <a:bodyPr wrap="square" lIns="0" tIns="0" rIns="0" bIns="0" rtlCol="0" anchor="ctr"/>
          <a:lstStyle/>
          <a:p>
            <a:pPr algn="ctr"/>
            <a:r>
              <a:rPr lang="en-US" sz="863" b="1" dirty="0">
                <a:solidFill>
                  <a:srgbClr val="FFFFFF"/>
                </a:solidFill>
                <a:latin typeface="Times New Roman" pitchFamily="34" charset="0"/>
                <a:ea typeface="Times New Roman" pitchFamily="34" charset="-122"/>
                <a:cs typeface="Times New Roman" pitchFamily="34" charset="-120"/>
              </a:rPr>
              <a:t>Data</a:t>
            </a:r>
            <a:endParaRPr lang="en-US" sz="863" dirty="0"/>
          </a:p>
          <a:p>
            <a:pPr algn="ctr"/>
            <a:r>
              <a:rPr lang="en-US" sz="863" b="1" dirty="0">
                <a:solidFill>
                  <a:srgbClr val="FFFFFF"/>
                </a:solidFill>
                <a:latin typeface="Times New Roman" pitchFamily="34" charset="0"/>
                <a:ea typeface="Times New Roman" pitchFamily="34" charset="-122"/>
                <a:cs typeface="Times New Roman" pitchFamily="34" charset="-120"/>
              </a:rPr>
              <a:t>Preparation</a:t>
            </a:r>
            <a:endParaRPr lang="en-US" sz="863" dirty="0"/>
          </a:p>
        </p:txBody>
      </p:sp>
      <p:sp>
        <p:nvSpPr>
          <p:cNvPr id="13" name="Shape 11"/>
          <p:cNvSpPr/>
          <p:nvPr/>
        </p:nvSpPr>
        <p:spPr>
          <a:xfrm>
            <a:off x="6088677" y="3870066"/>
            <a:ext cx="233172" cy="233172"/>
          </a:xfrm>
          <a:prstGeom prst="ellipse">
            <a:avLst/>
          </a:prstGeom>
          <a:solidFill>
            <a:srgbClr val="FFFFFF"/>
          </a:solidFill>
          <a:ln w="25400">
            <a:solidFill>
              <a:srgbClr val="0B5A8A"/>
            </a:solidFill>
            <a:prstDash val="solid"/>
          </a:ln>
        </p:spPr>
      </p:sp>
      <p:sp>
        <p:nvSpPr>
          <p:cNvPr id="14" name="Text 12"/>
          <p:cNvSpPr txBox="1"/>
          <p:nvPr/>
        </p:nvSpPr>
        <p:spPr>
          <a:xfrm>
            <a:off x="6088677" y="3870066"/>
            <a:ext cx="233172" cy="233172"/>
          </a:xfrm>
          <a:prstGeom prst="rect">
            <a:avLst/>
          </a:prstGeom>
          <a:noFill/>
          <a:ln/>
        </p:spPr>
        <p:txBody>
          <a:bodyPr wrap="square" lIns="0" tIns="0" rIns="0" bIns="0" rtlCol="0" anchor="ctr"/>
          <a:lstStyle/>
          <a:p>
            <a:pPr algn="ctr"/>
            <a:r>
              <a:rPr lang="en-US" sz="825" b="1" dirty="0">
                <a:solidFill>
                  <a:srgbClr val="0B5A8A"/>
                </a:solidFill>
                <a:latin typeface="Times New Roman" pitchFamily="34" charset="0"/>
                <a:ea typeface="Times New Roman" pitchFamily="34" charset="-122"/>
                <a:cs typeface="Times New Roman" pitchFamily="34" charset="-120"/>
              </a:rPr>
              <a:t>3</a:t>
            </a:r>
            <a:endParaRPr lang="en-US" sz="825" dirty="0"/>
          </a:p>
        </p:txBody>
      </p:sp>
      <p:sp>
        <p:nvSpPr>
          <p:cNvPr id="15" name="Shape 13"/>
          <p:cNvSpPr/>
          <p:nvPr/>
        </p:nvSpPr>
        <p:spPr>
          <a:xfrm>
            <a:off x="3999083" y="4470010"/>
            <a:ext cx="1150406" cy="673490"/>
          </a:xfrm>
          <a:custGeom>
            <a:avLst/>
            <a:gdLst/>
            <a:ahLst/>
            <a:cxnLst/>
            <a:rect l="l" t="t" r="r" b="b"/>
            <a:pathLst>
              <a:path w="1533874" h="897986">
                <a:moveTo>
                  <a:pt x="1175778" y="861864"/>
                </a:moveTo>
                <a:lnTo>
                  <a:pt x="1125108" y="870313"/>
                </a:lnTo>
                <a:lnTo>
                  <a:pt x="1074264" y="877644"/>
                </a:lnTo>
                <a:lnTo>
                  <a:pt x="1023271" y="883854"/>
                </a:lnTo>
                <a:lnTo>
                  <a:pt x="972154" y="888938"/>
                </a:lnTo>
                <a:lnTo>
                  <a:pt x="920937" y="892895"/>
                </a:lnTo>
                <a:lnTo>
                  <a:pt x="869645" y="895723"/>
                </a:lnTo>
                <a:lnTo>
                  <a:pt x="818303" y="897420"/>
                </a:lnTo>
                <a:lnTo>
                  <a:pt x="766937" y="897986"/>
                </a:lnTo>
                <a:lnTo>
                  <a:pt x="715570" y="897420"/>
                </a:lnTo>
                <a:lnTo>
                  <a:pt x="664229" y="895723"/>
                </a:lnTo>
                <a:lnTo>
                  <a:pt x="612937" y="892895"/>
                </a:lnTo>
                <a:lnTo>
                  <a:pt x="561720" y="888938"/>
                </a:lnTo>
                <a:lnTo>
                  <a:pt x="510602" y="883854"/>
                </a:lnTo>
                <a:lnTo>
                  <a:pt x="459609" y="877644"/>
                </a:lnTo>
                <a:lnTo>
                  <a:pt x="408766" y="870313"/>
                </a:lnTo>
                <a:lnTo>
                  <a:pt x="358096" y="861864"/>
                </a:lnTo>
                <a:lnTo>
                  <a:pt x="276136" y="838790"/>
                </a:lnTo>
                <a:lnTo>
                  <a:pt x="200253" y="800170"/>
                </a:lnTo>
                <a:lnTo>
                  <a:pt x="133362" y="747488"/>
                </a:lnTo>
                <a:lnTo>
                  <a:pt x="78035" y="682768"/>
                </a:lnTo>
                <a:lnTo>
                  <a:pt x="36396" y="608498"/>
                </a:lnTo>
                <a:lnTo>
                  <a:pt x="10047" y="527532"/>
                </a:lnTo>
                <a:lnTo>
                  <a:pt x="0" y="442982"/>
                </a:lnTo>
                <a:lnTo>
                  <a:pt x="6641" y="358096"/>
                </a:lnTo>
                <a:lnTo>
                  <a:pt x="29715" y="276136"/>
                </a:lnTo>
                <a:lnTo>
                  <a:pt x="68335" y="200253"/>
                </a:lnTo>
                <a:lnTo>
                  <a:pt x="121017" y="133362"/>
                </a:lnTo>
                <a:lnTo>
                  <a:pt x="185736" y="78035"/>
                </a:lnTo>
                <a:lnTo>
                  <a:pt x="260006" y="36396"/>
                </a:lnTo>
                <a:lnTo>
                  <a:pt x="340972" y="10047"/>
                </a:lnTo>
                <a:lnTo>
                  <a:pt x="425523" y="0"/>
                </a:lnTo>
                <a:lnTo>
                  <a:pt x="510409" y="6641"/>
                </a:lnTo>
                <a:lnTo>
                  <a:pt x="542202" y="11943"/>
                </a:lnTo>
                <a:lnTo>
                  <a:pt x="574104" y="16543"/>
                </a:lnTo>
                <a:lnTo>
                  <a:pt x="606100" y="20439"/>
                </a:lnTo>
                <a:lnTo>
                  <a:pt x="638173" y="23629"/>
                </a:lnTo>
                <a:lnTo>
                  <a:pt x="670309" y="26112"/>
                </a:lnTo>
                <a:lnTo>
                  <a:pt x="702493" y="27886"/>
                </a:lnTo>
                <a:lnTo>
                  <a:pt x="734707" y="28951"/>
                </a:lnTo>
                <a:lnTo>
                  <a:pt x="766937" y="29306"/>
                </a:lnTo>
                <a:lnTo>
                  <a:pt x="799167" y="28951"/>
                </a:lnTo>
                <a:lnTo>
                  <a:pt x="831381" y="27886"/>
                </a:lnTo>
                <a:lnTo>
                  <a:pt x="863564" y="26112"/>
                </a:lnTo>
                <a:lnTo>
                  <a:pt x="895701" y="23629"/>
                </a:lnTo>
                <a:lnTo>
                  <a:pt x="927774" y="20439"/>
                </a:lnTo>
                <a:lnTo>
                  <a:pt x="959770" y="16543"/>
                </a:lnTo>
                <a:lnTo>
                  <a:pt x="991672" y="11943"/>
                </a:lnTo>
                <a:lnTo>
                  <a:pt x="1023465" y="6641"/>
                </a:lnTo>
                <a:lnTo>
                  <a:pt x="1108351" y="0"/>
                </a:lnTo>
                <a:lnTo>
                  <a:pt x="1192902" y="10047"/>
                </a:lnTo>
                <a:lnTo>
                  <a:pt x="1273868" y="36396"/>
                </a:lnTo>
                <a:lnTo>
                  <a:pt x="1348137" y="78035"/>
                </a:lnTo>
                <a:lnTo>
                  <a:pt x="1412857" y="133362"/>
                </a:lnTo>
                <a:lnTo>
                  <a:pt x="1465539" y="200253"/>
                </a:lnTo>
                <a:lnTo>
                  <a:pt x="1504159" y="276136"/>
                </a:lnTo>
                <a:lnTo>
                  <a:pt x="1527233" y="358096"/>
                </a:lnTo>
                <a:lnTo>
                  <a:pt x="1533874" y="442982"/>
                </a:lnTo>
                <a:lnTo>
                  <a:pt x="1523827" y="527532"/>
                </a:lnTo>
                <a:lnTo>
                  <a:pt x="1497478" y="608498"/>
                </a:lnTo>
                <a:lnTo>
                  <a:pt x="1455839" y="682768"/>
                </a:lnTo>
                <a:lnTo>
                  <a:pt x="1400512" y="747488"/>
                </a:lnTo>
                <a:lnTo>
                  <a:pt x="1333621" y="800170"/>
                </a:lnTo>
                <a:lnTo>
                  <a:pt x="1257738" y="838790"/>
                </a:lnTo>
                <a:close/>
              </a:path>
            </a:pathLst>
          </a:custGeom>
          <a:solidFill>
            <a:srgbClr val="8B1A45"/>
          </a:solidFill>
          <a:ln w="6350">
            <a:solidFill>
              <a:srgbClr val="8B1A45"/>
            </a:solidFill>
            <a:prstDash val="solid"/>
          </a:ln>
        </p:spPr>
      </p:sp>
      <p:sp>
        <p:nvSpPr>
          <p:cNvPr id="16" name="Text 14"/>
          <p:cNvSpPr txBox="1"/>
          <p:nvPr/>
        </p:nvSpPr>
        <p:spPr>
          <a:xfrm>
            <a:off x="4128516" y="4612005"/>
            <a:ext cx="891540" cy="411480"/>
          </a:xfrm>
          <a:prstGeom prst="rect">
            <a:avLst/>
          </a:prstGeom>
          <a:noFill/>
          <a:ln/>
        </p:spPr>
        <p:txBody>
          <a:bodyPr wrap="square" lIns="0" tIns="0" rIns="0" bIns="0" rtlCol="0" anchor="ctr"/>
          <a:lstStyle/>
          <a:p>
            <a:pPr algn="ctr"/>
            <a:r>
              <a:rPr lang="en-US" sz="863" b="1" dirty="0">
                <a:solidFill>
                  <a:srgbClr val="FFFFFF"/>
                </a:solidFill>
                <a:latin typeface="Times New Roman" pitchFamily="34" charset="0"/>
                <a:ea typeface="Times New Roman" pitchFamily="34" charset="-122"/>
                <a:cs typeface="Times New Roman" pitchFamily="34" charset="-120"/>
              </a:rPr>
              <a:t>Model</a:t>
            </a:r>
            <a:endParaRPr lang="en-US" sz="863" dirty="0"/>
          </a:p>
          <a:p>
            <a:pPr algn="ctr"/>
            <a:r>
              <a:rPr lang="en-US" sz="863" b="1" dirty="0">
                <a:solidFill>
                  <a:srgbClr val="FFFFFF"/>
                </a:solidFill>
                <a:latin typeface="Times New Roman" pitchFamily="34" charset="0"/>
                <a:ea typeface="Times New Roman" pitchFamily="34" charset="-122"/>
                <a:cs typeface="Times New Roman" pitchFamily="34" charset="-120"/>
              </a:rPr>
              <a:t>Development</a:t>
            </a:r>
            <a:endParaRPr lang="en-US" sz="863" dirty="0"/>
          </a:p>
        </p:txBody>
      </p:sp>
      <p:sp>
        <p:nvSpPr>
          <p:cNvPr id="17" name="Shape 15"/>
          <p:cNvSpPr/>
          <p:nvPr/>
        </p:nvSpPr>
        <p:spPr>
          <a:xfrm>
            <a:off x="5011799" y="4922343"/>
            <a:ext cx="233172" cy="233172"/>
          </a:xfrm>
          <a:prstGeom prst="ellipse">
            <a:avLst/>
          </a:prstGeom>
          <a:solidFill>
            <a:srgbClr val="FFFFFF"/>
          </a:solidFill>
          <a:ln w="25400">
            <a:solidFill>
              <a:srgbClr val="8B1A45"/>
            </a:solidFill>
            <a:prstDash val="solid"/>
          </a:ln>
        </p:spPr>
      </p:sp>
      <p:sp>
        <p:nvSpPr>
          <p:cNvPr id="18" name="Text 16"/>
          <p:cNvSpPr txBox="1"/>
          <p:nvPr/>
        </p:nvSpPr>
        <p:spPr>
          <a:xfrm>
            <a:off x="5011799" y="4922343"/>
            <a:ext cx="233172" cy="233172"/>
          </a:xfrm>
          <a:prstGeom prst="rect">
            <a:avLst/>
          </a:prstGeom>
          <a:noFill/>
          <a:ln/>
        </p:spPr>
        <p:txBody>
          <a:bodyPr wrap="square" lIns="0" tIns="0" rIns="0" bIns="0" rtlCol="0" anchor="ctr"/>
          <a:lstStyle/>
          <a:p>
            <a:pPr algn="ctr"/>
            <a:r>
              <a:rPr lang="en-US" sz="825" b="1" dirty="0">
                <a:solidFill>
                  <a:srgbClr val="8B1A45"/>
                </a:solidFill>
                <a:latin typeface="Times New Roman" pitchFamily="34" charset="0"/>
                <a:ea typeface="Times New Roman" pitchFamily="34" charset="-122"/>
                <a:cs typeface="Times New Roman" pitchFamily="34" charset="-120"/>
              </a:rPr>
              <a:t>4</a:t>
            </a:r>
            <a:endParaRPr lang="en-US" sz="825" dirty="0"/>
          </a:p>
        </p:txBody>
      </p:sp>
      <p:sp>
        <p:nvSpPr>
          <p:cNvPr id="19" name="Shape 17"/>
          <p:cNvSpPr/>
          <p:nvPr/>
        </p:nvSpPr>
        <p:spPr>
          <a:xfrm>
            <a:off x="2999005" y="3748762"/>
            <a:ext cx="960600" cy="1039616"/>
          </a:xfrm>
          <a:custGeom>
            <a:avLst/>
            <a:gdLst/>
            <a:ahLst/>
            <a:cxnLst/>
            <a:rect l="l" t="t" r="r" b="b"/>
            <a:pathLst>
              <a:path w="1280800" h="1386155">
                <a:moveTo>
                  <a:pt x="560513" y="1278859"/>
                </a:moveTo>
                <a:lnTo>
                  <a:pt x="522315" y="1244512"/>
                </a:lnTo>
                <a:lnTo>
                  <a:pt x="484882" y="1209331"/>
                </a:lnTo>
                <a:lnTo>
                  <a:pt x="448234" y="1173335"/>
                </a:lnTo>
                <a:lnTo>
                  <a:pt x="412388" y="1136540"/>
                </a:lnTo>
                <a:lnTo>
                  <a:pt x="377361" y="1098964"/>
                </a:lnTo>
                <a:lnTo>
                  <a:pt x="343170" y="1060625"/>
                </a:lnTo>
                <a:lnTo>
                  <a:pt x="309832" y="1021543"/>
                </a:lnTo>
                <a:lnTo>
                  <a:pt x="277363" y="981736"/>
                </a:lnTo>
                <a:lnTo>
                  <a:pt x="245779" y="941223"/>
                </a:lnTo>
                <a:lnTo>
                  <a:pt x="215095" y="900024"/>
                </a:lnTo>
                <a:lnTo>
                  <a:pt x="185326" y="858160"/>
                </a:lnTo>
                <a:lnTo>
                  <a:pt x="156486" y="815649"/>
                </a:lnTo>
                <a:lnTo>
                  <a:pt x="128590" y="772514"/>
                </a:lnTo>
                <a:lnTo>
                  <a:pt x="101651" y="728775"/>
                </a:lnTo>
                <a:lnTo>
                  <a:pt x="75682" y="684452"/>
                </a:lnTo>
                <a:lnTo>
                  <a:pt x="50696" y="639569"/>
                </a:lnTo>
                <a:lnTo>
                  <a:pt x="17635" y="561104"/>
                </a:lnTo>
                <a:lnTo>
                  <a:pt x="517" y="477697"/>
                </a:lnTo>
                <a:lnTo>
                  <a:pt x="0" y="392553"/>
                </a:lnTo>
                <a:lnTo>
                  <a:pt x="16103" y="308944"/>
                </a:lnTo>
                <a:lnTo>
                  <a:pt x="48209" y="230083"/>
                </a:lnTo>
                <a:lnTo>
                  <a:pt x="95082" y="159001"/>
                </a:lnTo>
                <a:lnTo>
                  <a:pt x="154922" y="98430"/>
                </a:lnTo>
                <a:lnTo>
                  <a:pt x="225430" y="50696"/>
                </a:lnTo>
                <a:lnTo>
                  <a:pt x="303894" y="17635"/>
                </a:lnTo>
                <a:lnTo>
                  <a:pt x="387302" y="517"/>
                </a:lnTo>
                <a:lnTo>
                  <a:pt x="472445" y="0"/>
                </a:lnTo>
                <a:lnTo>
                  <a:pt x="556054" y="16103"/>
                </a:lnTo>
                <a:lnTo>
                  <a:pt x="634915" y="48209"/>
                </a:lnTo>
                <a:lnTo>
                  <a:pt x="705997" y="95082"/>
                </a:lnTo>
                <a:lnTo>
                  <a:pt x="766569" y="154922"/>
                </a:lnTo>
                <a:lnTo>
                  <a:pt x="814302" y="225430"/>
                </a:lnTo>
                <a:lnTo>
                  <a:pt x="829980" y="253592"/>
                </a:lnTo>
                <a:lnTo>
                  <a:pt x="846274" y="281402"/>
                </a:lnTo>
                <a:lnTo>
                  <a:pt x="863177" y="308846"/>
                </a:lnTo>
                <a:lnTo>
                  <a:pt x="880680" y="335912"/>
                </a:lnTo>
                <a:lnTo>
                  <a:pt x="898775" y="362585"/>
                </a:lnTo>
                <a:lnTo>
                  <a:pt x="917454" y="388853"/>
                </a:lnTo>
                <a:lnTo>
                  <a:pt x="936707" y="414703"/>
                </a:lnTo>
                <a:lnTo>
                  <a:pt x="956524" y="440123"/>
                </a:lnTo>
                <a:lnTo>
                  <a:pt x="976897" y="465100"/>
                </a:lnTo>
                <a:lnTo>
                  <a:pt x="997815" y="489622"/>
                </a:lnTo>
                <a:lnTo>
                  <a:pt x="1019268" y="513677"/>
                </a:lnTo>
                <a:lnTo>
                  <a:pt x="1041246" y="537254"/>
                </a:lnTo>
                <a:lnTo>
                  <a:pt x="1063738" y="560342"/>
                </a:lnTo>
                <a:lnTo>
                  <a:pt x="1086733" y="582928"/>
                </a:lnTo>
                <a:lnTo>
                  <a:pt x="1110220" y="605002"/>
                </a:lnTo>
                <a:lnTo>
                  <a:pt x="1134187" y="626553"/>
                </a:lnTo>
                <a:lnTo>
                  <a:pt x="1192305" y="688779"/>
                </a:lnTo>
                <a:lnTo>
                  <a:pt x="1237166" y="761148"/>
                </a:lnTo>
                <a:lnTo>
                  <a:pt x="1267047" y="840878"/>
                </a:lnTo>
                <a:lnTo>
                  <a:pt x="1280800" y="924905"/>
                </a:lnTo>
                <a:lnTo>
                  <a:pt x="1277895" y="1010001"/>
                </a:lnTo>
                <a:lnTo>
                  <a:pt x="1258444" y="1092895"/>
                </a:lnTo>
                <a:lnTo>
                  <a:pt x="1223195" y="1170402"/>
                </a:lnTo>
                <a:lnTo>
                  <a:pt x="1173503" y="1239543"/>
                </a:lnTo>
                <a:lnTo>
                  <a:pt x="1111277" y="1297661"/>
                </a:lnTo>
                <a:lnTo>
                  <a:pt x="1038908" y="1342522"/>
                </a:lnTo>
                <a:lnTo>
                  <a:pt x="959178" y="1372403"/>
                </a:lnTo>
                <a:lnTo>
                  <a:pt x="875151" y="1386155"/>
                </a:lnTo>
                <a:lnTo>
                  <a:pt x="790055" y="1383250"/>
                </a:lnTo>
                <a:lnTo>
                  <a:pt x="707161" y="1363800"/>
                </a:lnTo>
                <a:lnTo>
                  <a:pt x="629654" y="1328551"/>
                </a:lnTo>
                <a:close/>
              </a:path>
            </a:pathLst>
          </a:custGeom>
          <a:solidFill>
            <a:srgbClr val="E5495B"/>
          </a:solidFill>
          <a:ln w="6350">
            <a:solidFill>
              <a:srgbClr val="E5495B"/>
            </a:solidFill>
            <a:prstDash val="solid"/>
          </a:ln>
        </p:spPr>
      </p:sp>
      <p:sp>
        <p:nvSpPr>
          <p:cNvPr id="20" name="Text 18"/>
          <p:cNvSpPr txBox="1"/>
          <p:nvPr/>
        </p:nvSpPr>
        <p:spPr>
          <a:xfrm>
            <a:off x="3015943" y="4076218"/>
            <a:ext cx="891540" cy="411480"/>
          </a:xfrm>
          <a:prstGeom prst="rect">
            <a:avLst/>
          </a:prstGeom>
          <a:noFill/>
          <a:ln/>
        </p:spPr>
        <p:txBody>
          <a:bodyPr wrap="square" lIns="0" tIns="0" rIns="0" bIns="0" rtlCol="0" anchor="ctr"/>
          <a:lstStyle/>
          <a:p>
            <a:pPr algn="ctr"/>
            <a:r>
              <a:rPr lang="en-US" sz="863" b="1" dirty="0">
                <a:solidFill>
                  <a:srgbClr val="FFFFFF"/>
                </a:solidFill>
                <a:latin typeface="Times New Roman" pitchFamily="34" charset="0"/>
                <a:ea typeface="Times New Roman" pitchFamily="34" charset="-122"/>
                <a:cs typeface="Times New Roman" pitchFamily="34" charset="-120"/>
              </a:rPr>
              <a:t>Model</a:t>
            </a:r>
            <a:endParaRPr lang="en-US" sz="863" dirty="0"/>
          </a:p>
          <a:p>
            <a:pPr algn="ctr"/>
            <a:r>
              <a:rPr lang="en-US" sz="863" b="1" dirty="0">
                <a:solidFill>
                  <a:srgbClr val="FFFFFF"/>
                </a:solidFill>
                <a:latin typeface="Times New Roman" pitchFamily="34" charset="0"/>
                <a:ea typeface="Times New Roman" pitchFamily="34" charset="-122"/>
                <a:cs typeface="Times New Roman" pitchFamily="34" charset="-120"/>
              </a:rPr>
              <a:t>Evaluation</a:t>
            </a:r>
            <a:endParaRPr lang="en-US" sz="863" dirty="0"/>
          </a:p>
        </p:txBody>
      </p:sp>
      <p:sp>
        <p:nvSpPr>
          <p:cNvPr id="21" name="Shape 19"/>
          <p:cNvSpPr/>
          <p:nvPr/>
        </p:nvSpPr>
        <p:spPr>
          <a:xfrm>
            <a:off x="3517673" y="4736490"/>
            <a:ext cx="233172" cy="233172"/>
          </a:xfrm>
          <a:prstGeom prst="ellipse">
            <a:avLst/>
          </a:prstGeom>
          <a:solidFill>
            <a:srgbClr val="FFFFFF"/>
          </a:solidFill>
          <a:ln w="25400">
            <a:solidFill>
              <a:srgbClr val="E5495B"/>
            </a:solidFill>
            <a:prstDash val="solid"/>
          </a:ln>
        </p:spPr>
      </p:sp>
      <p:sp>
        <p:nvSpPr>
          <p:cNvPr id="22" name="Text 20"/>
          <p:cNvSpPr txBox="1"/>
          <p:nvPr/>
        </p:nvSpPr>
        <p:spPr>
          <a:xfrm>
            <a:off x="3517673" y="4736490"/>
            <a:ext cx="233172" cy="233172"/>
          </a:xfrm>
          <a:prstGeom prst="rect">
            <a:avLst/>
          </a:prstGeom>
          <a:noFill/>
          <a:ln/>
        </p:spPr>
        <p:txBody>
          <a:bodyPr wrap="square" lIns="0" tIns="0" rIns="0" bIns="0" rtlCol="0" anchor="ctr"/>
          <a:lstStyle/>
          <a:p>
            <a:pPr algn="ctr"/>
            <a:r>
              <a:rPr lang="en-US" sz="825" b="1" dirty="0">
                <a:solidFill>
                  <a:srgbClr val="E5495B"/>
                </a:solidFill>
                <a:latin typeface="Times New Roman" pitchFamily="34" charset="0"/>
                <a:ea typeface="Times New Roman" pitchFamily="34" charset="-122"/>
                <a:cs typeface="Times New Roman" pitchFamily="34" charset="-120"/>
              </a:rPr>
              <a:t>5</a:t>
            </a:r>
            <a:endParaRPr lang="en-US" sz="825" dirty="0"/>
          </a:p>
        </p:txBody>
      </p:sp>
      <p:sp>
        <p:nvSpPr>
          <p:cNvPr id="23" name="Shape 21"/>
          <p:cNvSpPr/>
          <p:nvPr/>
        </p:nvSpPr>
        <p:spPr>
          <a:xfrm>
            <a:off x="2827523" y="2513958"/>
            <a:ext cx="762166" cy="1137638"/>
          </a:xfrm>
          <a:custGeom>
            <a:avLst/>
            <a:gdLst/>
            <a:ahLst/>
            <a:cxnLst/>
            <a:rect l="l" t="t" r="r" b="b"/>
            <a:pathLst>
              <a:path w="1016221" h="1516850">
                <a:moveTo>
                  <a:pt x="0" y="1062108"/>
                </a:moveTo>
                <a:lnTo>
                  <a:pt x="3038" y="1010828"/>
                </a:lnTo>
                <a:lnTo>
                  <a:pt x="7204" y="959628"/>
                </a:lnTo>
                <a:lnTo>
                  <a:pt x="12497" y="908532"/>
                </a:lnTo>
                <a:lnTo>
                  <a:pt x="18915" y="857565"/>
                </a:lnTo>
                <a:lnTo>
                  <a:pt x="26454" y="806751"/>
                </a:lnTo>
                <a:lnTo>
                  <a:pt x="35110" y="756116"/>
                </a:lnTo>
                <a:lnTo>
                  <a:pt x="44880" y="705684"/>
                </a:lnTo>
                <a:lnTo>
                  <a:pt x="55759" y="655479"/>
                </a:lnTo>
                <a:lnTo>
                  <a:pt x="67741" y="605527"/>
                </a:lnTo>
                <a:lnTo>
                  <a:pt x="80820" y="555850"/>
                </a:lnTo>
                <a:lnTo>
                  <a:pt x="94990" y="506473"/>
                </a:lnTo>
                <a:lnTo>
                  <a:pt x="110245" y="457421"/>
                </a:lnTo>
                <a:lnTo>
                  <a:pt x="126577" y="408717"/>
                </a:lnTo>
                <a:lnTo>
                  <a:pt x="143978" y="360384"/>
                </a:lnTo>
                <a:lnTo>
                  <a:pt x="162439" y="312446"/>
                </a:lnTo>
                <a:lnTo>
                  <a:pt x="181952" y="264926"/>
                </a:lnTo>
                <a:lnTo>
                  <a:pt x="222685" y="190156"/>
                </a:lnTo>
                <a:lnTo>
                  <a:pt x="277222" y="124769"/>
                </a:lnTo>
                <a:lnTo>
                  <a:pt x="343468" y="71279"/>
                </a:lnTo>
                <a:lnTo>
                  <a:pt x="418876" y="31740"/>
                </a:lnTo>
                <a:lnTo>
                  <a:pt x="500549" y="7672"/>
                </a:lnTo>
                <a:lnTo>
                  <a:pt x="585348" y="0"/>
                </a:lnTo>
                <a:lnTo>
                  <a:pt x="670015" y="9019"/>
                </a:lnTo>
                <a:lnTo>
                  <a:pt x="751295" y="34383"/>
                </a:lnTo>
                <a:lnTo>
                  <a:pt x="826065" y="75116"/>
                </a:lnTo>
                <a:lnTo>
                  <a:pt x="891452" y="129653"/>
                </a:lnTo>
                <a:lnTo>
                  <a:pt x="944943" y="195899"/>
                </a:lnTo>
                <a:lnTo>
                  <a:pt x="984482" y="271307"/>
                </a:lnTo>
                <a:lnTo>
                  <a:pt x="1008550" y="352980"/>
                </a:lnTo>
                <a:lnTo>
                  <a:pt x="1016221" y="437779"/>
                </a:lnTo>
                <a:lnTo>
                  <a:pt x="1007202" y="522446"/>
                </a:lnTo>
                <a:lnTo>
                  <a:pt x="981839" y="603726"/>
                </a:lnTo>
                <a:lnTo>
                  <a:pt x="969596" y="633542"/>
                </a:lnTo>
                <a:lnTo>
                  <a:pt x="958012" y="663621"/>
                </a:lnTo>
                <a:lnTo>
                  <a:pt x="947094" y="693947"/>
                </a:lnTo>
                <a:lnTo>
                  <a:pt x="936847" y="724507"/>
                </a:lnTo>
                <a:lnTo>
                  <a:pt x="927275" y="755285"/>
                </a:lnTo>
                <a:lnTo>
                  <a:pt x="918384" y="786266"/>
                </a:lnTo>
                <a:lnTo>
                  <a:pt x="910177" y="817436"/>
                </a:lnTo>
                <a:lnTo>
                  <a:pt x="902659" y="848779"/>
                </a:lnTo>
                <a:lnTo>
                  <a:pt x="895833" y="880280"/>
                </a:lnTo>
                <a:lnTo>
                  <a:pt x="889703" y="911923"/>
                </a:lnTo>
                <a:lnTo>
                  <a:pt x="884272" y="943694"/>
                </a:lnTo>
                <a:lnTo>
                  <a:pt x="879541" y="975577"/>
                </a:lnTo>
                <a:lnTo>
                  <a:pt x="875515" y="1007557"/>
                </a:lnTo>
                <a:lnTo>
                  <a:pt x="872193" y="1039617"/>
                </a:lnTo>
                <a:lnTo>
                  <a:pt x="869579" y="1071743"/>
                </a:lnTo>
                <a:lnTo>
                  <a:pt x="867673" y="1103919"/>
                </a:lnTo>
                <a:lnTo>
                  <a:pt x="855259" y="1188154"/>
                </a:lnTo>
                <a:lnTo>
                  <a:pt x="826649" y="1268349"/>
                </a:lnTo>
                <a:lnTo>
                  <a:pt x="782944" y="1341422"/>
                </a:lnTo>
                <a:lnTo>
                  <a:pt x="725823" y="1404564"/>
                </a:lnTo>
                <a:lnTo>
                  <a:pt x="657481" y="1455350"/>
                </a:lnTo>
                <a:lnTo>
                  <a:pt x="580545" y="1491826"/>
                </a:lnTo>
                <a:lnTo>
                  <a:pt x="497970" y="1512592"/>
                </a:lnTo>
                <a:lnTo>
                  <a:pt x="412931" y="1516850"/>
                </a:lnTo>
                <a:lnTo>
                  <a:pt x="328696" y="1504436"/>
                </a:lnTo>
                <a:lnTo>
                  <a:pt x="248501" y="1475826"/>
                </a:lnTo>
                <a:lnTo>
                  <a:pt x="175428" y="1432121"/>
                </a:lnTo>
                <a:lnTo>
                  <a:pt x="112286" y="1375000"/>
                </a:lnTo>
                <a:lnTo>
                  <a:pt x="61500" y="1306658"/>
                </a:lnTo>
                <a:lnTo>
                  <a:pt x="25024" y="1229722"/>
                </a:lnTo>
                <a:lnTo>
                  <a:pt x="4258" y="1147147"/>
                </a:lnTo>
                <a:close/>
              </a:path>
            </a:pathLst>
          </a:custGeom>
          <a:solidFill>
            <a:srgbClr val="A0561F"/>
          </a:solidFill>
          <a:ln w="6350">
            <a:solidFill>
              <a:srgbClr val="A0561F"/>
            </a:solidFill>
            <a:prstDash val="solid"/>
          </a:ln>
        </p:spPr>
      </p:sp>
      <p:sp>
        <p:nvSpPr>
          <p:cNvPr id="24" name="Text 22"/>
          <p:cNvSpPr txBox="1"/>
          <p:nvPr/>
        </p:nvSpPr>
        <p:spPr>
          <a:xfrm>
            <a:off x="2741159" y="2872315"/>
            <a:ext cx="891540" cy="411480"/>
          </a:xfrm>
          <a:prstGeom prst="rect">
            <a:avLst/>
          </a:prstGeom>
          <a:noFill/>
          <a:ln/>
        </p:spPr>
        <p:txBody>
          <a:bodyPr wrap="square" lIns="0" tIns="0" rIns="0" bIns="0" rtlCol="0" anchor="ctr"/>
          <a:lstStyle/>
          <a:p>
            <a:pPr algn="ctr"/>
            <a:r>
              <a:rPr lang="en-US" sz="863" b="1" dirty="0">
                <a:solidFill>
                  <a:srgbClr val="FFFFFF"/>
                </a:solidFill>
                <a:latin typeface="Times New Roman" pitchFamily="34" charset="0"/>
                <a:ea typeface="Times New Roman" pitchFamily="34" charset="-122"/>
                <a:cs typeface="Times New Roman" pitchFamily="34" charset="-120"/>
              </a:rPr>
              <a:t>System</a:t>
            </a:r>
            <a:endParaRPr lang="en-US" sz="863" dirty="0"/>
          </a:p>
          <a:p>
            <a:pPr algn="ctr"/>
            <a:r>
              <a:rPr lang="en-US" sz="863" b="1" dirty="0">
                <a:solidFill>
                  <a:srgbClr val="FFFFFF"/>
                </a:solidFill>
                <a:latin typeface="Times New Roman" pitchFamily="34" charset="0"/>
                <a:ea typeface="Times New Roman" pitchFamily="34" charset="-122"/>
                <a:cs typeface="Times New Roman" pitchFamily="34" charset="-120"/>
              </a:rPr>
              <a:t>Integration</a:t>
            </a:r>
            <a:endParaRPr lang="en-US" sz="863" dirty="0"/>
          </a:p>
        </p:txBody>
      </p:sp>
      <p:sp>
        <p:nvSpPr>
          <p:cNvPr id="25" name="Shape 23"/>
          <p:cNvSpPr/>
          <p:nvPr/>
        </p:nvSpPr>
        <p:spPr>
          <a:xfrm>
            <a:off x="2731406" y="3452457"/>
            <a:ext cx="233172" cy="233172"/>
          </a:xfrm>
          <a:prstGeom prst="ellipse">
            <a:avLst/>
          </a:prstGeom>
          <a:solidFill>
            <a:srgbClr val="FFFFFF"/>
          </a:solidFill>
          <a:ln w="25400">
            <a:solidFill>
              <a:srgbClr val="A0561F"/>
            </a:solidFill>
            <a:prstDash val="solid"/>
          </a:ln>
        </p:spPr>
      </p:sp>
      <p:sp>
        <p:nvSpPr>
          <p:cNvPr id="26" name="Text 24"/>
          <p:cNvSpPr txBox="1"/>
          <p:nvPr/>
        </p:nvSpPr>
        <p:spPr>
          <a:xfrm>
            <a:off x="2731406" y="3452457"/>
            <a:ext cx="233172" cy="233172"/>
          </a:xfrm>
          <a:prstGeom prst="rect">
            <a:avLst/>
          </a:prstGeom>
          <a:noFill/>
          <a:ln/>
        </p:spPr>
        <p:txBody>
          <a:bodyPr wrap="square" lIns="0" tIns="0" rIns="0" bIns="0" rtlCol="0" anchor="ctr"/>
          <a:lstStyle/>
          <a:p>
            <a:pPr algn="ctr"/>
            <a:r>
              <a:rPr lang="en-US" sz="825" b="1" dirty="0">
                <a:solidFill>
                  <a:srgbClr val="A0561F"/>
                </a:solidFill>
                <a:latin typeface="Times New Roman" pitchFamily="34" charset="0"/>
                <a:ea typeface="Times New Roman" pitchFamily="34" charset="-122"/>
                <a:cs typeface="Times New Roman" pitchFamily="34" charset="-120"/>
              </a:rPr>
              <a:t>6</a:t>
            </a:r>
            <a:endParaRPr lang="en-US" sz="825" dirty="0"/>
          </a:p>
        </p:txBody>
      </p:sp>
      <p:sp>
        <p:nvSpPr>
          <p:cNvPr id="27" name="Shape 25"/>
          <p:cNvSpPr/>
          <p:nvPr/>
        </p:nvSpPr>
        <p:spPr>
          <a:xfrm>
            <a:off x="3416072" y="1699393"/>
            <a:ext cx="1099961" cy="866873"/>
          </a:xfrm>
          <a:custGeom>
            <a:avLst/>
            <a:gdLst/>
            <a:ahLst/>
            <a:cxnLst/>
            <a:rect l="l" t="t" r="r" b="b"/>
            <a:pathLst>
              <a:path w="1466615" h="1155831">
                <a:moveTo>
                  <a:pt x="179910" y="369551"/>
                </a:moveTo>
                <a:lnTo>
                  <a:pt x="221896" y="339954"/>
                </a:lnTo>
                <a:lnTo>
                  <a:pt x="264524" y="311288"/>
                </a:lnTo>
                <a:lnTo>
                  <a:pt x="307773" y="283569"/>
                </a:lnTo>
                <a:lnTo>
                  <a:pt x="351622" y="256809"/>
                </a:lnTo>
                <a:lnTo>
                  <a:pt x="396050" y="231021"/>
                </a:lnTo>
                <a:lnTo>
                  <a:pt x="441036" y="206219"/>
                </a:lnTo>
                <a:lnTo>
                  <a:pt x="486556" y="182413"/>
                </a:lnTo>
                <a:lnTo>
                  <a:pt x="532590" y="159616"/>
                </a:lnTo>
                <a:lnTo>
                  <a:pt x="579116" y="137839"/>
                </a:lnTo>
                <a:lnTo>
                  <a:pt x="626109" y="117092"/>
                </a:lnTo>
                <a:lnTo>
                  <a:pt x="673549" y="97385"/>
                </a:lnTo>
                <a:lnTo>
                  <a:pt x="721410" y="78728"/>
                </a:lnTo>
                <a:lnTo>
                  <a:pt x="769672" y="61130"/>
                </a:lnTo>
                <a:lnTo>
                  <a:pt x="818309" y="44599"/>
                </a:lnTo>
                <a:lnTo>
                  <a:pt x="867299" y="29144"/>
                </a:lnTo>
                <a:lnTo>
                  <a:pt x="916617" y="14772"/>
                </a:lnTo>
                <a:lnTo>
                  <a:pt x="1000471" y="0"/>
                </a:lnTo>
                <a:lnTo>
                  <a:pt x="1085596" y="1871"/>
                </a:lnTo>
                <a:lnTo>
                  <a:pt x="1168720" y="20313"/>
                </a:lnTo>
                <a:lnTo>
                  <a:pt x="1246650" y="54617"/>
                </a:lnTo>
                <a:lnTo>
                  <a:pt x="1316389" y="103466"/>
                </a:lnTo>
                <a:lnTo>
                  <a:pt x="1375259" y="164981"/>
                </a:lnTo>
                <a:lnTo>
                  <a:pt x="1420996" y="236800"/>
                </a:lnTo>
                <a:lnTo>
                  <a:pt x="1451843" y="316161"/>
                </a:lnTo>
                <a:lnTo>
                  <a:pt x="1466615" y="400015"/>
                </a:lnTo>
                <a:lnTo>
                  <a:pt x="1464744" y="485140"/>
                </a:lnTo>
                <a:lnTo>
                  <a:pt x="1446302" y="568265"/>
                </a:lnTo>
                <a:lnTo>
                  <a:pt x="1411998" y="646194"/>
                </a:lnTo>
                <a:lnTo>
                  <a:pt x="1363149" y="715933"/>
                </a:lnTo>
                <a:lnTo>
                  <a:pt x="1301634" y="774803"/>
                </a:lnTo>
                <a:lnTo>
                  <a:pt x="1229816" y="820540"/>
                </a:lnTo>
                <a:lnTo>
                  <a:pt x="1150454" y="851387"/>
                </a:lnTo>
                <a:lnTo>
                  <a:pt x="1119510" y="860405"/>
                </a:lnTo>
                <a:lnTo>
                  <a:pt x="1088771" y="870102"/>
                </a:lnTo>
                <a:lnTo>
                  <a:pt x="1058253" y="880475"/>
                </a:lnTo>
                <a:lnTo>
                  <a:pt x="1027972" y="891517"/>
                </a:lnTo>
                <a:lnTo>
                  <a:pt x="997941" y="903223"/>
                </a:lnTo>
                <a:lnTo>
                  <a:pt x="968175" y="915588"/>
                </a:lnTo>
                <a:lnTo>
                  <a:pt x="938689" y="928606"/>
                </a:lnTo>
                <a:lnTo>
                  <a:pt x="909497" y="942270"/>
                </a:lnTo>
                <a:lnTo>
                  <a:pt x="880612" y="956574"/>
                </a:lnTo>
                <a:lnTo>
                  <a:pt x="852050" y="971511"/>
                </a:lnTo>
                <a:lnTo>
                  <a:pt x="823824" y="987073"/>
                </a:lnTo>
                <a:lnTo>
                  <a:pt x="795948" y="1003253"/>
                </a:lnTo>
                <a:lnTo>
                  <a:pt x="768435" y="1020044"/>
                </a:lnTo>
                <a:lnTo>
                  <a:pt x="741298" y="1037437"/>
                </a:lnTo>
                <a:lnTo>
                  <a:pt x="714551" y="1055423"/>
                </a:lnTo>
                <a:lnTo>
                  <a:pt x="688207" y="1073994"/>
                </a:lnTo>
                <a:lnTo>
                  <a:pt x="614609" y="1116808"/>
                </a:lnTo>
                <a:lnTo>
                  <a:pt x="534072" y="1144441"/>
                </a:lnTo>
                <a:lnTo>
                  <a:pt x="449692" y="1155831"/>
                </a:lnTo>
                <a:lnTo>
                  <a:pt x="364711" y="1150541"/>
                </a:lnTo>
                <a:lnTo>
                  <a:pt x="282395" y="1128773"/>
                </a:lnTo>
                <a:lnTo>
                  <a:pt x="205907" y="1091364"/>
                </a:lnTo>
                <a:lnTo>
                  <a:pt x="138187" y="1039753"/>
                </a:lnTo>
                <a:lnTo>
                  <a:pt x="81837" y="975921"/>
                </a:lnTo>
                <a:lnTo>
                  <a:pt x="39023" y="902323"/>
                </a:lnTo>
                <a:lnTo>
                  <a:pt x="11390" y="821786"/>
                </a:lnTo>
                <a:lnTo>
                  <a:pt x="0" y="737406"/>
                </a:lnTo>
                <a:lnTo>
                  <a:pt x="5290" y="652425"/>
                </a:lnTo>
                <a:lnTo>
                  <a:pt x="27058" y="570109"/>
                </a:lnTo>
                <a:lnTo>
                  <a:pt x="64467" y="493621"/>
                </a:lnTo>
                <a:lnTo>
                  <a:pt x="116079" y="425901"/>
                </a:lnTo>
                <a:close/>
              </a:path>
            </a:pathLst>
          </a:custGeom>
          <a:solidFill>
            <a:srgbClr val="D4922A"/>
          </a:solidFill>
          <a:ln w="6350">
            <a:solidFill>
              <a:srgbClr val="D4922A"/>
            </a:solidFill>
            <a:prstDash val="solid"/>
          </a:ln>
        </p:spPr>
      </p:sp>
      <p:sp>
        <p:nvSpPr>
          <p:cNvPr id="28" name="Text 26"/>
          <p:cNvSpPr txBox="1"/>
          <p:nvPr/>
        </p:nvSpPr>
        <p:spPr>
          <a:xfrm>
            <a:off x="3511085" y="1906860"/>
            <a:ext cx="891540" cy="411480"/>
          </a:xfrm>
          <a:prstGeom prst="rect">
            <a:avLst/>
          </a:prstGeom>
          <a:noFill/>
          <a:ln/>
        </p:spPr>
        <p:txBody>
          <a:bodyPr wrap="square" lIns="0" tIns="0" rIns="0" bIns="0" rtlCol="0" anchor="ctr"/>
          <a:lstStyle/>
          <a:p>
            <a:pPr algn="ctr"/>
            <a:r>
              <a:rPr lang="en-US" sz="863" b="1" dirty="0">
                <a:solidFill>
                  <a:srgbClr val="FFFFFF"/>
                </a:solidFill>
                <a:latin typeface="Times New Roman" pitchFamily="34" charset="0"/>
                <a:ea typeface="Times New Roman" pitchFamily="34" charset="-122"/>
                <a:cs typeface="Times New Roman" pitchFamily="34" charset="-120"/>
              </a:rPr>
              <a:t>Testing &amp;</a:t>
            </a:r>
            <a:endParaRPr lang="en-US" sz="863" dirty="0"/>
          </a:p>
          <a:p>
            <a:pPr algn="ctr"/>
            <a:r>
              <a:rPr lang="en-US" sz="863" b="1" dirty="0">
                <a:solidFill>
                  <a:srgbClr val="FFFFFF"/>
                </a:solidFill>
                <a:latin typeface="Times New Roman" pitchFamily="34" charset="0"/>
                <a:ea typeface="Times New Roman" pitchFamily="34" charset="-122"/>
                <a:cs typeface="Times New Roman" pitchFamily="34" charset="-120"/>
              </a:rPr>
              <a:t>Improvement</a:t>
            </a:r>
            <a:endParaRPr lang="en-US" sz="863" dirty="0"/>
          </a:p>
        </p:txBody>
      </p:sp>
      <p:sp>
        <p:nvSpPr>
          <p:cNvPr id="29" name="Shape 27"/>
          <p:cNvSpPr/>
          <p:nvPr/>
        </p:nvSpPr>
        <p:spPr>
          <a:xfrm>
            <a:off x="3245075" y="2037149"/>
            <a:ext cx="233172" cy="233172"/>
          </a:xfrm>
          <a:prstGeom prst="ellipse">
            <a:avLst/>
          </a:prstGeom>
          <a:solidFill>
            <a:srgbClr val="FFFFFF"/>
          </a:solidFill>
          <a:ln w="25400">
            <a:solidFill>
              <a:srgbClr val="D4922A"/>
            </a:solidFill>
            <a:prstDash val="solid"/>
          </a:ln>
        </p:spPr>
      </p:sp>
      <p:sp>
        <p:nvSpPr>
          <p:cNvPr id="30" name="Text 28"/>
          <p:cNvSpPr txBox="1"/>
          <p:nvPr/>
        </p:nvSpPr>
        <p:spPr>
          <a:xfrm>
            <a:off x="3245075" y="2037149"/>
            <a:ext cx="233172" cy="233172"/>
          </a:xfrm>
          <a:prstGeom prst="rect">
            <a:avLst/>
          </a:prstGeom>
          <a:noFill/>
          <a:ln/>
        </p:spPr>
        <p:txBody>
          <a:bodyPr wrap="square" lIns="0" tIns="0" rIns="0" bIns="0" rtlCol="0" anchor="ctr"/>
          <a:lstStyle/>
          <a:p>
            <a:pPr algn="ctr"/>
            <a:r>
              <a:rPr lang="en-US" sz="825" b="1" dirty="0">
                <a:solidFill>
                  <a:srgbClr val="D4922A"/>
                </a:solidFill>
                <a:latin typeface="Times New Roman" pitchFamily="34" charset="0"/>
                <a:ea typeface="Times New Roman" pitchFamily="34" charset="-122"/>
                <a:cs typeface="Times New Roman" pitchFamily="34" charset="-120"/>
              </a:rPr>
              <a:t>7</a:t>
            </a:r>
            <a:endParaRPr lang="en-US" sz="825" dirty="0"/>
          </a:p>
        </p:txBody>
      </p:sp>
      <p:sp>
        <p:nvSpPr>
          <p:cNvPr id="31" name="Text 29"/>
          <p:cNvSpPr txBox="1"/>
          <p:nvPr/>
        </p:nvSpPr>
        <p:spPr>
          <a:xfrm>
            <a:off x="3751326" y="2914650"/>
            <a:ext cx="1645920" cy="960120"/>
          </a:xfrm>
          <a:prstGeom prst="rect">
            <a:avLst/>
          </a:prstGeom>
          <a:noFill/>
          <a:ln/>
        </p:spPr>
        <p:txBody>
          <a:bodyPr wrap="square" lIns="0" tIns="0" rIns="0" bIns="0" rtlCol="0" anchor="ctr"/>
          <a:lstStyle/>
          <a:p>
            <a:pPr algn="ctr"/>
            <a:r>
              <a:rPr lang="en-US" sz="1500" b="1" dirty="0">
                <a:solidFill>
                  <a:srgbClr val="1F3864"/>
                </a:solidFill>
                <a:latin typeface="Times New Roman" pitchFamily="34" charset="0"/>
                <a:ea typeface="Times New Roman" pitchFamily="34" charset="-122"/>
                <a:cs typeface="Times New Roman" pitchFamily="34" charset="-120"/>
              </a:rPr>
              <a:t>Machine Learning</a:t>
            </a:r>
            <a:endParaRPr lang="en-US" sz="1500" dirty="0"/>
          </a:p>
          <a:p>
            <a:pPr algn="ctr"/>
            <a:r>
              <a:rPr lang="en-US" sz="1500" b="1" dirty="0">
                <a:solidFill>
                  <a:srgbClr val="1F3864"/>
                </a:solidFill>
                <a:latin typeface="Times New Roman" pitchFamily="34" charset="0"/>
                <a:ea typeface="Times New Roman" pitchFamily="34" charset="-122"/>
                <a:cs typeface="Times New Roman" pitchFamily="34" charset="-120"/>
              </a:rPr>
              <a:t>life-cycle</a:t>
            </a:r>
            <a:endParaRPr lang="en-US" sz="1500" dirty="0"/>
          </a:p>
          <a:p>
            <a:pPr algn="ctr"/>
            <a:r>
              <a:rPr lang="en-US" sz="825" b="1" i="1" dirty="0">
                <a:solidFill>
                  <a:srgbClr val="1F8A8A"/>
                </a:solidFill>
                <a:latin typeface="Times New Roman" pitchFamily="34" charset="0"/>
                <a:ea typeface="Times New Roman" pitchFamily="34" charset="-122"/>
                <a:cs typeface="Times New Roman" pitchFamily="34" charset="-120"/>
              </a:rPr>
              <a:t>Feedback loop: 7 → 4</a:t>
            </a:r>
            <a:endParaRPr lang="en-US" sz="1500" dirty="0"/>
          </a:p>
        </p:txBody>
      </p:sp>
      <p:sp>
        <p:nvSpPr>
          <p:cNvPr id="32" name="Shape 30"/>
          <p:cNvSpPr/>
          <p:nvPr/>
        </p:nvSpPr>
        <p:spPr>
          <a:xfrm>
            <a:off x="6583680" y="1748790"/>
            <a:ext cx="274320" cy="274320"/>
          </a:xfrm>
          <a:prstGeom prst="ellipse">
            <a:avLst/>
          </a:prstGeom>
          <a:solidFill>
            <a:srgbClr val="8CB92D"/>
          </a:solidFill>
          <a:ln w="12700">
            <a:solidFill>
              <a:srgbClr val="8CB92D"/>
            </a:solidFill>
            <a:prstDash val="solid"/>
          </a:ln>
        </p:spPr>
      </p:sp>
      <p:sp>
        <p:nvSpPr>
          <p:cNvPr id="33" name="Text 31"/>
          <p:cNvSpPr txBox="1"/>
          <p:nvPr/>
        </p:nvSpPr>
        <p:spPr>
          <a:xfrm>
            <a:off x="6583680" y="1748790"/>
            <a:ext cx="274320" cy="274320"/>
          </a:xfrm>
          <a:prstGeom prst="rect">
            <a:avLst/>
          </a:prstGeom>
          <a:noFill/>
          <a:ln/>
        </p:spPr>
        <p:txBody>
          <a:bodyPr wrap="square" lIns="0" tIns="0" rIns="0" bIns="0" rtlCol="0" anchor="ctr"/>
          <a:lstStyle/>
          <a:p>
            <a:pPr algn="ctr"/>
            <a:r>
              <a:rPr lang="en-US" sz="975" b="1" dirty="0">
                <a:solidFill>
                  <a:srgbClr val="FFFFFF"/>
                </a:solidFill>
                <a:latin typeface="Times New Roman" pitchFamily="34" charset="0"/>
                <a:ea typeface="Times New Roman" pitchFamily="34" charset="-122"/>
                <a:cs typeface="Times New Roman" pitchFamily="34" charset="-120"/>
              </a:rPr>
              <a:t>1</a:t>
            </a:r>
            <a:endParaRPr lang="en-US" sz="975" dirty="0"/>
          </a:p>
        </p:txBody>
      </p:sp>
      <p:sp>
        <p:nvSpPr>
          <p:cNvPr id="34" name="Text 32"/>
          <p:cNvSpPr txBox="1"/>
          <p:nvPr/>
        </p:nvSpPr>
        <p:spPr>
          <a:xfrm>
            <a:off x="6960870" y="1714500"/>
            <a:ext cx="1851660" cy="788670"/>
          </a:xfrm>
          <a:prstGeom prst="rect">
            <a:avLst/>
          </a:prstGeom>
          <a:noFill/>
          <a:ln/>
        </p:spPr>
        <p:txBody>
          <a:bodyPr wrap="square" lIns="0" tIns="0" rIns="0" bIns="0" rtlCol="0" anchor="t"/>
          <a:lstStyle/>
          <a:p>
            <a:pPr>
              <a:spcAft>
                <a:spcPts val="150"/>
              </a:spcAft>
            </a:pPr>
            <a:r>
              <a:rPr lang="en-US" sz="975" b="1" dirty="0">
                <a:solidFill>
                  <a:srgbClr val="1F3864"/>
                </a:solidFill>
                <a:latin typeface="Times New Roman" pitchFamily="34" charset="0"/>
                <a:ea typeface="Times New Roman" pitchFamily="34" charset="-122"/>
                <a:cs typeface="Times New Roman" pitchFamily="34" charset="-120"/>
              </a:rPr>
              <a:t>Problem Definition</a:t>
            </a:r>
            <a:endParaRPr lang="en-US" sz="975" dirty="0"/>
          </a:p>
          <a:p>
            <a:pPr>
              <a:spcAft>
                <a:spcPts val="150"/>
              </a:spcAft>
            </a:pPr>
            <a:r>
              <a:rPr lang="en-US" sz="788" dirty="0">
                <a:solidFill>
                  <a:srgbClr val="222222"/>
                </a:solidFill>
                <a:latin typeface="Times New Roman" pitchFamily="34" charset="0"/>
                <a:ea typeface="Times New Roman" pitchFamily="34" charset="-122"/>
                <a:cs typeface="Times New Roman" pitchFamily="34" charset="-120"/>
              </a:rPr>
              <a:t>Need for reliable recognition with uncertainty handling, abstention and evidence support</a:t>
            </a:r>
            <a:endParaRPr lang="en-US" sz="975" dirty="0"/>
          </a:p>
        </p:txBody>
      </p:sp>
      <p:sp>
        <p:nvSpPr>
          <p:cNvPr id="35" name="Shape 33"/>
          <p:cNvSpPr/>
          <p:nvPr/>
        </p:nvSpPr>
        <p:spPr>
          <a:xfrm>
            <a:off x="6583680" y="2640330"/>
            <a:ext cx="274320" cy="274320"/>
          </a:xfrm>
          <a:prstGeom prst="ellipse">
            <a:avLst/>
          </a:prstGeom>
          <a:solidFill>
            <a:srgbClr val="2E9FC6"/>
          </a:solidFill>
          <a:ln w="12700">
            <a:solidFill>
              <a:srgbClr val="2E9FC6"/>
            </a:solidFill>
            <a:prstDash val="solid"/>
          </a:ln>
        </p:spPr>
      </p:sp>
      <p:sp>
        <p:nvSpPr>
          <p:cNvPr id="36" name="Text 34"/>
          <p:cNvSpPr txBox="1"/>
          <p:nvPr/>
        </p:nvSpPr>
        <p:spPr>
          <a:xfrm>
            <a:off x="6583680" y="2640330"/>
            <a:ext cx="274320" cy="274320"/>
          </a:xfrm>
          <a:prstGeom prst="rect">
            <a:avLst/>
          </a:prstGeom>
          <a:noFill/>
          <a:ln/>
        </p:spPr>
        <p:txBody>
          <a:bodyPr wrap="square" lIns="0" tIns="0" rIns="0" bIns="0" rtlCol="0" anchor="ctr"/>
          <a:lstStyle/>
          <a:p>
            <a:pPr algn="ctr"/>
            <a:r>
              <a:rPr lang="en-US" sz="975" b="1" dirty="0">
                <a:solidFill>
                  <a:srgbClr val="FFFFFF"/>
                </a:solidFill>
                <a:latin typeface="Times New Roman" pitchFamily="34" charset="0"/>
                <a:ea typeface="Times New Roman" pitchFamily="34" charset="-122"/>
                <a:cs typeface="Times New Roman" pitchFamily="34" charset="-120"/>
              </a:rPr>
              <a:t>2</a:t>
            </a:r>
            <a:endParaRPr lang="en-US" sz="975" dirty="0"/>
          </a:p>
        </p:txBody>
      </p:sp>
      <p:sp>
        <p:nvSpPr>
          <p:cNvPr id="37" name="Text 35"/>
          <p:cNvSpPr txBox="1"/>
          <p:nvPr/>
        </p:nvSpPr>
        <p:spPr>
          <a:xfrm>
            <a:off x="6960870" y="2606040"/>
            <a:ext cx="1851660" cy="788670"/>
          </a:xfrm>
          <a:prstGeom prst="rect">
            <a:avLst/>
          </a:prstGeom>
          <a:noFill/>
          <a:ln/>
        </p:spPr>
        <p:txBody>
          <a:bodyPr wrap="square" lIns="0" tIns="0" rIns="0" bIns="0" rtlCol="0" anchor="t"/>
          <a:lstStyle/>
          <a:p>
            <a:pPr>
              <a:spcAft>
                <a:spcPts val="150"/>
              </a:spcAft>
            </a:pPr>
            <a:r>
              <a:rPr lang="en-US" sz="975" b="1" dirty="0">
                <a:solidFill>
                  <a:srgbClr val="1F3864"/>
                </a:solidFill>
                <a:latin typeface="Times New Roman" pitchFamily="34" charset="0"/>
                <a:ea typeface="Times New Roman" pitchFamily="34" charset="-122"/>
                <a:cs typeface="Times New Roman" pitchFamily="34" charset="-120"/>
              </a:rPr>
              <a:t>Data Collection</a:t>
            </a:r>
            <a:endParaRPr lang="en-US" sz="975" dirty="0"/>
          </a:p>
          <a:p>
            <a:pPr>
              <a:spcAft>
                <a:spcPts val="150"/>
              </a:spcAft>
            </a:pPr>
            <a:r>
              <a:rPr lang="en-US" sz="788" dirty="0">
                <a:solidFill>
                  <a:srgbClr val="222222"/>
                </a:solidFill>
                <a:latin typeface="Times New Roman" pitchFamily="34" charset="0"/>
                <a:ea typeface="Times New Roman" pitchFamily="34" charset="-122"/>
                <a:cs typeface="Times New Roman" pitchFamily="34" charset="-120"/>
              </a:rPr>
              <a:t>Leaf images from PlantVillage and other public datasets for generalization checks</a:t>
            </a:r>
            <a:endParaRPr lang="en-US" sz="975" dirty="0"/>
          </a:p>
        </p:txBody>
      </p:sp>
      <p:sp>
        <p:nvSpPr>
          <p:cNvPr id="38" name="Shape 36"/>
          <p:cNvSpPr/>
          <p:nvPr/>
        </p:nvSpPr>
        <p:spPr>
          <a:xfrm>
            <a:off x="6583680" y="3531870"/>
            <a:ext cx="274320" cy="274320"/>
          </a:xfrm>
          <a:prstGeom prst="ellipse">
            <a:avLst/>
          </a:prstGeom>
          <a:solidFill>
            <a:srgbClr val="0B5A8A"/>
          </a:solidFill>
          <a:ln w="12700">
            <a:solidFill>
              <a:srgbClr val="0B5A8A"/>
            </a:solidFill>
            <a:prstDash val="solid"/>
          </a:ln>
        </p:spPr>
      </p:sp>
      <p:sp>
        <p:nvSpPr>
          <p:cNvPr id="39" name="Text 37"/>
          <p:cNvSpPr txBox="1"/>
          <p:nvPr/>
        </p:nvSpPr>
        <p:spPr>
          <a:xfrm>
            <a:off x="6583680" y="3531870"/>
            <a:ext cx="274320" cy="274320"/>
          </a:xfrm>
          <a:prstGeom prst="rect">
            <a:avLst/>
          </a:prstGeom>
          <a:noFill/>
          <a:ln/>
        </p:spPr>
        <p:txBody>
          <a:bodyPr wrap="square" lIns="0" tIns="0" rIns="0" bIns="0" rtlCol="0" anchor="ctr"/>
          <a:lstStyle/>
          <a:p>
            <a:pPr algn="ctr"/>
            <a:r>
              <a:rPr lang="en-US" sz="975" b="1" dirty="0">
                <a:solidFill>
                  <a:srgbClr val="FFFFFF"/>
                </a:solidFill>
                <a:latin typeface="Times New Roman" pitchFamily="34" charset="0"/>
                <a:ea typeface="Times New Roman" pitchFamily="34" charset="-122"/>
                <a:cs typeface="Times New Roman" pitchFamily="34" charset="-120"/>
              </a:rPr>
              <a:t>3</a:t>
            </a:r>
            <a:endParaRPr lang="en-US" sz="975" dirty="0"/>
          </a:p>
        </p:txBody>
      </p:sp>
      <p:sp>
        <p:nvSpPr>
          <p:cNvPr id="40" name="Text 38"/>
          <p:cNvSpPr txBox="1"/>
          <p:nvPr/>
        </p:nvSpPr>
        <p:spPr>
          <a:xfrm>
            <a:off x="6960870" y="3497580"/>
            <a:ext cx="1851660" cy="788670"/>
          </a:xfrm>
          <a:prstGeom prst="rect">
            <a:avLst/>
          </a:prstGeom>
          <a:noFill/>
          <a:ln/>
        </p:spPr>
        <p:txBody>
          <a:bodyPr wrap="square" lIns="0" tIns="0" rIns="0" bIns="0" rtlCol="0" anchor="t"/>
          <a:lstStyle/>
          <a:p>
            <a:pPr>
              <a:spcAft>
                <a:spcPts val="150"/>
              </a:spcAft>
            </a:pPr>
            <a:r>
              <a:rPr lang="en-US" sz="975" b="1" dirty="0">
                <a:solidFill>
                  <a:srgbClr val="1F3864"/>
                </a:solidFill>
                <a:latin typeface="Times New Roman" pitchFamily="34" charset="0"/>
                <a:ea typeface="Times New Roman" pitchFamily="34" charset="-122"/>
                <a:cs typeface="Times New Roman" pitchFamily="34" charset="-120"/>
              </a:rPr>
              <a:t>Data Preparation</a:t>
            </a:r>
            <a:endParaRPr lang="en-US" sz="975" dirty="0"/>
          </a:p>
          <a:p>
            <a:pPr>
              <a:spcAft>
                <a:spcPts val="150"/>
              </a:spcAft>
            </a:pPr>
            <a:r>
              <a:rPr lang="en-US" sz="788" dirty="0">
                <a:solidFill>
                  <a:srgbClr val="222222"/>
                </a:solidFill>
                <a:latin typeface="Times New Roman" pitchFamily="34" charset="0"/>
                <a:ea typeface="Times New Roman" pitchFamily="34" charset="-122"/>
                <a:cs typeface="Times New Roman" pitchFamily="34" charset="-120"/>
              </a:rPr>
              <a:t>Verify labels and integrity, resize to 224 × 224, preprocess, augment, split train/val/test</a:t>
            </a:r>
            <a:endParaRPr lang="en-US" sz="975" dirty="0"/>
          </a:p>
        </p:txBody>
      </p:sp>
      <p:sp>
        <p:nvSpPr>
          <p:cNvPr id="41" name="Shape 39"/>
          <p:cNvSpPr/>
          <p:nvPr/>
        </p:nvSpPr>
        <p:spPr>
          <a:xfrm>
            <a:off x="6583680" y="4423410"/>
            <a:ext cx="274320" cy="274320"/>
          </a:xfrm>
          <a:prstGeom prst="ellipse">
            <a:avLst/>
          </a:prstGeom>
          <a:solidFill>
            <a:srgbClr val="8B1A45"/>
          </a:solidFill>
          <a:ln w="12700">
            <a:solidFill>
              <a:srgbClr val="8B1A45"/>
            </a:solidFill>
            <a:prstDash val="solid"/>
          </a:ln>
        </p:spPr>
      </p:sp>
      <p:sp>
        <p:nvSpPr>
          <p:cNvPr id="42" name="Text 40"/>
          <p:cNvSpPr txBox="1"/>
          <p:nvPr/>
        </p:nvSpPr>
        <p:spPr>
          <a:xfrm>
            <a:off x="6583680" y="4423410"/>
            <a:ext cx="274320" cy="274320"/>
          </a:xfrm>
          <a:prstGeom prst="rect">
            <a:avLst/>
          </a:prstGeom>
          <a:noFill/>
          <a:ln/>
        </p:spPr>
        <p:txBody>
          <a:bodyPr wrap="square" lIns="0" tIns="0" rIns="0" bIns="0" rtlCol="0" anchor="ctr"/>
          <a:lstStyle/>
          <a:p>
            <a:pPr algn="ctr"/>
            <a:r>
              <a:rPr lang="en-US" sz="975" b="1" dirty="0">
                <a:solidFill>
                  <a:srgbClr val="FFFFFF"/>
                </a:solidFill>
                <a:latin typeface="Times New Roman" pitchFamily="34" charset="0"/>
                <a:ea typeface="Times New Roman" pitchFamily="34" charset="-122"/>
                <a:cs typeface="Times New Roman" pitchFamily="34" charset="-120"/>
              </a:rPr>
              <a:t>4</a:t>
            </a:r>
            <a:endParaRPr lang="en-US" sz="975" dirty="0"/>
          </a:p>
        </p:txBody>
      </p:sp>
      <p:sp>
        <p:nvSpPr>
          <p:cNvPr id="43" name="Text 41"/>
          <p:cNvSpPr txBox="1"/>
          <p:nvPr/>
        </p:nvSpPr>
        <p:spPr>
          <a:xfrm>
            <a:off x="6960870" y="4389120"/>
            <a:ext cx="1851660" cy="788670"/>
          </a:xfrm>
          <a:prstGeom prst="rect">
            <a:avLst/>
          </a:prstGeom>
          <a:noFill/>
          <a:ln/>
        </p:spPr>
        <p:txBody>
          <a:bodyPr wrap="square" lIns="0" tIns="0" rIns="0" bIns="0" rtlCol="0" anchor="t"/>
          <a:lstStyle/>
          <a:p>
            <a:pPr>
              <a:spcAft>
                <a:spcPts val="150"/>
              </a:spcAft>
            </a:pPr>
            <a:r>
              <a:rPr lang="en-US" sz="975" b="1" dirty="0">
                <a:solidFill>
                  <a:srgbClr val="1F3864"/>
                </a:solidFill>
                <a:latin typeface="Times New Roman" pitchFamily="34" charset="0"/>
                <a:ea typeface="Times New Roman" pitchFamily="34" charset="-122"/>
                <a:cs typeface="Times New Roman" pitchFamily="34" charset="-120"/>
              </a:rPr>
              <a:t>Model Development</a:t>
            </a:r>
            <a:endParaRPr lang="en-US" sz="975" dirty="0"/>
          </a:p>
          <a:p>
            <a:pPr>
              <a:spcAft>
                <a:spcPts val="150"/>
              </a:spcAft>
            </a:pPr>
            <a:r>
              <a:rPr lang="en-US" sz="788" dirty="0">
                <a:solidFill>
                  <a:srgbClr val="222222"/>
                </a:solidFill>
                <a:latin typeface="Times New Roman" pitchFamily="34" charset="0"/>
                <a:ea typeface="Times New Roman" pitchFamily="34" charset="-122"/>
                <a:cs typeface="Times New Roman" pitchFamily="34" charset="-120"/>
              </a:rPr>
              <a:t>Train and compare ConvNeXt, EfficientNet, ResNet and transformer-based models</a:t>
            </a:r>
            <a:endParaRPr lang="en-US" sz="975" dirty="0"/>
          </a:p>
        </p:txBody>
      </p:sp>
      <p:sp>
        <p:nvSpPr>
          <p:cNvPr id="44" name="Shape 42"/>
          <p:cNvSpPr/>
          <p:nvPr/>
        </p:nvSpPr>
        <p:spPr>
          <a:xfrm>
            <a:off x="308610" y="2194560"/>
            <a:ext cx="274320" cy="274320"/>
          </a:xfrm>
          <a:prstGeom prst="ellipse">
            <a:avLst/>
          </a:prstGeom>
          <a:solidFill>
            <a:srgbClr val="D4922A"/>
          </a:solidFill>
          <a:ln w="12700">
            <a:solidFill>
              <a:srgbClr val="D4922A"/>
            </a:solidFill>
            <a:prstDash val="solid"/>
          </a:ln>
        </p:spPr>
      </p:sp>
      <p:sp>
        <p:nvSpPr>
          <p:cNvPr id="45" name="Text 43"/>
          <p:cNvSpPr txBox="1"/>
          <p:nvPr/>
        </p:nvSpPr>
        <p:spPr>
          <a:xfrm>
            <a:off x="308610" y="2194560"/>
            <a:ext cx="274320" cy="274320"/>
          </a:xfrm>
          <a:prstGeom prst="rect">
            <a:avLst/>
          </a:prstGeom>
          <a:noFill/>
          <a:ln/>
        </p:spPr>
        <p:txBody>
          <a:bodyPr wrap="square" lIns="0" tIns="0" rIns="0" bIns="0" rtlCol="0" anchor="ctr"/>
          <a:lstStyle/>
          <a:p>
            <a:pPr algn="ctr"/>
            <a:r>
              <a:rPr lang="en-US" sz="975" b="1" dirty="0">
                <a:solidFill>
                  <a:srgbClr val="FFFFFF"/>
                </a:solidFill>
                <a:latin typeface="Times New Roman" pitchFamily="34" charset="0"/>
                <a:ea typeface="Times New Roman" pitchFamily="34" charset="-122"/>
                <a:cs typeface="Times New Roman" pitchFamily="34" charset="-120"/>
              </a:rPr>
              <a:t>7</a:t>
            </a:r>
            <a:endParaRPr lang="en-US" sz="975" dirty="0"/>
          </a:p>
        </p:txBody>
      </p:sp>
      <p:sp>
        <p:nvSpPr>
          <p:cNvPr id="46" name="Text 44"/>
          <p:cNvSpPr txBox="1"/>
          <p:nvPr/>
        </p:nvSpPr>
        <p:spPr>
          <a:xfrm>
            <a:off x="685800" y="2160270"/>
            <a:ext cx="1851660" cy="788670"/>
          </a:xfrm>
          <a:prstGeom prst="rect">
            <a:avLst/>
          </a:prstGeom>
          <a:noFill/>
          <a:ln/>
        </p:spPr>
        <p:txBody>
          <a:bodyPr wrap="square" lIns="0" tIns="0" rIns="0" bIns="0" rtlCol="0" anchor="t"/>
          <a:lstStyle/>
          <a:p>
            <a:pPr>
              <a:spcAft>
                <a:spcPts val="150"/>
              </a:spcAft>
            </a:pPr>
            <a:r>
              <a:rPr lang="en-US" sz="975" b="1" dirty="0">
                <a:solidFill>
                  <a:srgbClr val="1F3864"/>
                </a:solidFill>
                <a:latin typeface="Times New Roman" pitchFamily="34" charset="0"/>
                <a:ea typeface="Times New Roman" pitchFamily="34" charset="-122"/>
                <a:cs typeface="Times New Roman" pitchFamily="34" charset="-120"/>
              </a:rPr>
              <a:t>Testing and Improvement</a:t>
            </a:r>
            <a:endParaRPr lang="en-US" sz="975" dirty="0"/>
          </a:p>
          <a:p>
            <a:pPr>
              <a:spcAft>
                <a:spcPts val="150"/>
              </a:spcAft>
            </a:pPr>
            <a:r>
              <a:rPr lang="en-US" sz="788" dirty="0">
                <a:solidFill>
                  <a:srgbClr val="222222"/>
                </a:solidFill>
                <a:latin typeface="Times New Roman" pitchFamily="34" charset="0"/>
                <a:ea typeface="Times New Roman" pitchFamily="34" charset="-122"/>
                <a:cs typeface="Times New Roman" pitchFamily="34" charset="-120"/>
              </a:rPr>
              <a:t>Test correct, uncertain and unfamiliar inputs; refine models, thresholds, retrieval</a:t>
            </a:r>
            <a:endParaRPr lang="en-US" sz="975" dirty="0"/>
          </a:p>
        </p:txBody>
      </p:sp>
      <p:sp>
        <p:nvSpPr>
          <p:cNvPr id="47" name="Shape 45"/>
          <p:cNvSpPr/>
          <p:nvPr/>
        </p:nvSpPr>
        <p:spPr>
          <a:xfrm>
            <a:off x="308610" y="3120390"/>
            <a:ext cx="274320" cy="274320"/>
          </a:xfrm>
          <a:prstGeom prst="ellipse">
            <a:avLst/>
          </a:prstGeom>
          <a:solidFill>
            <a:srgbClr val="A0561F"/>
          </a:solidFill>
          <a:ln w="12700">
            <a:solidFill>
              <a:srgbClr val="A0561F"/>
            </a:solidFill>
            <a:prstDash val="solid"/>
          </a:ln>
        </p:spPr>
      </p:sp>
      <p:sp>
        <p:nvSpPr>
          <p:cNvPr id="48" name="Text 46"/>
          <p:cNvSpPr txBox="1"/>
          <p:nvPr/>
        </p:nvSpPr>
        <p:spPr>
          <a:xfrm>
            <a:off x="308610" y="3120390"/>
            <a:ext cx="274320" cy="274320"/>
          </a:xfrm>
          <a:prstGeom prst="rect">
            <a:avLst/>
          </a:prstGeom>
          <a:noFill/>
          <a:ln/>
        </p:spPr>
        <p:txBody>
          <a:bodyPr wrap="square" lIns="0" tIns="0" rIns="0" bIns="0" rtlCol="0" anchor="ctr"/>
          <a:lstStyle/>
          <a:p>
            <a:pPr algn="ctr"/>
            <a:r>
              <a:rPr lang="en-US" sz="975" b="1" dirty="0">
                <a:solidFill>
                  <a:srgbClr val="FFFFFF"/>
                </a:solidFill>
                <a:latin typeface="Times New Roman" pitchFamily="34" charset="0"/>
                <a:ea typeface="Times New Roman" pitchFamily="34" charset="-122"/>
                <a:cs typeface="Times New Roman" pitchFamily="34" charset="-120"/>
              </a:rPr>
              <a:t>6</a:t>
            </a:r>
            <a:endParaRPr lang="en-US" sz="975" dirty="0"/>
          </a:p>
        </p:txBody>
      </p:sp>
      <p:sp>
        <p:nvSpPr>
          <p:cNvPr id="49" name="Text 47"/>
          <p:cNvSpPr txBox="1"/>
          <p:nvPr/>
        </p:nvSpPr>
        <p:spPr>
          <a:xfrm>
            <a:off x="685800" y="3086100"/>
            <a:ext cx="1851660" cy="788670"/>
          </a:xfrm>
          <a:prstGeom prst="rect">
            <a:avLst/>
          </a:prstGeom>
          <a:noFill/>
          <a:ln/>
        </p:spPr>
        <p:txBody>
          <a:bodyPr wrap="square" lIns="0" tIns="0" rIns="0" bIns="0" rtlCol="0" anchor="t"/>
          <a:lstStyle/>
          <a:p>
            <a:pPr>
              <a:spcAft>
                <a:spcPts val="150"/>
              </a:spcAft>
            </a:pPr>
            <a:r>
              <a:rPr lang="en-US" sz="975" b="1" dirty="0">
                <a:solidFill>
                  <a:srgbClr val="1F3864"/>
                </a:solidFill>
                <a:latin typeface="Times New Roman" pitchFamily="34" charset="0"/>
                <a:ea typeface="Times New Roman" pitchFamily="34" charset="-122"/>
                <a:cs typeface="Times New Roman" pitchFamily="34" charset="-120"/>
              </a:rPr>
              <a:t>System Integration</a:t>
            </a:r>
            <a:endParaRPr lang="en-US" sz="975" dirty="0"/>
          </a:p>
          <a:p>
            <a:pPr>
              <a:spcAft>
                <a:spcPts val="150"/>
              </a:spcAft>
            </a:pPr>
            <a:r>
              <a:rPr lang="en-US" sz="788" dirty="0">
                <a:solidFill>
                  <a:srgbClr val="222222"/>
                </a:solidFill>
                <a:latin typeface="Times New Roman" pitchFamily="34" charset="0"/>
                <a:ea typeface="Times New Roman" pitchFamily="34" charset="-122"/>
                <a:cs typeface="Times New Roman" pitchFamily="34" charset="-120"/>
              </a:rPr>
              <a:t>Ensemble with uncertainty-aware abstention and agentic evidence retrieval</a:t>
            </a:r>
            <a:endParaRPr lang="en-US" sz="975" dirty="0"/>
          </a:p>
        </p:txBody>
      </p:sp>
      <p:sp>
        <p:nvSpPr>
          <p:cNvPr id="50" name="Shape 48"/>
          <p:cNvSpPr/>
          <p:nvPr/>
        </p:nvSpPr>
        <p:spPr>
          <a:xfrm>
            <a:off x="308610" y="4046220"/>
            <a:ext cx="274320" cy="274320"/>
          </a:xfrm>
          <a:prstGeom prst="ellipse">
            <a:avLst/>
          </a:prstGeom>
          <a:solidFill>
            <a:srgbClr val="E5495B"/>
          </a:solidFill>
          <a:ln w="12700">
            <a:solidFill>
              <a:srgbClr val="E5495B"/>
            </a:solidFill>
            <a:prstDash val="solid"/>
          </a:ln>
        </p:spPr>
      </p:sp>
      <p:sp>
        <p:nvSpPr>
          <p:cNvPr id="51" name="Text 49"/>
          <p:cNvSpPr txBox="1"/>
          <p:nvPr/>
        </p:nvSpPr>
        <p:spPr>
          <a:xfrm>
            <a:off x="308610" y="4046220"/>
            <a:ext cx="274320" cy="274320"/>
          </a:xfrm>
          <a:prstGeom prst="rect">
            <a:avLst/>
          </a:prstGeom>
          <a:noFill/>
          <a:ln/>
        </p:spPr>
        <p:txBody>
          <a:bodyPr wrap="square" lIns="0" tIns="0" rIns="0" bIns="0" rtlCol="0" anchor="ctr"/>
          <a:lstStyle/>
          <a:p>
            <a:pPr algn="ctr"/>
            <a:r>
              <a:rPr lang="en-US" sz="975" b="1" dirty="0">
                <a:solidFill>
                  <a:srgbClr val="FFFFFF"/>
                </a:solidFill>
                <a:latin typeface="Times New Roman" pitchFamily="34" charset="0"/>
                <a:ea typeface="Times New Roman" pitchFamily="34" charset="-122"/>
                <a:cs typeface="Times New Roman" pitchFamily="34" charset="-120"/>
              </a:rPr>
              <a:t>5</a:t>
            </a:r>
            <a:endParaRPr lang="en-US" sz="975" dirty="0"/>
          </a:p>
        </p:txBody>
      </p:sp>
      <p:sp>
        <p:nvSpPr>
          <p:cNvPr id="52" name="Text 50"/>
          <p:cNvSpPr txBox="1"/>
          <p:nvPr/>
        </p:nvSpPr>
        <p:spPr>
          <a:xfrm>
            <a:off x="685800" y="4011930"/>
            <a:ext cx="1851660" cy="788670"/>
          </a:xfrm>
          <a:prstGeom prst="rect">
            <a:avLst/>
          </a:prstGeom>
          <a:noFill/>
          <a:ln/>
        </p:spPr>
        <p:txBody>
          <a:bodyPr wrap="square" lIns="0" tIns="0" rIns="0" bIns="0" rtlCol="0" anchor="t"/>
          <a:lstStyle/>
          <a:p>
            <a:pPr>
              <a:spcAft>
                <a:spcPts val="150"/>
              </a:spcAft>
            </a:pPr>
            <a:r>
              <a:rPr lang="en-US" sz="975" b="1" dirty="0">
                <a:solidFill>
                  <a:srgbClr val="1F3864"/>
                </a:solidFill>
                <a:latin typeface="Times New Roman" pitchFamily="34" charset="0"/>
                <a:ea typeface="Times New Roman" pitchFamily="34" charset="-122"/>
                <a:cs typeface="Times New Roman" pitchFamily="34" charset="-120"/>
              </a:rPr>
              <a:t>Model Evaluation</a:t>
            </a:r>
            <a:endParaRPr lang="en-US" sz="975" dirty="0"/>
          </a:p>
          <a:p>
            <a:pPr>
              <a:spcAft>
                <a:spcPts val="150"/>
              </a:spcAft>
            </a:pPr>
            <a:r>
              <a:rPr lang="en-US" sz="788" dirty="0">
                <a:solidFill>
                  <a:srgbClr val="222222"/>
                </a:solidFill>
                <a:latin typeface="Times New Roman" pitchFamily="34" charset="0"/>
                <a:ea typeface="Times New Roman" pitchFamily="34" charset="-122"/>
                <a:cs typeface="Times New Roman" pitchFamily="34" charset="-120"/>
              </a:rPr>
              <a:t>Accuracy, precision, recall, F1, confusion matrices, agreement, uncertainty, abstention metrics</a:t>
            </a:r>
            <a:endParaRPr lang="en-US" sz="975" dirty="0"/>
          </a:p>
        </p:txBody>
      </p:sp>
      <p:sp>
        <p:nvSpPr>
          <p:cNvPr id="53" name="Text 51"/>
          <p:cNvSpPr txBox="1"/>
          <p:nvPr/>
        </p:nvSpPr>
        <p:spPr>
          <a:xfrm>
            <a:off x="342900" y="5397246"/>
            <a:ext cx="8455914" cy="445770"/>
          </a:xfrm>
          <a:prstGeom prst="rect">
            <a:avLst/>
          </a:prstGeom>
          <a:noFill/>
          <a:ln/>
        </p:spPr>
        <p:txBody>
          <a:bodyPr wrap="square" lIns="0" tIns="0" rIns="0" bIns="0" rtlCol="0" anchor="ctr"/>
          <a:lstStyle/>
          <a:p>
            <a:pPr algn="ctr"/>
            <a:r>
              <a:rPr lang="en-US" sz="900" b="1" dirty="0">
                <a:solidFill>
                  <a:srgbClr val="1F3864"/>
                </a:solidFill>
                <a:latin typeface="Times New Roman" pitchFamily="34" charset="0"/>
                <a:ea typeface="Times New Roman" pitchFamily="34" charset="-122"/>
                <a:cs typeface="Times New Roman" pitchFamily="34" charset="-120"/>
              </a:rPr>
              <a:t>Figure 1. Iterative Machine Learning Life Cycle for Abstention-Aware Plant Disease Recognition.</a:t>
            </a:r>
            <a:endParaRPr lang="en-US" sz="900" dirty="0"/>
          </a:p>
          <a:p>
            <a:pPr algn="ctr"/>
            <a:r>
              <a:rPr lang="en-US" sz="713" dirty="0">
                <a:solidFill>
                  <a:srgbClr val="333333"/>
                </a:solidFill>
                <a:latin typeface="Times New Roman" pitchFamily="34" charset="0"/>
                <a:ea typeface="Times New Roman" pitchFamily="34" charset="-122"/>
                <a:cs typeface="Times New Roman" pitchFamily="34" charset="-120"/>
              </a:rPr>
              <a:t>Source: Adapted from TutorialsPoint, “Machine Learning Life Cycle,” https://www.tutorialspoint.com/machine_learning/machine_learning_life_cycle.htm</a:t>
            </a:r>
            <a:endParaRPr lang="en-US" sz="900" dirty="0"/>
          </a:p>
        </p:txBody>
      </p:sp>
      <p:sp>
        <p:nvSpPr>
          <p:cNvPr id="54" name="Slide Number Placeholder 6">
            <a:extLst>
              <a:ext uri="{FF2B5EF4-FFF2-40B4-BE49-F238E27FC236}">
                <a16:creationId xmlns:a16="http://schemas.microsoft.com/office/drawing/2014/main" id="{28960BD4-B7AB-D7F2-2902-002757891AC7}"/>
              </a:ext>
            </a:extLst>
          </p:cNvPr>
          <p:cNvSpPr txBox="1">
            <a:spLocks/>
          </p:cNvSpPr>
          <p:nvPr/>
        </p:nvSpPr>
        <p:spPr>
          <a:xfrm>
            <a:off x="8306415" y="6335141"/>
            <a:ext cx="2057400" cy="365125"/>
          </a:xfrm>
          <a:prstGeom prst="rect">
            <a:avLst/>
          </a:prstGeom>
        </p:spPr>
        <p:txBody>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D90542D4-23E8-43E0-BA8E-C972DA1A005D}" type="slidenum">
              <a:rPr lang="en-US" sz="1400" b="1" smtClean="0">
                <a:latin typeface="Calisto MT" panose="02040603050505030304" pitchFamily="18" charset="0"/>
              </a:rPr>
              <a:pPr/>
              <a:t>30</a:t>
            </a:fld>
            <a:endParaRPr lang="en-US" sz="1400" b="1" dirty="0">
              <a:latin typeface="Calisto MT" panose="02040603050505030304" pitchFamily="18" charset="0"/>
            </a:endParaR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738971-B764-E045-F92B-01E3322A0123}"/>
              </a:ext>
            </a:extLst>
          </p:cNvPr>
          <p:cNvSpPr>
            <a:spLocks noGrp="1"/>
          </p:cNvSpPr>
          <p:nvPr>
            <p:ph type="title"/>
          </p:nvPr>
        </p:nvSpPr>
        <p:spPr>
          <a:xfrm>
            <a:off x="202676" y="120030"/>
            <a:ext cx="8738648" cy="455006"/>
          </a:xfrm>
        </p:spPr>
        <p:txBody>
          <a:bodyPr>
            <a:noAutofit/>
          </a:bodyPr>
          <a:lstStyle/>
          <a:p>
            <a:r>
              <a:rPr lang="en-US" sz="3000" b="1" dirty="0">
                <a:solidFill>
                  <a:schemeClr val="accent2">
                    <a:lumMod val="50000"/>
                  </a:schemeClr>
                </a:solidFill>
                <a:latin typeface="Calisto MT" panose="02040603050505030304" pitchFamily="18" charset="0"/>
              </a:rPr>
              <a:t>13.1. Use Case Diagram</a:t>
            </a:r>
          </a:p>
        </p:txBody>
      </p:sp>
      <p:pic>
        <p:nvPicPr>
          <p:cNvPr id="5" name="Content Placeholder 4">
            <a:extLst>
              <a:ext uri="{FF2B5EF4-FFF2-40B4-BE49-F238E27FC236}">
                <a16:creationId xmlns:a16="http://schemas.microsoft.com/office/drawing/2014/main" id="{BD057120-EF39-13FE-DF16-D674A01B308F}"/>
              </a:ext>
            </a:extLst>
          </p:cNvPr>
          <p:cNvPicPr>
            <a:picLocks noGrp="1" noChangeAspect="1"/>
          </p:cNvPicPr>
          <p:nvPr>
            <p:ph idx="1"/>
          </p:nvPr>
        </p:nvPicPr>
        <p:blipFill>
          <a:blip r:embed="rId2"/>
          <a:stretch>
            <a:fillRect/>
          </a:stretch>
        </p:blipFill>
        <p:spPr>
          <a:xfrm>
            <a:off x="415131" y="937459"/>
            <a:ext cx="8313738" cy="4765251"/>
          </a:xfrm>
          <a:prstGeom prst="rect">
            <a:avLst/>
          </a:prstGeom>
        </p:spPr>
      </p:pic>
      <p:sp>
        <p:nvSpPr>
          <p:cNvPr id="7" name="Slide Number Placeholder 6">
            <a:extLst>
              <a:ext uri="{FF2B5EF4-FFF2-40B4-BE49-F238E27FC236}">
                <a16:creationId xmlns:a16="http://schemas.microsoft.com/office/drawing/2014/main" id="{14F45621-8939-04E9-03B4-11AF180D5862}"/>
              </a:ext>
            </a:extLst>
          </p:cNvPr>
          <p:cNvSpPr>
            <a:spLocks noGrp="1"/>
          </p:cNvSpPr>
          <p:nvPr>
            <p:ph type="sldNum" sz="quarter" idx="12"/>
          </p:nvPr>
        </p:nvSpPr>
        <p:spPr/>
        <p:txBody>
          <a:bodyPr/>
          <a:lstStyle/>
          <a:p>
            <a:fld id="{D90542D4-23E8-43E0-BA8E-C972DA1A005D}" type="slidenum">
              <a:rPr lang="en-US" sz="1400" b="1" smtClean="0">
                <a:solidFill>
                  <a:schemeClr val="tx1"/>
                </a:solidFill>
                <a:latin typeface="Calisto MT" panose="02040603050505030304" pitchFamily="18" charset="0"/>
              </a:rPr>
              <a:pPr/>
              <a:t>31</a:t>
            </a:fld>
            <a:endParaRPr lang="en-US" sz="1400" b="1" dirty="0">
              <a:solidFill>
                <a:schemeClr val="tx1"/>
              </a:solidFill>
              <a:latin typeface="Calisto MT" panose="02040603050505030304" pitchFamily="18" charset="0"/>
            </a:endParaRPr>
          </a:p>
        </p:txBody>
      </p:sp>
      <p:sp>
        <p:nvSpPr>
          <p:cNvPr id="9" name="TextBox 8">
            <a:extLst>
              <a:ext uri="{FF2B5EF4-FFF2-40B4-BE49-F238E27FC236}">
                <a16:creationId xmlns:a16="http://schemas.microsoft.com/office/drawing/2014/main" id="{2F56FF71-84D0-0D78-805E-70810EF8C92A}"/>
              </a:ext>
            </a:extLst>
          </p:cNvPr>
          <p:cNvSpPr txBox="1"/>
          <p:nvPr/>
        </p:nvSpPr>
        <p:spPr>
          <a:xfrm>
            <a:off x="540775" y="5702710"/>
            <a:ext cx="7974576" cy="646331"/>
          </a:xfrm>
          <a:prstGeom prst="rect">
            <a:avLst/>
          </a:prstGeom>
          <a:noFill/>
        </p:spPr>
        <p:txBody>
          <a:bodyPr wrap="square">
            <a:spAutoFit/>
          </a:bodyPr>
          <a:lstStyle/>
          <a:p>
            <a:r>
              <a:rPr lang="en-IN" b="1" dirty="0"/>
              <a:t>Figure 13.1:</a:t>
            </a:r>
            <a:r>
              <a:rPr lang="en-IN" dirty="0"/>
              <a:t> Use Case Diagram of Abstention-Aware Plant Disease Recognition Using Diverse Deep Ensembles and Agentic Evidence Retrieval.</a:t>
            </a:r>
          </a:p>
        </p:txBody>
      </p:sp>
    </p:spTree>
    <p:extLst>
      <p:ext uri="{BB962C8B-B14F-4D97-AF65-F5344CB8AC3E}">
        <p14:creationId xmlns:p14="http://schemas.microsoft.com/office/powerpoint/2010/main" val="2148912873"/>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738971-B764-E045-F92B-01E3322A0123}"/>
              </a:ext>
            </a:extLst>
          </p:cNvPr>
          <p:cNvSpPr>
            <a:spLocks noGrp="1"/>
          </p:cNvSpPr>
          <p:nvPr>
            <p:ph type="title"/>
          </p:nvPr>
        </p:nvSpPr>
        <p:spPr>
          <a:xfrm>
            <a:off x="202676" y="46728"/>
            <a:ext cx="8738648" cy="549273"/>
          </a:xfrm>
        </p:spPr>
        <p:txBody>
          <a:bodyPr>
            <a:noAutofit/>
          </a:bodyPr>
          <a:lstStyle/>
          <a:p>
            <a:r>
              <a:rPr lang="en-US" sz="3000" b="1" dirty="0">
                <a:solidFill>
                  <a:schemeClr val="accent2">
                    <a:lumMod val="50000"/>
                  </a:schemeClr>
                </a:solidFill>
                <a:latin typeface="Calisto MT" panose="02040603050505030304" pitchFamily="18" charset="0"/>
              </a:rPr>
              <a:t>13.2. Sequence Diagram</a:t>
            </a:r>
          </a:p>
        </p:txBody>
      </p:sp>
      <p:pic>
        <p:nvPicPr>
          <p:cNvPr id="9" name="Content Placeholder 8">
            <a:extLst>
              <a:ext uri="{FF2B5EF4-FFF2-40B4-BE49-F238E27FC236}">
                <a16:creationId xmlns:a16="http://schemas.microsoft.com/office/drawing/2014/main" id="{EE17AFEB-D623-F7E3-30C0-0CD436732DC4}"/>
              </a:ext>
            </a:extLst>
          </p:cNvPr>
          <p:cNvPicPr>
            <a:picLocks noGrp="1" noChangeAspect="1"/>
          </p:cNvPicPr>
          <p:nvPr>
            <p:ph idx="1"/>
          </p:nvPr>
        </p:nvPicPr>
        <p:blipFill>
          <a:blip r:embed="rId2"/>
          <a:stretch>
            <a:fillRect/>
          </a:stretch>
        </p:blipFill>
        <p:spPr>
          <a:xfrm>
            <a:off x="201611" y="596001"/>
            <a:ext cx="8519601" cy="5760350"/>
          </a:xfrm>
          <a:prstGeom prst="rect">
            <a:avLst/>
          </a:prstGeom>
        </p:spPr>
      </p:pic>
      <p:sp>
        <p:nvSpPr>
          <p:cNvPr id="7" name="Slide Number Placeholder 6">
            <a:extLst>
              <a:ext uri="{FF2B5EF4-FFF2-40B4-BE49-F238E27FC236}">
                <a16:creationId xmlns:a16="http://schemas.microsoft.com/office/drawing/2014/main" id="{14F45621-8939-04E9-03B4-11AF180D5862}"/>
              </a:ext>
            </a:extLst>
          </p:cNvPr>
          <p:cNvSpPr>
            <a:spLocks noGrp="1"/>
          </p:cNvSpPr>
          <p:nvPr>
            <p:ph type="sldNum" sz="quarter" idx="12"/>
          </p:nvPr>
        </p:nvSpPr>
        <p:spPr/>
        <p:txBody>
          <a:bodyPr/>
          <a:lstStyle/>
          <a:p>
            <a:fld id="{D90542D4-23E8-43E0-BA8E-C972DA1A005D}" type="slidenum">
              <a:rPr lang="en-US" sz="1400" b="1" smtClean="0">
                <a:solidFill>
                  <a:schemeClr val="tx1"/>
                </a:solidFill>
                <a:latin typeface="Calisto MT" panose="02040603050505030304" pitchFamily="18" charset="0"/>
              </a:rPr>
              <a:pPr/>
              <a:t>32</a:t>
            </a:fld>
            <a:endParaRPr lang="en-US" sz="1400" b="1" dirty="0">
              <a:solidFill>
                <a:schemeClr val="tx1"/>
              </a:solidFill>
              <a:latin typeface="Calisto MT" panose="02040603050505030304" pitchFamily="18" charset="0"/>
            </a:endParaRPr>
          </a:p>
        </p:txBody>
      </p:sp>
      <p:sp>
        <p:nvSpPr>
          <p:cNvPr id="11" name="TextBox 10">
            <a:extLst>
              <a:ext uri="{FF2B5EF4-FFF2-40B4-BE49-F238E27FC236}">
                <a16:creationId xmlns:a16="http://schemas.microsoft.com/office/drawing/2014/main" id="{1A7DE9DF-585B-35C0-097B-EA67939C53BA}"/>
              </a:ext>
            </a:extLst>
          </p:cNvPr>
          <p:cNvSpPr txBox="1"/>
          <p:nvPr/>
        </p:nvSpPr>
        <p:spPr>
          <a:xfrm>
            <a:off x="540774" y="6164941"/>
            <a:ext cx="7974576" cy="646331"/>
          </a:xfrm>
          <a:prstGeom prst="rect">
            <a:avLst/>
          </a:prstGeom>
          <a:noFill/>
        </p:spPr>
        <p:txBody>
          <a:bodyPr wrap="square">
            <a:spAutoFit/>
          </a:bodyPr>
          <a:lstStyle/>
          <a:p>
            <a:r>
              <a:rPr lang="en-IN" b="1" dirty="0"/>
              <a:t>Figure 13.2:</a:t>
            </a:r>
            <a:r>
              <a:rPr lang="en-IN" dirty="0"/>
              <a:t> Sequence Diagram of Abstention-Aware Plant Disease Recognition Using Diverse Deep Ensembles and Agentic Evidence Retrieval.</a:t>
            </a:r>
          </a:p>
        </p:txBody>
      </p:sp>
    </p:spTree>
    <p:extLst>
      <p:ext uri="{BB962C8B-B14F-4D97-AF65-F5344CB8AC3E}">
        <p14:creationId xmlns:p14="http://schemas.microsoft.com/office/powerpoint/2010/main" val="3601552994"/>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738971-B764-E045-F92B-01E3322A0123}"/>
              </a:ext>
            </a:extLst>
          </p:cNvPr>
          <p:cNvSpPr>
            <a:spLocks noGrp="1"/>
          </p:cNvSpPr>
          <p:nvPr>
            <p:ph type="title"/>
          </p:nvPr>
        </p:nvSpPr>
        <p:spPr>
          <a:xfrm>
            <a:off x="202676" y="120029"/>
            <a:ext cx="8738648" cy="549273"/>
          </a:xfrm>
        </p:spPr>
        <p:txBody>
          <a:bodyPr>
            <a:noAutofit/>
          </a:bodyPr>
          <a:lstStyle/>
          <a:p>
            <a:r>
              <a:rPr lang="en-US" sz="3000" b="1" dirty="0">
                <a:solidFill>
                  <a:schemeClr val="accent2">
                    <a:lumMod val="50000"/>
                  </a:schemeClr>
                </a:solidFill>
                <a:latin typeface="Calisto MT" panose="02040603050505030304" pitchFamily="18" charset="0"/>
              </a:rPr>
              <a:t>13.3. Activity Diagram</a:t>
            </a:r>
          </a:p>
        </p:txBody>
      </p:sp>
      <p:pic>
        <p:nvPicPr>
          <p:cNvPr id="8" name="Content Placeholder 7">
            <a:extLst>
              <a:ext uri="{FF2B5EF4-FFF2-40B4-BE49-F238E27FC236}">
                <a16:creationId xmlns:a16="http://schemas.microsoft.com/office/drawing/2014/main" id="{B11B3542-1D55-628C-A907-460E90488F99}"/>
              </a:ext>
            </a:extLst>
          </p:cNvPr>
          <p:cNvPicPr>
            <a:picLocks noGrp="1" noChangeAspect="1"/>
          </p:cNvPicPr>
          <p:nvPr>
            <p:ph idx="1"/>
          </p:nvPr>
        </p:nvPicPr>
        <p:blipFill>
          <a:blip r:embed="rId2"/>
          <a:stretch>
            <a:fillRect/>
          </a:stretch>
        </p:blipFill>
        <p:spPr>
          <a:xfrm>
            <a:off x="648929" y="830314"/>
            <a:ext cx="7866421" cy="5383673"/>
          </a:xfrm>
          <a:prstGeom prst="rect">
            <a:avLst/>
          </a:prstGeom>
        </p:spPr>
      </p:pic>
      <p:sp>
        <p:nvSpPr>
          <p:cNvPr id="7" name="Slide Number Placeholder 6">
            <a:extLst>
              <a:ext uri="{FF2B5EF4-FFF2-40B4-BE49-F238E27FC236}">
                <a16:creationId xmlns:a16="http://schemas.microsoft.com/office/drawing/2014/main" id="{14F45621-8939-04E9-03B4-11AF180D5862}"/>
              </a:ext>
            </a:extLst>
          </p:cNvPr>
          <p:cNvSpPr>
            <a:spLocks noGrp="1"/>
          </p:cNvSpPr>
          <p:nvPr>
            <p:ph type="sldNum" sz="quarter" idx="12"/>
          </p:nvPr>
        </p:nvSpPr>
        <p:spPr/>
        <p:txBody>
          <a:bodyPr/>
          <a:lstStyle/>
          <a:p>
            <a:fld id="{D90542D4-23E8-43E0-BA8E-C972DA1A005D}" type="slidenum">
              <a:rPr lang="en-US" sz="1400" b="1" smtClean="0">
                <a:solidFill>
                  <a:schemeClr val="tx1"/>
                </a:solidFill>
                <a:latin typeface="Calisto MT" panose="02040603050505030304" pitchFamily="18" charset="0"/>
              </a:rPr>
              <a:pPr/>
              <a:t>33</a:t>
            </a:fld>
            <a:endParaRPr lang="en-US" sz="1400" b="1" dirty="0">
              <a:solidFill>
                <a:schemeClr val="tx1"/>
              </a:solidFill>
              <a:latin typeface="Calisto MT" panose="02040603050505030304" pitchFamily="18" charset="0"/>
            </a:endParaRPr>
          </a:p>
        </p:txBody>
      </p:sp>
      <p:sp>
        <p:nvSpPr>
          <p:cNvPr id="10" name="TextBox 9">
            <a:extLst>
              <a:ext uri="{FF2B5EF4-FFF2-40B4-BE49-F238E27FC236}">
                <a16:creationId xmlns:a16="http://schemas.microsoft.com/office/drawing/2014/main" id="{3584566D-8520-B24A-8C07-A70FA1D5B1D8}"/>
              </a:ext>
            </a:extLst>
          </p:cNvPr>
          <p:cNvSpPr txBox="1"/>
          <p:nvPr/>
        </p:nvSpPr>
        <p:spPr>
          <a:xfrm>
            <a:off x="520495" y="6091640"/>
            <a:ext cx="7974576" cy="646331"/>
          </a:xfrm>
          <a:prstGeom prst="rect">
            <a:avLst/>
          </a:prstGeom>
          <a:noFill/>
        </p:spPr>
        <p:txBody>
          <a:bodyPr wrap="square">
            <a:spAutoFit/>
          </a:bodyPr>
          <a:lstStyle/>
          <a:p>
            <a:r>
              <a:rPr lang="en-IN" b="1" dirty="0"/>
              <a:t>Figure 13.3:</a:t>
            </a:r>
            <a:r>
              <a:rPr lang="en-IN" dirty="0"/>
              <a:t> Activity Diagram of Abstention-Aware Plant Disease Recognition Using Diverse Deep Ensembles and Agentic Evidence Retrieval.</a:t>
            </a:r>
          </a:p>
        </p:txBody>
      </p:sp>
    </p:spTree>
    <p:extLst>
      <p:ext uri="{BB962C8B-B14F-4D97-AF65-F5344CB8AC3E}">
        <p14:creationId xmlns:p14="http://schemas.microsoft.com/office/powerpoint/2010/main" val="2782914765"/>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txBox="1"/>
          <p:nvPr/>
        </p:nvSpPr>
        <p:spPr>
          <a:xfrm>
            <a:off x="342900" y="620100"/>
            <a:ext cx="8455914" cy="445770"/>
          </a:xfrm>
          <a:prstGeom prst="rect">
            <a:avLst/>
          </a:prstGeom>
          <a:noFill/>
          <a:ln/>
        </p:spPr>
        <p:txBody>
          <a:bodyPr wrap="square" lIns="0" tIns="0" rIns="0" bIns="0" rtlCol="0" anchor="ctr"/>
          <a:lstStyle/>
          <a:p>
            <a:r>
              <a:rPr lang="en-US" sz="2400" b="1" dirty="0">
                <a:solidFill>
                  <a:srgbClr val="8B4513"/>
                </a:solidFill>
                <a:latin typeface="Times New Roman" pitchFamily="34" charset="0"/>
                <a:ea typeface="Times New Roman" pitchFamily="34" charset="-122"/>
                <a:cs typeface="Times New Roman" pitchFamily="34" charset="-120"/>
              </a:rPr>
              <a:t>14. Functional and Non-Functional Requirements</a:t>
            </a:r>
            <a:endParaRPr lang="en-US" sz="2400" dirty="0"/>
          </a:p>
        </p:txBody>
      </p:sp>
      <p:sp>
        <p:nvSpPr>
          <p:cNvPr id="3" name="Text 1"/>
          <p:cNvSpPr txBox="1"/>
          <p:nvPr/>
        </p:nvSpPr>
        <p:spPr>
          <a:xfrm>
            <a:off x="342900" y="1181015"/>
            <a:ext cx="8455914" cy="219456"/>
          </a:xfrm>
          <a:prstGeom prst="rect">
            <a:avLst/>
          </a:prstGeom>
          <a:noFill/>
          <a:ln/>
        </p:spPr>
        <p:txBody>
          <a:bodyPr wrap="square" lIns="0" tIns="0" rIns="0" bIns="0" rtlCol="0" anchor="ctr"/>
          <a:lstStyle/>
          <a:p>
            <a:pPr algn="ctr"/>
            <a:r>
              <a:rPr lang="en-US" sz="1200" dirty="0">
                <a:solidFill>
                  <a:srgbClr val="000000"/>
                </a:solidFill>
                <a:latin typeface="Times New Roman" pitchFamily="34" charset="0"/>
                <a:ea typeface="Times New Roman" pitchFamily="34" charset="-122"/>
                <a:cs typeface="Times New Roman" pitchFamily="34" charset="-120"/>
              </a:rPr>
              <a:t>Table 14.1. Functional Requirements of the Proposed System.</a:t>
            </a:r>
            <a:endParaRPr lang="en-US" sz="1200" dirty="0"/>
          </a:p>
        </p:txBody>
      </p:sp>
      <p:graphicFrame>
        <p:nvGraphicFramePr>
          <p:cNvPr id="4" name="Table 0"/>
          <p:cNvGraphicFramePr>
            <a:graphicFrameLocks noGrp="1"/>
          </p:cNvGraphicFramePr>
          <p:nvPr>
            <p:extLst>
              <p:ext uri="{D42A27DB-BD31-4B8C-83A1-F6EECF244321}">
                <p14:modId xmlns:p14="http://schemas.microsoft.com/office/powerpoint/2010/main" val="2606625425"/>
              </p:ext>
            </p:extLst>
          </p:nvPr>
        </p:nvGraphicFramePr>
        <p:xfrm>
          <a:off x="342900" y="1515616"/>
          <a:ext cx="8455914" cy="4666020"/>
        </p:xfrm>
        <a:graphic>
          <a:graphicData uri="http://schemas.openxmlformats.org/drawingml/2006/table">
            <a:tbl>
              <a:tblPr/>
              <a:tblGrid>
                <a:gridCol w="548640">
                  <a:extLst>
                    <a:ext uri="{9D8B030D-6E8A-4147-A177-3AD203B41FA5}">
                      <a16:colId xmlns:a16="http://schemas.microsoft.com/office/drawing/2014/main" val="20000"/>
                    </a:ext>
                  </a:extLst>
                </a:gridCol>
                <a:gridCol w="1577340">
                  <a:extLst>
                    <a:ext uri="{9D8B030D-6E8A-4147-A177-3AD203B41FA5}">
                      <a16:colId xmlns:a16="http://schemas.microsoft.com/office/drawing/2014/main" val="20001"/>
                    </a:ext>
                  </a:extLst>
                </a:gridCol>
                <a:gridCol w="6329934">
                  <a:extLst>
                    <a:ext uri="{9D8B030D-6E8A-4147-A177-3AD203B41FA5}">
                      <a16:colId xmlns:a16="http://schemas.microsoft.com/office/drawing/2014/main" val="20002"/>
                    </a:ext>
                  </a:extLst>
                </a:gridCol>
              </a:tblGrid>
              <a:tr h="397266">
                <a:tc>
                  <a:txBody>
                    <a:bodyPr/>
                    <a:lstStyle/>
                    <a:p>
                      <a:pPr marL="0" indent="0" algn="ctr">
                        <a:buNone/>
                      </a:pPr>
                      <a:r>
                        <a:rPr lang="en-US" sz="1250" b="1" dirty="0">
                          <a:solidFill>
                            <a:srgbClr val="1A1A1A"/>
                          </a:solidFill>
                          <a:latin typeface="Times New Roman" pitchFamily="34" charset="0"/>
                          <a:ea typeface="Times New Roman" pitchFamily="34" charset="-122"/>
                          <a:cs typeface="Times New Roman" pitchFamily="34" charset="-120"/>
                        </a:rPr>
                        <a:t>ID</a:t>
                      </a:r>
                      <a:endParaRPr lang="en-US" sz="1250" dirty="0">
                        <a:latin typeface="Times New Roman" charset="0"/>
                        <a:ea typeface="Times New Roman" charset="0"/>
                        <a:cs typeface="Times New Roman" charset="0"/>
                      </a:endParaRPr>
                    </a:p>
                  </a:txBody>
                  <a:tcPr marL="41148" marR="41148" marT="13716" marB="13716"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9E2F3"/>
                    </a:solidFill>
                  </a:tcPr>
                </a:tc>
                <a:tc>
                  <a:txBody>
                    <a:bodyPr/>
                    <a:lstStyle/>
                    <a:p>
                      <a:pPr marL="0" indent="0" algn="ctr">
                        <a:buNone/>
                      </a:pPr>
                      <a:r>
                        <a:rPr lang="en-US" sz="1250" b="1" dirty="0">
                          <a:solidFill>
                            <a:srgbClr val="1A1A1A"/>
                          </a:solidFill>
                          <a:latin typeface="Times New Roman" pitchFamily="34" charset="0"/>
                          <a:ea typeface="Times New Roman" pitchFamily="34" charset="-122"/>
                          <a:cs typeface="Times New Roman" pitchFamily="34" charset="-120"/>
                        </a:rPr>
                        <a:t>Requirement Category</a:t>
                      </a:r>
                      <a:endParaRPr lang="en-US" sz="1250" dirty="0">
                        <a:latin typeface="Times New Roman" charset="0"/>
                        <a:ea typeface="Times New Roman" charset="0"/>
                        <a:cs typeface="Times New Roman" charset="0"/>
                      </a:endParaRPr>
                    </a:p>
                  </a:txBody>
                  <a:tcPr marL="41148" marR="41148" marT="13716" marB="13716"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9E2F3"/>
                    </a:solidFill>
                  </a:tcPr>
                </a:tc>
                <a:tc>
                  <a:txBody>
                    <a:bodyPr/>
                    <a:lstStyle/>
                    <a:p>
                      <a:pPr marL="0" indent="0" algn="ctr">
                        <a:buNone/>
                      </a:pPr>
                      <a:r>
                        <a:rPr lang="en-US" sz="1250" b="1" dirty="0">
                          <a:solidFill>
                            <a:srgbClr val="1A1A1A"/>
                          </a:solidFill>
                          <a:latin typeface="Times New Roman" pitchFamily="34" charset="0"/>
                          <a:ea typeface="Times New Roman" pitchFamily="34" charset="-122"/>
                          <a:cs typeface="Times New Roman" pitchFamily="34" charset="-120"/>
                        </a:rPr>
                        <a:t>Requirement Description</a:t>
                      </a:r>
                      <a:endParaRPr lang="en-US" sz="1250" dirty="0">
                        <a:latin typeface="Times New Roman" charset="0"/>
                        <a:ea typeface="Times New Roman" charset="0"/>
                        <a:cs typeface="Times New Roman" charset="0"/>
                      </a:endParaRPr>
                    </a:p>
                  </a:txBody>
                  <a:tcPr marL="41148" marR="41148" marT="13716" marB="13716"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9E2F3"/>
                    </a:solidFill>
                  </a:tcPr>
                </a:tc>
                <a:extLst>
                  <a:ext uri="{0D108BD9-81ED-4DB2-BD59-A6C34878D82A}">
                    <a16:rowId xmlns:a16="http://schemas.microsoft.com/office/drawing/2014/main" val="10000"/>
                  </a:ext>
                </a:extLst>
              </a:tr>
              <a:tr h="0">
                <a:tc gridSpan="3">
                  <a:txBody>
                    <a:bodyPr/>
                    <a:lstStyle/>
                    <a:p>
                      <a:pPr marL="0" indent="0" algn="l">
                        <a:buNone/>
                      </a:pPr>
                      <a:endParaRPr lang="en-US" sz="1250" dirty="0">
                        <a:latin typeface="Times New Roman" charset="0"/>
                        <a:ea typeface="Times New Roman" charset="0"/>
                        <a:cs typeface="Times New Roman" charset="0"/>
                      </a:endParaRPr>
                    </a:p>
                  </a:txBody>
                  <a:tcPr marL="54864" marR="54864" marT="13716" marB="13716"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DD7EE"/>
                    </a:solidFill>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1"/>
                  </a:ext>
                </a:extLst>
              </a:tr>
              <a:tr h="397266">
                <a:tc>
                  <a:txBody>
                    <a:bodyPr/>
                    <a:lstStyle/>
                    <a:p>
                      <a:pPr marL="0" indent="0" algn="ctr">
                        <a:buNone/>
                      </a:pPr>
                      <a:r>
                        <a:rPr lang="en-US" sz="1250" b="1" dirty="0">
                          <a:solidFill>
                            <a:srgbClr val="000000"/>
                          </a:solidFill>
                          <a:latin typeface="Times New Roman" pitchFamily="34" charset="0"/>
                          <a:ea typeface="Times New Roman" pitchFamily="34" charset="-122"/>
                          <a:cs typeface="Times New Roman" pitchFamily="34" charset="-120"/>
                        </a:rPr>
                        <a:t>FR1</a:t>
                      </a:r>
                      <a:endParaRPr lang="en-US" sz="1250" dirty="0">
                        <a:latin typeface="Times New Roman" charset="0"/>
                        <a:ea typeface="Times New Roman" charset="0"/>
                        <a:cs typeface="Times New Roman" charset="0"/>
                      </a:endParaRPr>
                    </a:p>
                  </a:txBody>
                  <a:tcPr marL="54864" marR="54864" marT="13716" marB="13716"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indent="0" algn="l">
                        <a:buNone/>
                      </a:pPr>
                      <a:r>
                        <a:rPr lang="en-US" sz="1250" b="1" dirty="0">
                          <a:solidFill>
                            <a:srgbClr val="000000"/>
                          </a:solidFill>
                          <a:latin typeface="Times New Roman" pitchFamily="34" charset="0"/>
                          <a:ea typeface="Times New Roman" pitchFamily="34" charset="-122"/>
                          <a:cs typeface="Times New Roman" pitchFamily="34" charset="-120"/>
                        </a:rPr>
                        <a:t>Image Input</a:t>
                      </a:r>
                      <a:endParaRPr lang="en-US" sz="1250" dirty="0">
                        <a:latin typeface="Times New Roman" charset="0"/>
                        <a:ea typeface="Times New Roman" charset="0"/>
                        <a:cs typeface="Times New Roman" charset="0"/>
                      </a:endParaRPr>
                    </a:p>
                  </a:txBody>
                  <a:tcPr marL="54864" marR="54864" marT="13716" marB="13716"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indent="0" algn="l">
                        <a:buNone/>
                      </a:pPr>
                      <a:r>
                        <a:rPr lang="en-US" sz="1250" dirty="0">
                          <a:solidFill>
                            <a:srgbClr val="000000"/>
                          </a:solidFill>
                          <a:latin typeface="Times New Roman" pitchFamily="34" charset="0"/>
                          <a:ea typeface="Times New Roman" pitchFamily="34" charset="-122"/>
                          <a:cs typeface="Times New Roman" pitchFamily="34" charset="-120"/>
                        </a:rPr>
                        <a:t>The system shall allow the user to upload a plant leaf image in a supported image format.</a:t>
                      </a:r>
                      <a:endParaRPr lang="en-US" sz="1250" dirty="0">
                        <a:latin typeface="Times New Roman" charset="0"/>
                        <a:ea typeface="Times New Roman" charset="0"/>
                        <a:cs typeface="Times New Roman" charset="0"/>
                      </a:endParaRPr>
                    </a:p>
                  </a:txBody>
                  <a:tcPr marL="54864" marR="54864" marT="13716" marB="13716"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2"/>
                  </a:ext>
                </a:extLst>
              </a:tr>
              <a:tr h="397266">
                <a:tc>
                  <a:txBody>
                    <a:bodyPr/>
                    <a:lstStyle/>
                    <a:p>
                      <a:pPr marL="0" indent="0" algn="ctr">
                        <a:buNone/>
                      </a:pPr>
                      <a:r>
                        <a:rPr lang="en-US" sz="1250" b="1" dirty="0">
                          <a:solidFill>
                            <a:srgbClr val="000000"/>
                          </a:solidFill>
                          <a:latin typeface="Times New Roman" pitchFamily="34" charset="0"/>
                          <a:ea typeface="Times New Roman" pitchFamily="34" charset="-122"/>
                          <a:cs typeface="Times New Roman" pitchFamily="34" charset="-120"/>
                        </a:rPr>
                        <a:t>FR2</a:t>
                      </a:r>
                      <a:endParaRPr lang="en-US" sz="1250" dirty="0">
                        <a:latin typeface="Times New Roman" charset="0"/>
                        <a:ea typeface="Times New Roman" charset="0"/>
                        <a:cs typeface="Times New Roman" charset="0"/>
                      </a:endParaRPr>
                    </a:p>
                  </a:txBody>
                  <a:tcPr marL="54864" marR="54864" marT="13716" marB="13716"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indent="0" algn="l">
                        <a:buNone/>
                      </a:pPr>
                      <a:r>
                        <a:rPr lang="en-US" sz="1250" b="1" dirty="0">
                          <a:solidFill>
                            <a:srgbClr val="000000"/>
                          </a:solidFill>
                          <a:latin typeface="Times New Roman" pitchFamily="34" charset="0"/>
                          <a:ea typeface="Times New Roman" pitchFamily="34" charset="-122"/>
                          <a:cs typeface="Times New Roman" pitchFamily="34" charset="-120"/>
                        </a:rPr>
                        <a:t>Image Validation</a:t>
                      </a:r>
                      <a:endParaRPr lang="en-US" sz="1250" dirty="0">
                        <a:latin typeface="Times New Roman" charset="0"/>
                        <a:ea typeface="Times New Roman" charset="0"/>
                        <a:cs typeface="Times New Roman" charset="0"/>
                      </a:endParaRPr>
                    </a:p>
                  </a:txBody>
                  <a:tcPr marL="54864" marR="54864" marT="13716" marB="13716"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indent="0" algn="l">
                        <a:buNone/>
                      </a:pPr>
                      <a:r>
                        <a:rPr lang="en-US" sz="1250" dirty="0">
                          <a:solidFill>
                            <a:srgbClr val="000000"/>
                          </a:solidFill>
                          <a:latin typeface="Times New Roman" pitchFamily="34" charset="0"/>
                          <a:ea typeface="Times New Roman" pitchFamily="34" charset="-122"/>
                          <a:cs typeface="Times New Roman" pitchFamily="34" charset="-120"/>
                        </a:rPr>
                        <a:t>The system shall check that the uploaded image is readable and in an accepted format.</a:t>
                      </a:r>
                      <a:endParaRPr lang="en-US" sz="1250" dirty="0">
                        <a:latin typeface="Times New Roman" charset="0"/>
                        <a:ea typeface="Times New Roman" charset="0"/>
                        <a:cs typeface="Times New Roman" charset="0"/>
                      </a:endParaRPr>
                    </a:p>
                  </a:txBody>
                  <a:tcPr marL="54864" marR="54864" marT="13716" marB="13716"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3"/>
                  </a:ext>
                </a:extLst>
              </a:tr>
              <a:tr h="397266">
                <a:tc>
                  <a:txBody>
                    <a:bodyPr/>
                    <a:lstStyle/>
                    <a:p>
                      <a:pPr marL="0" indent="0" algn="ctr">
                        <a:buNone/>
                      </a:pPr>
                      <a:r>
                        <a:rPr lang="en-US" sz="1250" b="1" dirty="0">
                          <a:solidFill>
                            <a:srgbClr val="000000"/>
                          </a:solidFill>
                          <a:latin typeface="Times New Roman" pitchFamily="34" charset="0"/>
                          <a:ea typeface="Times New Roman" pitchFamily="34" charset="-122"/>
                          <a:cs typeface="Times New Roman" pitchFamily="34" charset="-120"/>
                        </a:rPr>
                        <a:t>FR3</a:t>
                      </a:r>
                      <a:endParaRPr lang="en-US" sz="1250" dirty="0">
                        <a:latin typeface="Times New Roman" charset="0"/>
                        <a:ea typeface="Times New Roman" charset="0"/>
                        <a:cs typeface="Times New Roman" charset="0"/>
                      </a:endParaRPr>
                    </a:p>
                  </a:txBody>
                  <a:tcPr marL="54864" marR="54864" marT="13716" marB="13716"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indent="0" algn="l">
                        <a:buNone/>
                      </a:pPr>
                      <a:r>
                        <a:rPr lang="en-US" sz="1250" b="1" dirty="0">
                          <a:solidFill>
                            <a:srgbClr val="000000"/>
                          </a:solidFill>
                          <a:latin typeface="Times New Roman" pitchFamily="34" charset="0"/>
                          <a:ea typeface="Times New Roman" pitchFamily="34" charset="-122"/>
                          <a:cs typeface="Times New Roman" pitchFamily="34" charset="-120"/>
                        </a:rPr>
                        <a:t>Image Preprocessing</a:t>
                      </a:r>
                      <a:endParaRPr lang="en-US" sz="1250" dirty="0">
                        <a:latin typeface="Times New Roman" charset="0"/>
                        <a:ea typeface="Times New Roman" charset="0"/>
                        <a:cs typeface="Times New Roman" charset="0"/>
                      </a:endParaRPr>
                    </a:p>
                  </a:txBody>
                  <a:tcPr marL="54864" marR="54864" marT="13716" marB="13716"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indent="0" algn="l">
                        <a:buNone/>
                      </a:pPr>
                      <a:r>
                        <a:rPr lang="en-US" sz="1250" dirty="0">
                          <a:solidFill>
                            <a:srgbClr val="000000"/>
                          </a:solidFill>
                          <a:latin typeface="Times New Roman" pitchFamily="34" charset="0"/>
                          <a:ea typeface="Times New Roman" pitchFamily="34" charset="-122"/>
                          <a:cs typeface="Times New Roman" pitchFamily="34" charset="-120"/>
                        </a:rPr>
                        <a:t>The system shall preprocess valid images into the input format required by the trained models.</a:t>
                      </a:r>
                      <a:endParaRPr lang="en-US" sz="1250" dirty="0">
                        <a:latin typeface="Times New Roman" charset="0"/>
                        <a:ea typeface="Times New Roman" charset="0"/>
                        <a:cs typeface="Times New Roman" charset="0"/>
                      </a:endParaRPr>
                    </a:p>
                  </a:txBody>
                  <a:tcPr marL="54864" marR="54864" marT="13716" marB="13716"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4"/>
                  </a:ext>
                </a:extLst>
              </a:tr>
              <a:tr h="397266">
                <a:tc>
                  <a:txBody>
                    <a:bodyPr/>
                    <a:lstStyle/>
                    <a:p>
                      <a:pPr marL="0" indent="0" algn="ctr">
                        <a:buNone/>
                      </a:pPr>
                      <a:r>
                        <a:rPr lang="en-US" sz="1250" b="1" dirty="0">
                          <a:solidFill>
                            <a:srgbClr val="000000"/>
                          </a:solidFill>
                          <a:latin typeface="Times New Roman" pitchFamily="34" charset="0"/>
                          <a:ea typeface="Times New Roman" pitchFamily="34" charset="-122"/>
                          <a:cs typeface="Times New Roman" pitchFamily="34" charset="-120"/>
                        </a:rPr>
                        <a:t>FR4</a:t>
                      </a:r>
                      <a:endParaRPr lang="en-US" sz="1250" dirty="0">
                        <a:latin typeface="Times New Roman" charset="0"/>
                        <a:ea typeface="Times New Roman" charset="0"/>
                        <a:cs typeface="Times New Roman" charset="0"/>
                      </a:endParaRPr>
                    </a:p>
                  </a:txBody>
                  <a:tcPr marL="54864" marR="54864" marT="13716" marB="13716"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indent="0" algn="l">
                        <a:buNone/>
                      </a:pPr>
                      <a:r>
                        <a:rPr lang="en-US" sz="1250" b="1" dirty="0">
                          <a:solidFill>
                            <a:srgbClr val="000000"/>
                          </a:solidFill>
                          <a:latin typeface="Times New Roman" pitchFamily="34" charset="0"/>
                          <a:ea typeface="Times New Roman" pitchFamily="34" charset="-122"/>
                          <a:cs typeface="Times New Roman" pitchFamily="34" charset="-120"/>
                        </a:rPr>
                        <a:t>Disease Classification</a:t>
                      </a:r>
                      <a:endParaRPr lang="en-US" sz="1250" dirty="0">
                        <a:latin typeface="Times New Roman" charset="0"/>
                        <a:ea typeface="Times New Roman" charset="0"/>
                        <a:cs typeface="Times New Roman" charset="0"/>
                      </a:endParaRPr>
                    </a:p>
                  </a:txBody>
                  <a:tcPr marL="54864" marR="54864" marT="13716" marB="13716"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indent="0" algn="l">
                        <a:buNone/>
                      </a:pPr>
                      <a:r>
                        <a:rPr lang="en-US" sz="1250" dirty="0">
                          <a:solidFill>
                            <a:srgbClr val="000000"/>
                          </a:solidFill>
                          <a:latin typeface="Times New Roman" pitchFamily="34" charset="0"/>
                          <a:ea typeface="Times New Roman" pitchFamily="34" charset="-122"/>
                          <a:cs typeface="Times New Roman" pitchFamily="34" charset="-120"/>
                        </a:rPr>
                        <a:t>The system shall generate disease-class predictions using the selected trained model or ensemble.</a:t>
                      </a:r>
                      <a:endParaRPr lang="en-US" sz="1250" dirty="0">
                        <a:latin typeface="Times New Roman" charset="0"/>
                        <a:ea typeface="Times New Roman" charset="0"/>
                        <a:cs typeface="Times New Roman" charset="0"/>
                      </a:endParaRPr>
                    </a:p>
                  </a:txBody>
                  <a:tcPr marL="54864" marR="54864" marT="13716" marB="13716"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5"/>
                  </a:ext>
                </a:extLst>
              </a:tr>
              <a:tr h="397266">
                <a:tc>
                  <a:txBody>
                    <a:bodyPr/>
                    <a:lstStyle/>
                    <a:p>
                      <a:pPr marL="0" indent="0" algn="ctr">
                        <a:buNone/>
                      </a:pPr>
                      <a:r>
                        <a:rPr lang="en-US" sz="1250" b="1" dirty="0">
                          <a:solidFill>
                            <a:srgbClr val="000000"/>
                          </a:solidFill>
                          <a:latin typeface="Times New Roman" pitchFamily="34" charset="0"/>
                          <a:ea typeface="Times New Roman" pitchFamily="34" charset="-122"/>
                          <a:cs typeface="Times New Roman" pitchFamily="34" charset="-120"/>
                        </a:rPr>
                        <a:t>FR5</a:t>
                      </a:r>
                      <a:endParaRPr lang="en-US" sz="1250" dirty="0">
                        <a:latin typeface="Times New Roman" charset="0"/>
                        <a:ea typeface="Times New Roman" charset="0"/>
                        <a:cs typeface="Times New Roman" charset="0"/>
                      </a:endParaRPr>
                    </a:p>
                  </a:txBody>
                  <a:tcPr marL="54864" marR="54864" marT="13716" marB="13716"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indent="0" algn="l">
                        <a:buNone/>
                      </a:pPr>
                      <a:r>
                        <a:rPr lang="en-US" sz="1250" b="1" dirty="0">
                          <a:solidFill>
                            <a:srgbClr val="000000"/>
                          </a:solidFill>
                          <a:latin typeface="Times New Roman" pitchFamily="34" charset="0"/>
                          <a:ea typeface="Times New Roman" pitchFamily="34" charset="-122"/>
                          <a:cs typeface="Times New Roman" pitchFamily="34" charset="-120"/>
                        </a:rPr>
                        <a:t>Ensemble Prediction</a:t>
                      </a:r>
                      <a:endParaRPr lang="en-US" sz="1250" dirty="0">
                        <a:latin typeface="Times New Roman" charset="0"/>
                        <a:ea typeface="Times New Roman" charset="0"/>
                        <a:cs typeface="Times New Roman" charset="0"/>
                      </a:endParaRPr>
                    </a:p>
                  </a:txBody>
                  <a:tcPr marL="54864" marR="54864" marT="13716" marB="13716"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indent="0" algn="l">
                        <a:buNone/>
                      </a:pPr>
                      <a:r>
                        <a:rPr lang="en-US" sz="1250" dirty="0">
                          <a:solidFill>
                            <a:srgbClr val="000000"/>
                          </a:solidFill>
                          <a:latin typeface="Times New Roman" pitchFamily="34" charset="0"/>
                          <a:ea typeface="Times New Roman" pitchFamily="34" charset="-122"/>
                          <a:cs typeface="Times New Roman" pitchFamily="34" charset="-120"/>
                        </a:rPr>
                        <a:t>Where multiple models are integrated, the system shall aggregate their outputs per the ensemble strategy.</a:t>
                      </a:r>
                      <a:endParaRPr lang="en-US" sz="1250" dirty="0">
                        <a:latin typeface="Times New Roman" charset="0"/>
                        <a:ea typeface="Times New Roman" charset="0"/>
                        <a:cs typeface="Times New Roman" charset="0"/>
                      </a:endParaRPr>
                    </a:p>
                  </a:txBody>
                  <a:tcPr marL="54864" marR="54864" marT="13716" marB="13716"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6"/>
                  </a:ext>
                </a:extLst>
              </a:tr>
              <a:tr h="397266">
                <a:tc>
                  <a:txBody>
                    <a:bodyPr/>
                    <a:lstStyle/>
                    <a:p>
                      <a:pPr marL="0" indent="0" algn="ctr">
                        <a:buNone/>
                      </a:pPr>
                      <a:r>
                        <a:rPr lang="en-US" sz="1250" b="1" dirty="0">
                          <a:solidFill>
                            <a:srgbClr val="000000"/>
                          </a:solidFill>
                          <a:latin typeface="Times New Roman" pitchFamily="34" charset="0"/>
                          <a:ea typeface="Times New Roman" pitchFamily="34" charset="-122"/>
                          <a:cs typeface="Times New Roman" pitchFamily="34" charset="-120"/>
                        </a:rPr>
                        <a:t>FR6</a:t>
                      </a:r>
                      <a:endParaRPr lang="en-US" sz="1250" dirty="0">
                        <a:latin typeface="Times New Roman" charset="0"/>
                        <a:ea typeface="Times New Roman" charset="0"/>
                        <a:cs typeface="Times New Roman" charset="0"/>
                      </a:endParaRPr>
                    </a:p>
                  </a:txBody>
                  <a:tcPr marL="54864" marR="54864" marT="13716" marB="13716"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indent="0" algn="l">
                        <a:buNone/>
                      </a:pPr>
                      <a:r>
                        <a:rPr lang="en-US" sz="1250" b="1" dirty="0">
                          <a:solidFill>
                            <a:srgbClr val="000000"/>
                          </a:solidFill>
                          <a:latin typeface="Times New Roman" pitchFamily="34" charset="0"/>
                          <a:ea typeface="Times New Roman" pitchFamily="34" charset="-122"/>
                          <a:cs typeface="Times New Roman" pitchFamily="34" charset="-120"/>
                        </a:rPr>
                        <a:t>Reliability Assessment</a:t>
                      </a:r>
                      <a:endParaRPr lang="en-US" sz="1250" dirty="0">
                        <a:latin typeface="Times New Roman" charset="0"/>
                        <a:ea typeface="Times New Roman" charset="0"/>
                        <a:cs typeface="Times New Roman" charset="0"/>
                      </a:endParaRPr>
                    </a:p>
                  </a:txBody>
                  <a:tcPr marL="54864" marR="54864" marT="13716" marB="13716"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indent="0" algn="l">
                        <a:buNone/>
                      </a:pPr>
                      <a:r>
                        <a:rPr lang="en-US" sz="1250" dirty="0">
                          <a:solidFill>
                            <a:srgbClr val="000000"/>
                          </a:solidFill>
                          <a:latin typeface="Times New Roman" pitchFamily="34" charset="0"/>
                          <a:ea typeface="Times New Roman" pitchFamily="34" charset="-122"/>
                          <a:cs typeface="Times New Roman" pitchFamily="34" charset="-120"/>
                        </a:rPr>
                        <a:t>The system shall evaluate configured reliability indicators (model agreement, uncertainty) where implemented.</a:t>
                      </a:r>
                      <a:endParaRPr lang="en-US" sz="1250" dirty="0">
                        <a:latin typeface="Times New Roman" charset="0"/>
                        <a:ea typeface="Times New Roman" charset="0"/>
                        <a:cs typeface="Times New Roman" charset="0"/>
                      </a:endParaRPr>
                    </a:p>
                  </a:txBody>
                  <a:tcPr marL="54864" marR="54864" marT="13716" marB="13716"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7"/>
                  </a:ext>
                </a:extLst>
              </a:tr>
              <a:tr h="397266">
                <a:tc>
                  <a:txBody>
                    <a:bodyPr/>
                    <a:lstStyle/>
                    <a:p>
                      <a:pPr marL="0" indent="0" algn="ctr">
                        <a:buNone/>
                      </a:pPr>
                      <a:r>
                        <a:rPr lang="en-US" sz="1250" b="1" dirty="0">
                          <a:solidFill>
                            <a:srgbClr val="000000"/>
                          </a:solidFill>
                          <a:latin typeface="Times New Roman" pitchFamily="34" charset="0"/>
                          <a:ea typeface="Times New Roman" pitchFamily="34" charset="-122"/>
                          <a:cs typeface="Times New Roman" pitchFamily="34" charset="-120"/>
                        </a:rPr>
                        <a:t>FR7</a:t>
                      </a:r>
                      <a:endParaRPr lang="en-US" sz="1250" dirty="0">
                        <a:latin typeface="Times New Roman" charset="0"/>
                        <a:ea typeface="Times New Roman" charset="0"/>
                        <a:cs typeface="Times New Roman" charset="0"/>
                      </a:endParaRPr>
                    </a:p>
                  </a:txBody>
                  <a:tcPr marL="54864" marR="54864" marT="13716" marB="13716"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indent="0" algn="l">
                        <a:buNone/>
                      </a:pPr>
                      <a:r>
                        <a:rPr lang="en-US" sz="1250" b="1" dirty="0">
                          <a:solidFill>
                            <a:srgbClr val="000000"/>
                          </a:solidFill>
                          <a:latin typeface="Times New Roman" pitchFamily="34" charset="0"/>
                          <a:ea typeface="Times New Roman" pitchFamily="34" charset="-122"/>
                          <a:cs typeface="Times New Roman" pitchFamily="34" charset="-120"/>
                        </a:rPr>
                        <a:t>Abstention</a:t>
                      </a:r>
                      <a:endParaRPr lang="en-US" sz="1250" dirty="0">
                        <a:latin typeface="Times New Roman" charset="0"/>
                        <a:ea typeface="Times New Roman" charset="0"/>
                        <a:cs typeface="Times New Roman" charset="0"/>
                      </a:endParaRPr>
                    </a:p>
                  </a:txBody>
                  <a:tcPr marL="54864" marR="54864" marT="13716" marB="13716"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indent="0" algn="l">
                        <a:buNone/>
                      </a:pPr>
                      <a:r>
                        <a:rPr lang="en-US" sz="1250" dirty="0">
                          <a:solidFill>
                            <a:srgbClr val="000000"/>
                          </a:solidFill>
                          <a:latin typeface="Times New Roman" pitchFamily="34" charset="0"/>
                          <a:ea typeface="Times New Roman" pitchFamily="34" charset="-122"/>
                          <a:cs typeface="Times New Roman" pitchFamily="34" charset="-120"/>
                        </a:rPr>
                        <a:t>The system shall not present a definitive prediction when configured reliability criteria are not met.</a:t>
                      </a:r>
                      <a:endParaRPr lang="en-US" sz="1250" dirty="0">
                        <a:latin typeface="Times New Roman" charset="0"/>
                        <a:ea typeface="Times New Roman" charset="0"/>
                        <a:cs typeface="Times New Roman" charset="0"/>
                      </a:endParaRPr>
                    </a:p>
                  </a:txBody>
                  <a:tcPr marL="54864" marR="54864" marT="13716" marB="13716"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8"/>
                  </a:ext>
                </a:extLst>
              </a:tr>
              <a:tr h="397266">
                <a:tc>
                  <a:txBody>
                    <a:bodyPr/>
                    <a:lstStyle/>
                    <a:p>
                      <a:pPr marL="0" indent="0" algn="ctr">
                        <a:buNone/>
                      </a:pPr>
                      <a:r>
                        <a:rPr lang="en-US" sz="1250" b="1" dirty="0">
                          <a:solidFill>
                            <a:srgbClr val="000000"/>
                          </a:solidFill>
                          <a:latin typeface="Times New Roman" pitchFamily="34" charset="0"/>
                          <a:ea typeface="Times New Roman" pitchFamily="34" charset="-122"/>
                          <a:cs typeface="Times New Roman" pitchFamily="34" charset="-120"/>
                        </a:rPr>
                        <a:t>FR8</a:t>
                      </a:r>
                      <a:endParaRPr lang="en-US" sz="1250" dirty="0">
                        <a:latin typeface="Times New Roman" charset="0"/>
                        <a:ea typeface="Times New Roman" charset="0"/>
                        <a:cs typeface="Times New Roman" charset="0"/>
                      </a:endParaRPr>
                    </a:p>
                  </a:txBody>
                  <a:tcPr marL="54864" marR="54864" marT="13716" marB="13716"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indent="0" algn="l">
                        <a:buNone/>
                      </a:pPr>
                      <a:r>
                        <a:rPr lang="en-US" sz="1250" b="1" dirty="0">
                          <a:solidFill>
                            <a:srgbClr val="000000"/>
                          </a:solidFill>
                          <a:latin typeface="Times New Roman" pitchFamily="34" charset="0"/>
                          <a:ea typeface="Times New Roman" pitchFamily="34" charset="-122"/>
                          <a:cs typeface="Times New Roman" pitchFamily="34" charset="-120"/>
                        </a:rPr>
                        <a:t>Evidence Retrieval</a:t>
                      </a:r>
                      <a:endParaRPr lang="en-US" sz="1250" dirty="0">
                        <a:latin typeface="Times New Roman" charset="0"/>
                        <a:ea typeface="Times New Roman" charset="0"/>
                        <a:cs typeface="Times New Roman" charset="0"/>
                      </a:endParaRPr>
                    </a:p>
                  </a:txBody>
                  <a:tcPr marL="54864" marR="54864" marT="13716" marB="13716"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indent="0" algn="l">
                        <a:buNone/>
                      </a:pPr>
                      <a:r>
                        <a:rPr lang="en-US" sz="1250" dirty="0">
                          <a:solidFill>
                            <a:srgbClr val="000000"/>
                          </a:solidFill>
                          <a:latin typeface="Times New Roman" pitchFamily="34" charset="0"/>
                          <a:ea typeface="Times New Roman" pitchFamily="34" charset="-122"/>
                          <a:cs typeface="Times New Roman" pitchFamily="34" charset="-120"/>
                        </a:rPr>
                        <a:t>The system shall retrieve relevant plant disease information through the evidence-retrieval component.</a:t>
                      </a:r>
                      <a:endParaRPr lang="en-US" sz="1250" dirty="0">
                        <a:latin typeface="Times New Roman" charset="0"/>
                        <a:ea typeface="Times New Roman" charset="0"/>
                        <a:cs typeface="Times New Roman" charset="0"/>
                      </a:endParaRPr>
                    </a:p>
                  </a:txBody>
                  <a:tcPr marL="54864" marR="54864" marT="13716" marB="13716"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9"/>
                  </a:ext>
                </a:extLst>
              </a:tr>
              <a:tr h="397266">
                <a:tc>
                  <a:txBody>
                    <a:bodyPr/>
                    <a:lstStyle/>
                    <a:p>
                      <a:pPr marL="0" indent="0" algn="ctr">
                        <a:buNone/>
                      </a:pPr>
                      <a:r>
                        <a:rPr lang="en-US" sz="1250" b="1" dirty="0">
                          <a:solidFill>
                            <a:srgbClr val="000000"/>
                          </a:solidFill>
                          <a:latin typeface="Times New Roman" pitchFamily="34" charset="0"/>
                          <a:ea typeface="Times New Roman" pitchFamily="34" charset="-122"/>
                          <a:cs typeface="Times New Roman" pitchFamily="34" charset="-120"/>
                        </a:rPr>
                        <a:t>FR9</a:t>
                      </a:r>
                      <a:endParaRPr lang="en-US" sz="1250" dirty="0">
                        <a:latin typeface="Times New Roman" charset="0"/>
                        <a:ea typeface="Times New Roman" charset="0"/>
                        <a:cs typeface="Times New Roman" charset="0"/>
                      </a:endParaRPr>
                    </a:p>
                  </a:txBody>
                  <a:tcPr marL="54864" marR="54864" marT="13716" marB="13716"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indent="0" algn="l">
                        <a:buNone/>
                      </a:pPr>
                      <a:r>
                        <a:rPr lang="en-US" sz="1250" b="1" dirty="0">
                          <a:solidFill>
                            <a:srgbClr val="000000"/>
                          </a:solidFill>
                          <a:latin typeface="Times New Roman" pitchFamily="34" charset="0"/>
                          <a:ea typeface="Times New Roman" pitchFamily="34" charset="-122"/>
                          <a:cs typeface="Times New Roman" pitchFamily="34" charset="-120"/>
                        </a:rPr>
                        <a:t>Result Presentation</a:t>
                      </a:r>
                      <a:endParaRPr lang="en-US" sz="1250" dirty="0">
                        <a:latin typeface="Times New Roman" charset="0"/>
                        <a:ea typeface="Times New Roman" charset="0"/>
                        <a:cs typeface="Times New Roman" charset="0"/>
                      </a:endParaRPr>
                    </a:p>
                  </a:txBody>
                  <a:tcPr marL="54864" marR="54864" marT="13716" marB="13716"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indent="0" algn="l">
                        <a:buNone/>
                      </a:pPr>
                      <a:r>
                        <a:rPr lang="en-US" sz="1250" dirty="0">
                          <a:solidFill>
                            <a:srgbClr val="000000"/>
                          </a:solidFill>
                          <a:latin typeface="Times New Roman" pitchFamily="34" charset="0"/>
                          <a:ea typeface="Times New Roman" pitchFamily="34" charset="-122"/>
                          <a:cs typeface="Times New Roman" pitchFamily="34" charset="-120"/>
                        </a:rPr>
                        <a:t>The system shall display the accepted prediction with available evidence, or an abstention message.</a:t>
                      </a:r>
                      <a:endParaRPr lang="en-US" sz="1250" dirty="0">
                        <a:latin typeface="Times New Roman" charset="0"/>
                        <a:ea typeface="Times New Roman" charset="0"/>
                        <a:cs typeface="Times New Roman" charset="0"/>
                      </a:endParaRPr>
                    </a:p>
                  </a:txBody>
                  <a:tcPr marL="54864" marR="54864" marT="13716" marB="13716"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10"/>
                  </a:ext>
                </a:extLst>
              </a:tr>
              <a:tr h="397266">
                <a:tc>
                  <a:txBody>
                    <a:bodyPr/>
                    <a:lstStyle/>
                    <a:p>
                      <a:pPr marL="0" indent="0" algn="ctr">
                        <a:buNone/>
                      </a:pPr>
                      <a:r>
                        <a:rPr lang="en-US" sz="1250" b="1" dirty="0">
                          <a:solidFill>
                            <a:srgbClr val="000000"/>
                          </a:solidFill>
                          <a:latin typeface="Times New Roman" pitchFamily="34" charset="0"/>
                          <a:ea typeface="Times New Roman" pitchFamily="34" charset="-122"/>
                          <a:cs typeface="Times New Roman" pitchFamily="34" charset="-120"/>
                        </a:rPr>
                        <a:t>FR10</a:t>
                      </a:r>
                      <a:endParaRPr lang="en-US" sz="1250" dirty="0">
                        <a:latin typeface="Times New Roman" charset="0"/>
                        <a:ea typeface="Times New Roman" charset="0"/>
                        <a:cs typeface="Times New Roman" charset="0"/>
                      </a:endParaRPr>
                    </a:p>
                  </a:txBody>
                  <a:tcPr marL="54864" marR="54864" marT="13716" marB="13716"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indent="0" algn="l">
                        <a:buNone/>
                      </a:pPr>
                      <a:r>
                        <a:rPr lang="en-US" sz="1250" b="1" dirty="0">
                          <a:solidFill>
                            <a:srgbClr val="000000"/>
                          </a:solidFill>
                          <a:latin typeface="Times New Roman" pitchFamily="34" charset="0"/>
                          <a:ea typeface="Times New Roman" pitchFamily="34" charset="-122"/>
                          <a:cs typeface="Times New Roman" pitchFamily="34" charset="-120"/>
                        </a:rPr>
                        <a:t>Input Error Handling</a:t>
                      </a:r>
                      <a:endParaRPr lang="en-US" sz="1250" dirty="0">
                        <a:latin typeface="Times New Roman" charset="0"/>
                        <a:ea typeface="Times New Roman" charset="0"/>
                        <a:cs typeface="Times New Roman" charset="0"/>
                      </a:endParaRPr>
                    </a:p>
                  </a:txBody>
                  <a:tcPr marL="54864" marR="54864" marT="13716" marB="13716"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indent="0" algn="l">
                        <a:buNone/>
                      </a:pPr>
                      <a:r>
                        <a:rPr lang="en-US" sz="1250" dirty="0">
                          <a:solidFill>
                            <a:srgbClr val="000000"/>
                          </a:solidFill>
                          <a:latin typeface="Times New Roman" pitchFamily="34" charset="0"/>
                          <a:ea typeface="Times New Roman" pitchFamily="34" charset="-122"/>
                          <a:cs typeface="Times New Roman" pitchFamily="34" charset="-120"/>
                        </a:rPr>
                        <a:t>The system shall show an error or retry message when the input image is invalid or unprocessable.</a:t>
                      </a:r>
                      <a:endParaRPr lang="en-US" sz="1250" dirty="0">
                        <a:latin typeface="Times New Roman" charset="0"/>
                        <a:ea typeface="Times New Roman" charset="0"/>
                        <a:cs typeface="Times New Roman" charset="0"/>
                      </a:endParaRPr>
                    </a:p>
                  </a:txBody>
                  <a:tcPr marL="54864" marR="54864" marT="13716" marB="13716"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11"/>
                  </a:ext>
                </a:extLst>
              </a:tr>
            </a:tbl>
          </a:graphicData>
        </a:graphic>
      </p:graphicFrame>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25C18E9-0D9B-430A-4040-79B1EA7723EF}"/>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91ABEECE-117E-FE45-38D3-9CC5D57CA767}"/>
              </a:ext>
            </a:extLst>
          </p:cNvPr>
          <p:cNvSpPr txBox="1"/>
          <p:nvPr/>
        </p:nvSpPr>
        <p:spPr>
          <a:xfrm>
            <a:off x="342900" y="620100"/>
            <a:ext cx="8455914" cy="445770"/>
          </a:xfrm>
          <a:prstGeom prst="rect">
            <a:avLst/>
          </a:prstGeom>
          <a:noFill/>
          <a:ln/>
        </p:spPr>
        <p:txBody>
          <a:bodyPr wrap="square" lIns="0" tIns="0" rIns="0" bIns="0" rtlCol="0" anchor="ctr"/>
          <a:lstStyle/>
          <a:p>
            <a:r>
              <a:rPr lang="en-US" sz="2400" b="1" dirty="0">
                <a:solidFill>
                  <a:srgbClr val="8B4513"/>
                </a:solidFill>
                <a:latin typeface="Times New Roman" pitchFamily="34" charset="0"/>
                <a:ea typeface="Times New Roman" pitchFamily="34" charset="-122"/>
                <a:cs typeface="Times New Roman" pitchFamily="34" charset="-120"/>
              </a:rPr>
              <a:t>14. Functional and Non-Functional Requirements</a:t>
            </a:r>
            <a:endParaRPr lang="en-US" sz="2400" dirty="0"/>
          </a:p>
        </p:txBody>
      </p:sp>
      <p:sp>
        <p:nvSpPr>
          <p:cNvPr id="3" name="Text 1">
            <a:extLst>
              <a:ext uri="{FF2B5EF4-FFF2-40B4-BE49-F238E27FC236}">
                <a16:creationId xmlns:a16="http://schemas.microsoft.com/office/drawing/2014/main" id="{7CA22FCB-8929-4205-A489-5F7645B81485}"/>
              </a:ext>
            </a:extLst>
          </p:cNvPr>
          <p:cNvSpPr txBox="1"/>
          <p:nvPr/>
        </p:nvSpPr>
        <p:spPr>
          <a:xfrm>
            <a:off x="342900" y="1181015"/>
            <a:ext cx="8455914" cy="219456"/>
          </a:xfrm>
          <a:prstGeom prst="rect">
            <a:avLst/>
          </a:prstGeom>
          <a:noFill/>
          <a:ln/>
        </p:spPr>
        <p:txBody>
          <a:bodyPr wrap="square" lIns="0" tIns="0" rIns="0" bIns="0" rtlCol="0" anchor="ctr"/>
          <a:lstStyle/>
          <a:p>
            <a:pPr algn="ctr"/>
            <a:r>
              <a:rPr lang="en-US" sz="1200" dirty="0">
                <a:solidFill>
                  <a:srgbClr val="000000"/>
                </a:solidFill>
                <a:latin typeface="Times New Roman" pitchFamily="34" charset="0"/>
                <a:ea typeface="Times New Roman" pitchFamily="34" charset="-122"/>
                <a:cs typeface="Times New Roman" pitchFamily="34" charset="-120"/>
              </a:rPr>
              <a:t>Table 14.2. Non-Functional Requirements of the Proposed System.</a:t>
            </a:r>
            <a:endParaRPr lang="en-US" sz="1200" dirty="0"/>
          </a:p>
        </p:txBody>
      </p:sp>
      <p:graphicFrame>
        <p:nvGraphicFramePr>
          <p:cNvPr id="4" name="Table 0">
            <a:extLst>
              <a:ext uri="{FF2B5EF4-FFF2-40B4-BE49-F238E27FC236}">
                <a16:creationId xmlns:a16="http://schemas.microsoft.com/office/drawing/2014/main" id="{9B4CD1AC-FF9F-2A44-A515-713613DB167D}"/>
              </a:ext>
            </a:extLst>
          </p:cNvPr>
          <p:cNvGraphicFramePr>
            <a:graphicFrameLocks noGrp="1"/>
          </p:cNvGraphicFramePr>
          <p:nvPr>
            <p:extLst>
              <p:ext uri="{D42A27DB-BD31-4B8C-83A1-F6EECF244321}">
                <p14:modId xmlns:p14="http://schemas.microsoft.com/office/powerpoint/2010/main" val="1626751998"/>
              </p:ext>
            </p:extLst>
          </p:nvPr>
        </p:nvGraphicFramePr>
        <p:xfrm>
          <a:off x="342900" y="1515616"/>
          <a:ext cx="8455914" cy="4748240"/>
        </p:xfrm>
        <a:graphic>
          <a:graphicData uri="http://schemas.openxmlformats.org/drawingml/2006/table">
            <a:tbl>
              <a:tblPr/>
              <a:tblGrid>
                <a:gridCol w="548640">
                  <a:extLst>
                    <a:ext uri="{9D8B030D-6E8A-4147-A177-3AD203B41FA5}">
                      <a16:colId xmlns:a16="http://schemas.microsoft.com/office/drawing/2014/main" val="20000"/>
                    </a:ext>
                  </a:extLst>
                </a:gridCol>
                <a:gridCol w="1577340">
                  <a:extLst>
                    <a:ext uri="{9D8B030D-6E8A-4147-A177-3AD203B41FA5}">
                      <a16:colId xmlns:a16="http://schemas.microsoft.com/office/drawing/2014/main" val="20001"/>
                    </a:ext>
                  </a:extLst>
                </a:gridCol>
                <a:gridCol w="6329934">
                  <a:extLst>
                    <a:ext uri="{9D8B030D-6E8A-4147-A177-3AD203B41FA5}">
                      <a16:colId xmlns:a16="http://schemas.microsoft.com/office/drawing/2014/main" val="20002"/>
                    </a:ext>
                  </a:extLst>
                </a:gridCol>
              </a:tblGrid>
              <a:tr h="397266">
                <a:tc>
                  <a:txBody>
                    <a:bodyPr/>
                    <a:lstStyle/>
                    <a:p>
                      <a:pPr marL="0" indent="0" algn="ctr">
                        <a:buNone/>
                      </a:pPr>
                      <a:r>
                        <a:rPr lang="en-US" sz="1250" b="1" dirty="0">
                          <a:solidFill>
                            <a:srgbClr val="1A1A1A"/>
                          </a:solidFill>
                          <a:latin typeface="Times New Roman" pitchFamily="34" charset="0"/>
                          <a:ea typeface="Times New Roman" pitchFamily="34" charset="-122"/>
                          <a:cs typeface="Times New Roman" pitchFamily="34" charset="-120"/>
                        </a:rPr>
                        <a:t>ID</a:t>
                      </a:r>
                      <a:endParaRPr lang="en-US" sz="1250" dirty="0">
                        <a:latin typeface="Times New Roman" charset="0"/>
                        <a:ea typeface="Times New Roman" charset="0"/>
                        <a:cs typeface="Times New Roman" charset="0"/>
                      </a:endParaRPr>
                    </a:p>
                  </a:txBody>
                  <a:tcPr marL="41148" marR="41148" marT="13716" marB="13716"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9E2F3"/>
                    </a:solidFill>
                  </a:tcPr>
                </a:tc>
                <a:tc>
                  <a:txBody>
                    <a:bodyPr/>
                    <a:lstStyle/>
                    <a:p>
                      <a:pPr marL="0" indent="0" algn="ctr">
                        <a:buNone/>
                      </a:pPr>
                      <a:r>
                        <a:rPr lang="en-US" sz="1250" b="1" dirty="0">
                          <a:solidFill>
                            <a:srgbClr val="1A1A1A"/>
                          </a:solidFill>
                          <a:latin typeface="Times New Roman" pitchFamily="34" charset="0"/>
                          <a:ea typeface="Times New Roman" pitchFamily="34" charset="-122"/>
                          <a:cs typeface="Times New Roman" pitchFamily="34" charset="-120"/>
                        </a:rPr>
                        <a:t>Requirement Category</a:t>
                      </a:r>
                      <a:endParaRPr lang="en-US" sz="1250" dirty="0">
                        <a:latin typeface="Times New Roman" charset="0"/>
                        <a:ea typeface="Times New Roman" charset="0"/>
                        <a:cs typeface="Times New Roman" charset="0"/>
                      </a:endParaRPr>
                    </a:p>
                  </a:txBody>
                  <a:tcPr marL="41148" marR="41148" marT="13716" marB="13716"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9E2F3"/>
                    </a:solidFill>
                  </a:tcPr>
                </a:tc>
                <a:tc>
                  <a:txBody>
                    <a:bodyPr/>
                    <a:lstStyle/>
                    <a:p>
                      <a:pPr marL="0" indent="0" algn="ctr">
                        <a:buNone/>
                      </a:pPr>
                      <a:r>
                        <a:rPr lang="en-US" sz="1250" b="1" dirty="0">
                          <a:solidFill>
                            <a:srgbClr val="1A1A1A"/>
                          </a:solidFill>
                          <a:latin typeface="Times New Roman" pitchFamily="34" charset="0"/>
                          <a:ea typeface="Times New Roman" pitchFamily="34" charset="-122"/>
                          <a:cs typeface="Times New Roman" pitchFamily="34" charset="-120"/>
                        </a:rPr>
                        <a:t>Requirement Description</a:t>
                      </a:r>
                      <a:endParaRPr lang="en-US" sz="1250" dirty="0">
                        <a:latin typeface="Times New Roman" charset="0"/>
                        <a:ea typeface="Times New Roman" charset="0"/>
                        <a:cs typeface="Times New Roman" charset="0"/>
                      </a:endParaRPr>
                    </a:p>
                  </a:txBody>
                  <a:tcPr marL="41148" marR="41148" marT="13716" marB="13716"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9E2F3"/>
                    </a:solidFill>
                  </a:tcPr>
                </a:tc>
                <a:extLst>
                  <a:ext uri="{0D108BD9-81ED-4DB2-BD59-A6C34878D82A}">
                    <a16:rowId xmlns:a16="http://schemas.microsoft.com/office/drawing/2014/main" val="10000"/>
                  </a:ext>
                </a:extLst>
              </a:tr>
              <a:tr h="92899">
                <a:tc gridSpan="3">
                  <a:txBody>
                    <a:bodyPr/>
                    <a:lstStyle/>
                    <a:p>
                      <a:pPr marL="0" indent="0" algn="l">
                        <a:buNone/>
                      </a:pPr>
                      <a:endParaRPr lang="en-US" sz="1250" dirty="0">
                        <a:latin typeface="Times New Roman" charset="0"/>
                        <a:ea typeface="Times New Roman" charset="0"/>
                        <a:cs typeface="Times New Roman" charset="0"/>
                      </a:endParaRPr>
                    </a:p>
                  </a:txBody>
                  <a:tcPr marL="54864" marR="54864" marT="13716" marB="13716"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DD7EE"/>
                    </a:solidFill>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1"/>
                  </a:ext>
                </a:extLst>
              </a:tr>
              <a:tr h="397266">
                <a:tc>
                  <a:txBody>
                    <a:bodyPr/>
                    <a:lstStyle/>
                    <a:p>
                      <a:pPr marL="0" indent="0" algn="ctr">
                        <a:buNone/>
                      </a:pPr>
                      <a:r>
                        <a:rPr lang="en-US" sz="1250" b="1" dirty="0">
                          <a:solidFill>
                            <a:srgbClr val="000000"/>
                          </a:solidFill>
                          <a:latin typeface="Times New Roman" pitchFamily="34" charset="0"/>
                          <a:ea typeface="Times New Roman" pitchFamily="34" charset="-122"/>
                          <a:cs typeface="Times New Roman" pitchFamily="34" charset="-120"/>
                        </a:rPr>
                        <a:t>NFR1</a:t>
                      </a:r>
                      <a:endParaRPr lang="en-US" sz="1250" dirty="0">
                        <a:latin typeface="Times New Roman" charset="0"/>
                        <a:ea typeface="Times New Roman" charset="0"/>
                        <a:cs typeface="Times New Roman" charset="0"/>
                      </a:endParaRPr>
                    </a:p>
                  </a:txBody>
                  <a:tcPr marL="54864" marR="54864" marT="13716" marB="13716"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indent="0" algn="l">
                        <a:buNone/>
                      </a:pPr>
                      <a:r>
                        <a:rPr lang="en-US" sz="1250" b="1" dirty="0">
                          <a:solidFill>
                            <a:srgbClr val="000000"/>
                          </a:solidFill>
                          <a:latin typeface="Times New Roman" pitchFamily="34" charset="0"/>
                          <a:ea typeface="Times New Roman" pitchFamily="34" charset="-122"/>
                          <a:cs typeface="Times New Roman" pitchFamily="34" charset="-120"/>
                        </a:rPr>
                        <a:t>Performance</a:t>
                      </a:r>
                      <a:endParaRPr lang="en-US" sz="1250" dirty="0">
                        <a:latin typeface="Times New Roman" charset="0"/>
                        <a:ea typeface="Times New Roman" charset="0"/>
                        <a:cs typeface="Times New Roman" charset="0"/>
                      </a:endParaRPr>
                    </a:p>
                  </a:txBody>
                  <a:tcPr marL="54864" marR="54864" marT="13716" marB="13716"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indent="0" algn="l">
                        <a:buNone/>
                      </a:pPr>
                      <a:r>
                        <a:rPr lang="en-US" sz="1250" dirty="0">
                          <a:solidFill>
                            <a:srgbClr val="000000"/>
                          </a:solidFill>
                          <a:latin typeface="Times New Roman" pitchFamily="34" charset="0"/>
                          <a:ea typeface="Times New Roman" pitchFamily="34" charset="-122"/>
                          <a:cs typeface="Times New Roman" pitchFamily="34" charset="-120"/>
                        </a:rPr>
                        <a:t>Preprocessing, inference, reliability assessment and result generation should complete in reasonable time.</a:t>
                      </a:r>
                      <a:endParaRPr lang="en-US" sz="1250" dirty="0">
                        <a:latin typeface="Times New Roman" charset="0"/>
                        <a:ea typeface="Times New Roman" charset="0"/>
                        <a:cs typeface="Times New Roman" charset="0"/>
                      </a:endParaRPr>
                    </a:p>
                  </a:txBody>
                  <a:tcPr marL="54864" marR="54864" marT="13716" marB="13716"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2"/>
                  </a:ext>
                </a:extLst>
              </a:tr>
              <a:tr h="397266">
                <a:tc>
                  <a:txBody>
                    <a:bodyPr/>
                    <a:lstStyle/>
                    <a:p>
                      <a:pPr marL="0" indent="0" algn="ctr">
                        <a:buNone/>
                      </a:pPr>
                      <a:r>
                        <a:rPr lang="en-US" sz="1250" b="1" dirty="0">
                          <a:solidFill>
                            <a:srgbClr val="000000"/>
                          </a:solidFill>
                          <a:latin typeface="Times New Roman" pitchFamily="34" charset="0"/>
                          <a:ea typeface="Times New Roman" pitchFamily="34" charset="-122"/>
                          <a:cs typeface="Times New Roman" pitchFamily="34" charset="-120"/>
                        </a:rPr>
                        <a:t>NFR2</a:t>
                      </a:r>
                      <a:endParaRPr lang="en-US" sz="1250" dirty="0">
                        <a:latin typeface="Times New Roman" charset="0"/>
                        <a:ea typeface="Times New Roman" charset="0"/>
                        <a:cs typeface="Times New Roman" charset="0"/>
                      </a:endParaRPr>
                    </a:p>
                  </a:txBody>
                  <a:tcPr marL="54864" marR="54864" marT="13716" marB="13716"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indent="0" algn="l">
                        <a:buNone/>
                      </a:pPr>
                      <a:r>
                        <a:rPr lang="en-US" sz="1250" b="1" dirty="0">
                          <a:solidFill>
                            <a:srgbClr val="000000"/>
                          </a:solidFill>
                          <a:latin typeface="Times New Roman" pitchFamily="34" charset="0"/>
                          <a:ea typeface="Times New Roman" pitchFamily="34" charset="-122"/>
                          <a:cs typeface="Times New Roman" pitchFamily="34" charset="-120"/>
                        </a:rPr>
                        <a:t>Reliability</a:t>
                      </a:r>
                      <a:endParaRPr lang="en-US" sz="1250" dirty="0">
                        <a:latin typeface="Times New Roman" charset="0"/>
                        <a:ea typeface="Times New Roman" charset="0"/>
                        <a:cs typeface="Times New Roman" charset="0"/>
                      </a:endParaRPr>
                    </a:p>
                  </a:txBody>
                  <a:tcPr marL="54864" marR="54864" marT="13716" marB="13716"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indent="0" algn="l">
                        <a:buNone/>
                      </a:pPr>
                      <a:r>
                        <a:rPr lang="en-US" sz="1250" dirty="0">
                          <a:solidFill>
                            <a:srgbClr val="000000"/>
                          </a:solidFill>
                          <a:latin typeface="Times New Roman" pitchFamily="34" charset="0"/>
                          <a:ea typeface="Times New Roman" pitchFamily="34" charset="-122"/>
                          <a:cs typeface="Times New Roman" pitchFamily="34" charset="-120"/>
                        </a:rPr>
                        <a:t>The system should handle invalid inputs and processing failures without an unsupported definitive result.</a:t>
                      </a:r>
                      <a:endParaRPr lang="en-US" sz="1250" dirty="0">
                        <a:latin typeface="Times New Roman" charset="0"/>
                        <a:ea typeface="Times New Roman" charset="0"/>
                        <a:cs typeface="Times New Roman" charset="0"/>
                      </a:endParaRPr>
                    </a:p>
                  </a:txBody>
                  <a:tcPr marL="54864" marR="54864" marT="13716" marB="13716"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3"/>
                  </a:ext>
                </a:extLst>
              </a:tr>
              <a:tr h="397266">
                <a:tc>
                  <a:txBody>
                    <a:bodyPr/>
                    <a:lstStyle/>
                    <a:p>
                      <a:pPr marL="0" indent="0" algn="ctr">
                        <a:buNone/>
                      </a:pPr>
                      <a:r>
                        <a:rPr lang="en-US" sz="1250" b="1" dirty="0">
                          <a:solidFill>
                            <a:srgbClr val="000000"/>
                          </a:solidFill>
                          <a:latin typeface="Times New Roman" pitchFamily="34" charset="0"/>
                          <a:ea typeface="Times New Roman" pitchFamily="34" charset="-122"/>
                          <a:cs typeface="Times New Roman" pitchFamily="34" charset="-120"/>
                        </a:rPr>
                        <a:t>NFR3</a:t>
                      </a:r>
                      <a:endParaRPr lang="en-US" sz="1250" dirty="0">
                        <a:latin typeface="Times New Roman" charset="0"/>
                        <a:ea typeface="Times New Roman" charset="0"/>
                        <a:cs typeface="Times New Roman" charset="0"/>
                      </a:endParaRPr>
                    </a:p>
                  </a:txBody>
                  <a:tcPr marL="54864" marR="54864" marT="13716" marB="13716"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indent="0" algn="l">
                        <a:buNone/>
                      </a:pPr>
                      <a:r>
                        <a:rPr lang="en-US" sz="1250" b="1" dirty="0">
                          <a:solidFill>
                            <a:srgbClr val="000000"/>
                          </a:solidFill>
                          <a:latin typeface="Times New Roman" pitchFamily="34" charset="0"/>
                          <a:ea typeface="Times New Roman" pitchFamily="34" charset="-122"/>
                          <a:cs typeface="Times New Roman" pitchFamily="34" charset="-120"/>
                        </a:rPr>
                        <a:t>Prediction Transparency</a:t>
                      </a:r>
                      <a:endParaRPr lang="en-US" sz="1250" dirty="0">
                        <a:latin typeface="Times New Roman" charset="0"/>
                        <a:ea typeface="Times New Roman" charset="0"/>
                        <a:cs typeface="Times New Roman" charset="0"/>
                      </a:endParaRPr>
                    </a:p>
                  </a:txBody>
                  <a:tcPr marL="54864" marR="54864" marT="13716" marB="13716"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indent="0" algn="l">
                        <a:buNone/>
                      </a:pPr>
                      <a:r>
                        <a:rPr lang="en-US" sz="1250" dirty="0">
                          <a:solidFill>
                            <a:srgbClr val="000000"/>
                          </a:solidFill>
                          <a:latin typeface="Times New Roman" pitchFamily="34" charset="0"/>
                          <a:ea typeface="Times New Roman" pitchFamily="34" charset="-122"/>
                          <a:cs typeface="Times New Roman" pitchFamily="34" charset="-120"/>
                        </a:rPr>
                        <a:t>The system should distinguish accepted predictions from abstentions and show uncertainty information.</a:t>
                      </a:r>
                      <a:endParaRPr lang="en-US" sz="1250" dirty="0">
                        <a:latin typeface="Times New Roman" charset="0"/>
                        <a:ea typeface="Times New Roman" charset="0"/>
                        <a:cs typeface="Times New Roman" charset="0"/>
                      </a:endParaRPr>
                    </a:p>
                  </a:txBody>
                  <a:tcPr marL="54864" marR="54864" marT="13716" marB="13716"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4"/>
                  </a:ext>
                </a:extLst>
              </a:tr>
              <a:tr h="457154">
                <a:tc>
                  <a:txBody>
                    <a:bodyPr/>
                    <a:lstStyle/>
                    <a:p>
                      <a:pPr marL="0" indent="0" algn="ctr">
                        <a:buNone/>
                      </a:pPr>
                      <a:r>
                        <a:rPr lang="en-US" sz="1250" b="1" dirty="0">
                          <a:solidFill>
                            <a:srgbClr val="000000"/>
                          </a:solidFill>
                          <a:latin typeface="Times New Roman" pitchFamily="34" charset="0"/>
                          <a:ea typeface="Times New Roman" pitchFamily="34" charset="-122"/>
                          <a:cs typeface="Times New Roman" pitchFamily="34" charset="-120"/>
                        </a:rPr>
                        <a:t>NFR4</a:t>
                      </a:r>
                      <a:endParaRPr lang="en-US" sz="1250" dirty="0">
                        <a:latin typeface="Times New Roman" charset="0"/>
                        <a:ea typeface="Times New Roman" charset="0"/>
                        <a:cs typeface="Times New Roman" charset="0"/>
                      </a:endParaRPr>
                    </a:p>
                  </a:txBody>
                  <a:tcPr marL="54864" marR="54864" marT="13716" marB="13716"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indent="0" algn="l">
                        <a:buNone/>
                      </a:pPr>
                      <a:r>
                        <a:rPr lang="en-US" sz="1250" b="1" dirty="0">
                          <a:solidFill>
                            <a:srgbClr val="000000"/>
                          </a:solidFill>
                          <a:latin typeface="Times New Roman" pitchFamily="34" charset="0"/>
                          <a:ea typeface="Times New Roman" pitchFamily="34" charset="-122"/>
                          <a:cs typeface="Times New Roman" pitchFamily="34" charset="-120"/>
                        </a:rPr>
                        <a:t>Maintainability</a:t>
                      </a:r>
                      <a:endParaRPr lang="en-US" sz="1250" dirty="0">
                        <a:latin typeface="Times New Roman" charset="0"/>
                        <a:ea typeface="Times New Roman" charset="0"/>
                        <a:cs typeface="Times New Roman" charset="0"/>
                      </a:endParaRPr>
                    </a:p>
                  </a:txBody>
                  <a:tcPr marL="54864" marR="54864" marT="13716" marB="13716"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indent="0" algn="l">
                        <a:buNone/>
                      </a:pPr>
                      <a:r>
                        <a:rPr lang="en-US" sz="1250" dirty="0">
                          <a:solidFill>
                            <a:srgbClr val="000000"/>
                          </a:solidFill>
                          <a:latin typeface="Times New Roman" pitchFamily="34" charset="0"/>
                          <a:ea typeface="Times New Roman" pitchFamily="34" charset="-122"/>
                          <a:cs typeface="Times New Roman" pitchFamily="34" charset="-120"/>
                        </a:rPr>
                        <a:t>Models, thresholds and evidence-retrieval components should be updatable without restructuring the application.</a:t>
                      </a:r>
                      <a:endParaRPr lang="en-US" sz="1250" dirty="0">
                        <a:latin typeface="Times New Roman" charset="0"/>
                        <a:ea typeface="Times New Roman" charset="0"/>
                        <a:cs typeface="Times New Roman" charset="0"/>
                      </a:endParaRPr>
                    </a:p>
                  </a:txBody>
                  <a:tcPr marL="54864" marR="54864" marT="13716" marB="13716"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5"/>
                  </a:ext>
                </a:extLst>
              </a:tr>
              <a:tr h="397266">
                <a:tc>
                  <a:txBody>
                    <a:bodyPr/>
                    <a:lstStyle/>
                    <a:p>
                      <a:pPr marL="0" indent="0" algn="ctr">
                        <a:buNone/>
                      </a:pPr>
                      <a:r>
                        <a:rPr lang="en-US" sz="1250" b="1" dirty="0">
                          <a:solidFill>
                            <a:srgbClr val="000000"/>
                          </a:solidFill>
                          <a:latin typeface="Times New Roman" pitchFamily="34" charset="0"/>
                          <a:ea typeface="Times New Roman" pitchFamily="34" charset="-122"/>
                          <a:cs typeface="Times New Roman" pitchFamily="34" charset="-120"/>
                        </a:rPr>
                        <a:t>NFR5</a:t>
                      </a:r>
                      <a:endParaRPr lang="en-US" sz="1250" dirty="0">
                        <a:latin typeface="Times New Roman" charset="0"/>
                        <a:ea typeface="Times New Roman" charset="0"/>
                        <a:cs typeface="Times New Roman" charset="0"/>
                      </a:endParaRPr>
                    </a:p>
                  </a:txBody>
                  <a:tcPr marL="54864" marR="54864" marT="13716" marB="13716"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indent="0" algn="l">
                        <a:buNone/>
                      </a:pPr>
                      <a:r>
                        <a:rPr lang="en-US" sz="1250" b="1" dirty="0">
                          <a:solidFill>
                            <a:srgbClr val="000000"/>
                          </a:solidFill>
                          <a:latin typeface="Times New Roman" pitchFamily="34" charset="0"/>
                          <a:ea typeface="Times New Roman" pitchFamily="34" charset="-122"/>
                          <a:cs typeface="Times New Roman" pitchFamily="34" charset="-120"/>
                        </a:rPr>
                        <a:t>Usability</a:t>
                      </a:r>
                      <a:endParaRPr lang="en-US" sz="1250" dirty="0">
                        <a:latin typeface="Times New Roman" charset="0"/>
                        <a:ea typeface="Times New Roman" charset="0"/>
                        <a:cs typeface="Times New Roman" charset="0"/>
                      </a:endParaRPr>
                    </a:p>
                  </a:txBody>
                  <a:tcPr marL="54864" marR="54864" marT="13716" marB="13716"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indent="0" algn="l">
                        <a:buNone/>
                      </a:pPr>
                      <a:r>
                        <a:rPr lang="en-US" sz="1250" dirty="0">
                          <a:solidFill>
                            <a:srgbClr val="000000"/>
                          </a:solidFill>
                          <a:latin typeface="Times New Roman" pitchFamily="34" charset="0"/>
                          <a:ea typeface="Times New Roman" pitchFamily="34" charset="-122"/>
                          <a:cs typeface="Times New Roman" pitchFamily="34" charset="-120"/>
                        </a:rPr>
                        <a:t>The interface should let a user submit a leaf image and understand the prediction, evidence or abstention.</a:t>
                      </a:r>
                      <a:endParaRPr lang="en-US" sz="1250" dirty="0">
                        <a:latin typeface="Times New Roman" charset="0"/>
                        <a:ea typeface="Times New Roman" charset="0"/>
                        <a:cs typeface="Times New Roman" charset="0"/>
                      </a:endParaRPr>
                    </a:p>
                  </a:txBody>
                  <a:tcPr marL="54864" marR="54864" marT="13716" marB="13716"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6"/>
                  </a:ext>
                </a:extLst>
              </a:tr>
              <a:tr h="397266">
                <a:tc>
                  <a:txBody>
                    <a:bodyPr/>
                    <a:lstStyle/>
                    <a:p>
                      <a:pPr marL="0" indent="0" algn="ctr">
                        <a:buNone/>
                      </a:pPr>
                      <a:r>
                        <a:rPr lang="en-US" sz="1250" b="1" dirty="0">
                          <a:solidFill>
                            <a:srgbClr val="000000"/>
                          </a:solidFill>
                          <a:latin typeface="Times New Roman" pitchFamily="34" charset="0"/>
                          <a:ea typeface="Times New Roman" pitchFamily="34" charset="-122"/>
                          <a:cs typeface="Times New Roman" pitchFamily="34" charset="-120"/>
                        </a:rPr>
                        <a:t>NFR6</a:t>
                      </a:r>
                      <a:endParaRPr lang="en-US" sz="1250" dirty="0">
                        <a:latin typeface="Times New Roman" charset="0"/>
                        <a:ea typeface="Times New Roman" charset="0"/>
                        <a:cs typeface="Times New Roman" charset="0"/>
                      </a:endParaRPr>
                    </a:p>
                  </a:txBody>
                  <a:tcPr marL="54864" marR="54864" marT="13716" marB="13716"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indent="0" algn="l">
                        <a:buNone/>
                      </a:pPr>
                      <a:r>
                        <a:rPr lang="en-US" sz="1250" b="1" dirty="0">
                          <a:solidFill>
                            <a:srgbClr val="000000"/>
                          </a:solidFill>
                          <a:latin typeface="Times New Roman" pitchFamily="34" charset="0"/>
                          <a:ea typeface="Times New Roman" pitchFamily="34" charset="-122"/>
                          <a:cs typeface="Times New Roman" pitchFamily="34" charset="-120"/>
                        </a:rPr>
                        <a:t>Compatibility</a:t>
                      </a:r>
                      <a:endParaRPr lang="en-US" sz="1250" dirty="0">
                        <a:latin typeface="Times New Roman" charset="0"/>
                        <a:ea typeface="Times New Roman" charset="0"/>
                        <a:cs typeface="Times New Roman" charset="0"/>
                      </a:endParaRPr>
                    </a:p>
                  </a:txBody>
                  <a:tcPr marL="54864" marR="54864" marT="13716" marB="13716"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indent="0" algn="l">
                        <a:buNone/>
                      </a:pPr>
                      <a:r>
                        <a:rPr lang="en-US" sz="1250" dirty="0">
                          <a:solidFill>
                            <a:srgbClr val="000000"/>
                          </a:solidFill>
                          <a:latin typeface="Times New Roman" pitchFamily="34" charset="0"/>
                          <a:ea typeface="Times New Roman" pitchFamily="34" charset="-122"/>
                          <a:cs typeface="Times New Roman" pitchFamily="34" charset="-120"/>
                        </a:rPr>
                        <a:t>The system should support the image formats, input dimensions and environment set by the implementation.</a:t>
                      </a:r>
                      <a:endParaRPr lang="en-US" sz="1250" dirty="0">
                        <a:latin typeface="Times New Roman" charset="0"/>
                        <a:ea typeface="Times New Roman" charset="0"/>
                        <a:cs typeface="Times New Roman" charset="0"/>
                      </a:endParaRPr>
                    </a:p>
                  </a:txBody>
                  <a:tcPr marL="54864" marR="54864" marT="13716" marB="13716"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7"/>
                  </a:ext>
                </a:extLst>
              </a:tr>
              <a:tr h="397266">
                <a:tc>
                  <a:txBody>
                    <a:bodyPr/>
                    <a:lstStyle/>
                    <a:p>
                      <a:pPr marL="0" indent="0" algn="ctr">
                        <a:buNone/>
                      </a:pPr>
                      <a:r>
                        <a:rPr lang="en-US" sz="1250" b="1" dirty="0">
                          <a:solidFill>
                            <a:srgbClr val="000000"/>
                          </a:solidFill>
                          <a:latin typeface="Times New Roman" pitchFamily="34" charset="0"/>
                          <a:ea typeface="Times New Roman" pitchFamily="34" charset="-122"/>
                          <a:cs typeface="Times New Roman" pitchFamily="34" charset="-120"/>
                        </a:rPr>
                        <a:t>NFR7</a:t>
                      </a:r>
                      <a:endParaRPr lang="en-US" sz="1250" dirty="0">
                        <a:latin typeface="Times New Roman" charset="0"/>
                        <a:ea typeface="Times New Roman" charset="0"/>
                        <a:cs typeface="Times New Roman" charset="0"/>
                      </a:endParaRPr>
                    </a:p>
                  </a:txBody>
                  <a:tcPr marL="54864" marR="54864" marT="13716" marB="13716"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indent="0" algn="l">
                        <a:buNone/>
                      </a:pPr>
                      <a:r>
                        <a:rPr lang="en-US" sz="1250" b="1" dirty="0">
                          <a:solidFill>
                            <a:srgbClr val="000000"/>
                          </a:solidFill>
                          <a:latin typeface="Times New Roman" pitchFamily="34" charset="0"/>
                          <a:ea typeface="Times New Roman" pitchFamily="34" charset="-122"/>
                          <a:cs typeface="Times New Roman" pitchFamily="34" charset="-120"/>
                        </a:rPr>
                        <a:t>Reproducibility</a:t>
                      </a:r>
                      <a:endParaRPr lang="en-US" sz="1250" dirty="0">
                        <a:latin typeface="Times New Roman" charset="0"/>
                        <a:ea typeface="Times New Roman" charset="0"/>
                        <a:cs typeface="Times New Roman" charset="0"/>
                      </a:endParaRPr>
                    </a:p>
                  </a:txBody>
                  <a:tcPr marL="54864" marR="54864" marT="13716" marB="13716"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indent="0" algn="l">
                        <a:buNone/>
                      </a:pPr>
                      <a:r>
                        <a:rPr lang="en-US" sz="1250" dirty="0">
                          <a:solidFill>
                            <a:srgbClr val="000000"/>
                          </a:solidFill>
                          <a:latin typeface="Times New Roman" pitchFamily="34" charset="0"/>
                          <a:ea typeface="Times New Roman" pitchFamily="34" charset="-122"/>
                          <a:cs typeface="Times New Roman" pitchFamily="34" charset="-120"/>
                        </a:rPr>
                        <a:t>Evaluation should use documented dataset splits, preprocessing settings, model configurations and procedures.</a:t>
                      </a:r>
                      <a:endParaRPr lang="en-US" sz="1250" dirty="0">
                        <a:latin typeface="Times New Roman" charset="0"/>
                        <a:ea typeface="Times New Roman" charset="0"/>
                        <a:cs typeface="Times New Roman" charset="0"/>
                      </a:endParaRPr>
                    </a:p>
                  </a:txBody>
                  <a:tcPr marL="54864" marR="54864" marT="13716" marB="13716"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8"/>
                  </a:ext>
                </a:extLst>
              </a:tr>
              <a:tr h="397266">
                <a:tc>
                  <a:txBody>
                    <a:bodyPr/>
                    <a:lstStyle/>
                    <a:p>
                      <a:pPr marL="0" indent="0" algn="ctr">
                        <a:buNone/>
                      </a:pPr>
                      <a:r>
                        <a:rPr lang="en-US" sz="1250" b="1" dirty="0">
                          <a:solidFill>
                            <a:srgbClr val="000000"/>
                          </a:solidFill>
                          <a:latin typeface="Times New Roman" pitchFamily="34" charset="0"/>
                          <a:ea typeface="Times New Roman" pitchFamily="34" charset="-122"/>
                          <a:cs typeface="Times New Roman" pitchFamily="34" charset="-120"/>
                        </a:rPr>
                        <a:t>NFR8</a:t>
                      </a:r>
                      <a:endParaRPr lang="en-US" sz="1250" dirty="0">
                        <a:latin typeface="Times New Roman" charset="0"/>
                        <a:ea typeface="Times New Roman" charset="0"/>
                        <a:cs typeface="Times New Roman" charset="0"/>
                      </a:endParaRPr>
                    </a:p>
                  </a:txBody>
                  <a:tcPr marL="54864" marR="54864" marT="13716" marB="13716"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indent="0" algn="l">
                        <a:buNone/>
                      </a:pPr>
                      <a:r>
                        <a:rPr lang="en-US" sz="1250" b="1" dirty="0">
                          <a:solidFill>
                            <a:srgbClr val="000000"/>
                          </a:solidFill>
                          <a:latin typeface="Times New Roman" pitchFamily="34" charset="0"/>
                          <a:ea typeface="Times New Roman" pitchFamily="34" charset="-122"/>
                          <a:cs typeface="Times New Roman" pitchFamily="34" charset="-120"/>
                        </a:rPr>
                        <a:t>Resource Efficiency</a:t>
                      </a:r>
                      <a:endParaRPr lang="en-US" sz="1250" dirty="0">
                        <a:latin typeface="Times New Roman" charset="0"/>
                        <a:ea typeface="Times New Roman" charset="0"/>
                        <a:cs typeface="Times New Roman" charset="0"/>
                      </a:endParaRPr>
                    </a:p>
                  </a:txBody>
                  <a:tcPr marL="54864" marR="54864" marT="13716" marB="13716"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indent="0" algn="l">
                        <a:buNone/>
                      </a:pPr>
                      <a:r>
                        <a:rPr lang="en-US" sz="1250" dirty="0">
                          <a:solidFill>
                            <a:srgbClr val="000000"/>
                          </a:solidFill>
                          <a:latin typeface="Times New Roman" pitchFamily="34" charset="0"/>
                          <a:ea typeface="Times New Roman" pitchFamily="34" charset="-122"/>
                          <a:cs typeface="Times New Roman" pitchFamily="34" charset="-120"/>
                        </a:rPr>
                        <a:t>Model training and inference should remain compatible with the available computing resources.</a:t>
                      </a:r>
                      <a:endParaRPr lang="en-US" sz="1250" dirty="0">
                        <a:latin typeface="Times New Roman" charset="0"/>
                        <a:ea typeface="Times New Roman" charset="0"/>
                        <a:cs typeface="Times New Roman" charset="0"/>
                      </a:endParaRPr>
                    </a:p>
                  </a:txBody>
                  <a:tcPr marL="54864" marR="54864" marT="13716" marB="13716"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9"/>
                  </a:ext>
                </a:extLst>
              </a:tr>
              <a:tr h="397266">
                <a:tc>
                  <a:txBody>
                    <a:bodyPr/>
                    <a:lstStyle/>
                    <a:p>
                      <a:pPr marL="0" indent="0" algn="ctr">
                        <a:buNone/>
                      </a:pPr>
                      <a:r>
                        <a:rPr lang="en-US" sz="1250" b="1" dirty="0">
                          <a:solidFill>
                            <a:srgbClr val="000000"/>
                          </a:solidFill>
                          <a:latin typeface="Times New Roman" pitchFamily="34" charset="0"/>
                          <a:ea typeface="Times New Roman" pitchFamily="34" charset="-122"/>
                          <a:cs typeface="Times New Roman" pitchFamily="34" charset="-120"/>
                        </a:rPr>
                        <a:t>NFR9</a:t>
                      </a:r>
                      <a:endParaRPr lang="en-US" sz="1250" dirty="0">
                        <a:latin typeface="Times New Roman" charset="0"/>
                        <a:ea typeface="Times New Roman" charset="0"/>
                        <a:cs typeface="Times New Roman" charset="0"/>
                      </a:endParaRPr>
                    </a:p>
                  </a:txBody>
                  <a:tcPr marL="54864" marR="54864" marT="13716" marB="13716"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indent="0" algn="l">
                        <a:buNone/>
                      </a:pPr>
                      <a:r>
                        <a:rPr lang="en-US" sz="1250" b="1" dirty="0">
                          <a:solidFill>
                            <a:srgbClr val="000000"/>
                          </a:solidFill>
                          <a:latin typeface="Times New Roman" pitchFamily="34" charset="0"/>
                          <a:ea typeface="Times New Roman" pitchFamily="34" charset="-122"/>
                          <a:cs typeface="Times New Roman" pitchFamily="34" charset="-120"/>
                        </a:rPr>
                        <a:t>Data Integrity</a:t>
                      </a:r>
                      <a:endParaRPr lang="en-US" sz="1250" dirty="0">
                        <a:latin typeface="Times New Roman" charset="0"/>
                        <a:ea typeface="Times New Roman" charset="0"/>
                        <a:cs typeface="Times New Roman" charset="0"/>
                      </a:endParaRPr>
                    </a:p>
                  </a:txBody>
                  <a:tcPr marL="54864" marR="54864" marT="13716" marB="13716"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indent="0" algn="l">
                        <a:buNone/>
                      </a:pPr>
                      <a:r>
                        <a:rPr lang="en-US" sz="1250" dirty="0">
                          <a:solidFill>
                            <a:srgbClr val="000000"/>
                          </a:solidFill>
                          <a:latin typeface="Times New Roman" pitchFamily="34" charset="0"/>
                          <a:ea typeface="Times New Roman" pitchFamily="34" charset="-122"/>
                          <a:cs typeface="Times New Roman" pitchFamily="34" charset="-120"/>
                        </a:rPr>
                        <a:t>The system should preserve correct image–label associations during data preparation and evaluation.</a:t>
                      </a:r>
                      <a:endParaRPr lang="en-US" sz="1250" dirty="0">
                        <a:latin typeface="Times New Roman" charset="0"/>
                        <a:ea typeface="Times New Roman" charset="0"/>
                        <a:cs typeface="Times New Roman" charset="0"/>
                      </a:endParaRPr>
                    </a:p>
                  </a:txBody>
                  <a:tcPr marL="54864" marR="54864" marT="13716" marB="13716"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10"/>
                  </a:ext>
                </a:extLst>
              </a:tr>
              <a:tr h="397266">
                <a:tc>
                  <a:txBody>
                    <a:bodyPr/>
                    <a:lstStyle/>
                    <a:p>
                      <a:pPr marL="0" indent="0" algn="ctr">
                        <a:buNone/>
                      </a:pPr>
                      <a:r>
                        <a:rPr lang="en-US" sz="1250" b="1" dirty="0">
                          <a:solidFill>
                            <a:srgbClr val="000000"/>
                          </a:solidFill>
                          <a:latin typeface="Times New Roman" pitchFamily="34" charset="0"/>
                          <a:ea typeface="Times New Roman" pitchFamily="34" charset="-122"/>
                          <a:cs typeface="Times New Roman" pitchFamily="34" charset="-120"/>
                        </a:rPr>
                        <a:t>NFR10</a:t>
                      </a:r>
                      <a:endParaRPr lang="en-US" sz="1250" dirty="0">
                        <a:latin typeface="Times New Roman" charset="0"/>
                        <a:ea typeface="Times New Roman" charset="0"/>
                        <a:cs typeface="Times New Roman" charset="0"/>
                      </a:endParaRPr>
                    </a:p>
                  </a:txBody>
                  <a:tcPr marL="54864" marR="54864" marT="13716" marB="13716"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indent="0" algn="l">
                        <a:buNone/>
                      </a:pPr>
                      <a:r>
                        <a:rPr lang="en-US" sz="1250" b="1" dirty="0">
                          <a:solidFill>
                            <a:srgbClr val="000000"/>
                          </a:solidFill>
                          <a:latin typeface="Times New Roman" pitchFamily="34" charset="0"/>
                          <a:ea typeface="Times New Roman" pitchFamily="34" charset="-122"/>
                          <a:cs typeface="Times New Roman" pitchFamily="34" charset="-120"/>
                        </a:rPr>
                        <a:t>Evidence Traceability</a:t>
                      </a:r>
                      <a:endParaRPr lang="en-US" sz="1250" dirty="0">
                        <a:latin typeface="Times New Roman" charset="0"/>
                        <a:ea typeface="Times New Roman" charset="0"/>
                        <a:cs typeface="Times New Roman" charset="0"/>
                      </a:endParaRPr>
                    </a:p>
                  </a:txBody>
                  <a:tcPr marL="54864" marR="54864" marT="13716" marB="13716"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indent="0" algn="l">
                        <a:buNone/>
                      </a:pPr>
                      <a:r>
                        <a:rPr lang="en-US" sz="1250" dirty="0">
                          <a:solidFill>
                            <a:srgbClr val="000000"/>
                          </a:solidFill>
                          <a:latin typeface="Times New Roman" pitchFamily="34" charset="0"/>
                          <a:ea typeface="Times New Roman" pitchFamily="34" charset="-122"/>
                          <a:cs typeface="Times New Roman" pitchFamily="34" charset="-120"/>
                        </a:rPr>
                        <a:t>Retrieved evidence should include source details where the retrieval mechanism supports them.</a:t>
                      </a:r>
                      <a:endParaRPr lang="en-US" sz="1250" dirty="0">
                        <a:latin typeface="Times New Roman" charset="0"/>
                        <a:ea typeface="Times New Roman" charset="0"/>
                        <a:cs typeface="Times New Roman" charset="0"/>
                      </a:endParaRPr>
                    </a:p>
                  </a:txBody>
                  <a:tcPr marL="54864" marR="54864" marT="13716" marB="13716"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11"/>
                  </a:ext>
                </a:extLst>
              </a:tr>
            </a:tbl>
          </a:graphicData>
        </a:graphic>
      </p:graphicFrame>
    </p:spTree>
    <p:extLst>
      <p:ext uri="{BB962C8B-B14F-4D97-AF65-F5344CB8AC3E}">
        <p14:creationId xmlns:p14="http://schemas.microsoft.com/office/powerpoint/2010/main" val="1884141082"/>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txBox="1"/>
          <p:nvPr/>
        </p:nvSpPr>
        <p:spPr>
          <a:xfrm>
            <a:off x="344043" y="315984"/>
            <a:ext cx="8455914" cy="445770"/>
          </a:xfrm>
          <a:prstGeom prst="rect">
            <a:avLst/>
          </a:prstGeom>
          <a:noFill/>
          <a:ln/>
        </p:spPr>
        <p:txBody>
          <a:bodyPr wrap="square" lIns="0" tIns="0" rIns="0" bIns="0" rtlCol="0" anchor="ctr"/>
          <a:lstStyle/>
          <a:p>
            <a:r>
              <a:rPr lang="en-US" sz="2400" b="1" dirty="0">
                <a:solidFill>
                  <a:srgbClr val="8B4513"/>
                </a:solidFill>
                <a:latin typeface="Times New Roman" pitchFamily="34" charset="0"/>
                <a:ea typeface="Times New Roman" pitchFamily="34" charset="-122"/>
                <a:cs typeface="Times New Roman" pitchFamily="34" charset="-120"/>
              </a:rPr>
              <a:t>15. Data Collection</a:t>
            </a:r>
            <a:endParaRPr lang="en-US" sz="2400" dirty="0"/>
          </a:p>
        </p:txBody>
      </p:sp>
      <p:sp>
        <p:nvSpPr>
          <p:cNvPr id="3" name="Text 1"/>
          <p:cNvSpPr txBox="1"/>
          <p:nvPr/>
        </p:nvSpPr>
        <p:spPr>
          <a:xfrm>
            <a:off x="344043" y="1002029"/>
            <a:ext cx="8298180" cy="5290615"/>
          </a:xfrm>
          <a:prstGeom prst="rect">
            <a:avLst/>
          </a:prstGeom>
          <a:noFill/>
          <a:ln/>
        </p:spPr>
        <p:txBody>
          <a:bodyPr wrap="square" lIns="0" tIns="0" rIns="0" bIns="0" rtlCol="0" anchor="t"/>
          <a:lstStyle/>
          <a:p>
            <a:pPr>
              <a:lnSpc>
                <a:spcPct val="105000"/>
              </a:lnSpc>
              <a:spcAft>
                <a:spcPts val="675"/>
              </a:spcAft>
            </a:pPr>
            <a:r>
              <a:rPr lang="en-US" b="1" dirty="0">
                <a:solidFill>
                  <a:srgbClr val="8B4513"/>
                </a:solidFill>
                <a:latin typeface="Times New Roman" pitchFamily="34" charset="0"/>
                <a:ea typeface="Times New Roman" pitchFamily="34" charset="-122"/>
                <a:cs typeface="Times New Roman" pitchFamily="34" charset="-120"/>
              </a:rPr>
              <a:t>Name of the Dataset: </a:t>
            </a:r>
            <a:r>
              <a:rPr lang="en-US" dirty="0">
                <a:solidFill>
                  <a:srgbClr val="000000"/>
                </a:solidFill>
                <a:latin typeface="Times New Roman" pitchFamily="34" charset="0"/>
                <a:ea typeface="Times New Roman" pitchFamily="34" charset="-122"/>
                <a:cs typeface="Times New Roman" pitchFamily="34" charset="-120"/>
              </a:rPr>
              <a:t>PlantVillage Dataset</a:t>
            </a:r>
            <a:endParaRPr lang="en-US" dirty="0"/>
          </a:p>
          <a:p>
            <a:pPr>
              <a:lnSpc>
                <a:spcPct val="105000"/>
              </a:lnSpc>
              <a:spcAft>
                <a:spcPts val="675"/>
              </a:spcAft>
            </a:pPr>
            <a:r>
              <a:rPr lang="en-US" b="1" dirty="0">
                <a:solidFill>
                  <a:srgbClr val="8B4513"/>
                </a:solidFill>
                <a:latin typeface="Times New Roman" pitchFamily="34" charset="0"/>
                <a:ea typeface="Times New Roman" pitchFamily="34" charset="-122"/>
                <a:cs typeface="Times New Roman" pitchFamily="34" charset="-120"/>
              </a:rPr>
              <a:t>Source: </a:t>
            </a:r>
            <a:r>
              <a:rPr lang="en-US" dirty="0">
                <a:solidFill>
                  <a:srgbClr val="000000"/>
                </a:solidFill>
                <a:latin typeface="Times New Roman" pitchFamily="34" charset="0"/>
                <a:ea typeface="Times New Roman" pitchFamily="34" charset="-122"/>
                <a:cs typeface="Times New Roman" pitchFamily="34" charset="-120"/>
              </a:rPr>
              <a:t>Kaggle — tushar5harma/plant-village-dataset-updated</a:t>
            </a:r>
            <a:endParaRPr lang="en-US" dirty="0"/>
          </a:p>
          <a:p>
            <a:pPr>
              <a:lnSpc>
                <a:spcPct val="105000"/>
              </a:lnSpc>
              <a:spcAft>
                <a:spcPts val="675"/>
              </a:spcAft>
            </a:pPr>
            <a:r>
              <a:rPr lang="en-US" b="1" dirty="0">
                <a:solidFill>
                  <a:srgbClr val="8B4513"/>
                </a:solidFill>
                <a:latin typeface="Times New Roman" pitchFamily="34" charset="0"/>
                <a:ea typeface="Times New Roman" pitchFamily="34" charset="-122"/>
                <a:cs typeface="Times New Roman" pitchFamily="34" charset="-120"/>
              </a:rPr>
              <a:t>Description: </a:t>
            </a:r>
            <a:r>
              <a:rPr lang="en-US" dirty="0">
                <a:solidFill>
                  <a:srgbClr val="000000"/>
                </a:solidFill>
                <a:latin typeface="Times New Roman" pitchFamily="34" charset="0"/>
                <a:ea typeface="Times New Roman" pitchFamily="34" charset="-122"/>
                <a:cs typeface="Times New Roman" pitchFamily="34" charset="-120"/>
              </a:rPr>
              <a:t>Labeled plant leaf images of </a:t>
            </a:r>
            <a:r>
              <a:rPr lang="en-US" b="1" dirty="0">
                <a:solidFill>
                  <a:srgbClr val="000000"/>
                </a:solidFill>
                <a:latin typeface="Times New Roman" pitchFamily="34" charset="0"/>
                <a:ea typeface="Times New Roman" pitchFamily="34" charset="-122"/>
                <a:cs typeface="Times New Roman" pitchFamily="34" charset="-120"/>
              </a:rPr>
              <a:t>healthy and diseased</a:t>
            </a:r>
            <a:r>
              <a:rPr lang="en-US" dirty="0">
                <a:solidFill>
                  <a:srgbClr val="000000"/>
                </a:solidFill>
                <a:latin typeface="Times New Roman" pitchFamily="34" charset="0"/>
                <a:ea typeface="Times New Roman" pitchFamily="34" charset="-122"/>
                <a:cs typeface="Times New Roman" pitchFamily="34" charset="-120"/>
              </a:rPr>
              <a:t> plant conditions, used in this project for </a:t>
            </a:r>
            <a:r>
              <a:rPr lang="en-US" b="1" dirty="0">
                <a:solidFill>
                  <a:srgbClr val="000000"/>
                </a:solidFill>
                <a:latin typeface="Times New Roman" pitchFamily="34" charset="0"/>
                <a:ea typeface="Times New Roman" pitchFamily="34" charset="-122"/>
                <a:cs typeface="Times New Roman" pitchFamily="34" charset="-120"/>
              </a:rPr>
              <a:t>plant disease classification</a:t>
            </a:r>
            <a:r>
              <a:rPr lang="en-US" dirty="0">
                <a:solidFill>
                  <a:srgbClr val="000000"/>
                </a:solidFill>
                <a:latin typeface="Times New Roman" pitchFamily="34" charset="0"/>
                <a:ea typeface="Times New Roman" pitchFamily="34" charset="-122"/>
                <a:cs typeface="Times New Roman" pitchFamily="34" charset="-120"/>
              </a:rPr>
              <a:t>. The current inspection found </a:t>
            </a:r>
            <a:r>
              <a:rPr lang="en-US" b="1" dirty="0">
                <a:solidFill>
                  <a:srgbClr val="000000"/>
                </a:solidFill>
                <a:latin typeface="Times New Roman" pitchFamily="34" charset="0"/>
                <a:ea typeface="Times New Roman" pitchFamily="34" charset="-122"/>
                <a:cs typeface="Times New Roman" pitchFamily="34" charset="-120"/>
              </a:rPr>
              <a:t>zero corrupted images</a:t>
            </a:r>
            <a:r>
              <a:rPr lang="en-US" dirty="0">
                <a:solidFill>
                  <a:srgbClr val="000000"/>
                </a:solidFill>
                <a:latin typeface="Times New Roman" pitchFamily="34" charset="0"/>
                <a:ea typeface="Times New Roman" pitchFamily="34" charset="-122"/>
                <a:cs typeface="Times New Roman" pitchFamily="34" charset="-120"/>
              </a:rPr>
              <a:t>, and all three splits contain all 29 classes.</a:t>
            </a:r>
            <a:endParaRPr lang="en-US" dirty="0"/>
          </a:p>
          <a:p>
            <a:pPr>
              <a:lnSpc>
                <a:spcPct val="105000"/>
              </a:lnSpc>
              <a:spcAft>
                <a:spcPts val="675"/>
              </a:spcAft>
            </a:pPr>
            <a:r>
              <a:rPr lang="en-US" b="1" dirty="0">
                <a:solidFill>
                  <a:srgbClr val="8B4513"/>
                </a:solidFill>
                <a:latin typeface="Times New Roman" pitchFamily="34" charset="0"/>
                <a:ea typeface="Times New Roman" pitchFamily="34" charset="-122"/>
                <a:cs typeface="Times New Roman" pitchFamily="34" charset="-120"/>
              </a:rPr>
              <a:t>Plant Species (9): </a:t>
            </a:r>
            <a:r>
              <a:rPr lang="en-US" dirty="0">
                <a:solidFill>
                  <a:srgbClr val="000000"/>
                </a:solidFill>
                <a:latin typeface="Times New Roman" pitchFamily="34" charset="0"/>
                <a:ea typeface="Times New Roman" pitchFamily="34" charset="-122"/>
                <a:cs typeface="Times New Roman" pitchFamily="34" charset="-120"/>
              </a:rPr>
              <a:t>Apple, Bell Pepper, Cherry, Corn (Maize), Grape, Peach, Potato, Strawberry, Tomato</a:t>
            </a:r>
            <a:endParaRPr lang="en-US" dirty="0"/>
          </a:p>
          <a:p>
            <a:pPr>
              <a:lnSpc>
                <a:spcPct val="105000"/>
              </a:lnSpc>
              <a:spcAft>
                <a:spcPts val="675"/>
              </a:spcAft>
            </a:pPr>
            <a:r>
              <a:rPr lang="en-US" b="1" dirty="0">
                <a:solidFill>
                  <a:srgbClr val="8B4513"/>
                </a:solidFill>
                <a:latin typeface="Times New Roman" pitchFamily="34" charset="0"/>
                <a:ea typeface="Times New Roman" pitchFamily="34" charset="-122"/>
                <a:cs typeface="Times New Roman" pitchFamily="34" charset="-120"/>
              </a:rPr>
              <a:t>Classes: </a:t>
            </a:r>
            <a:r>
              <a:rPr lang="en-US" dirty="0">
                <a:solidFill>
                  <a:srgbClr val="000000"/>
                </a:solidFill>
                <a:latin typeface="Times New Roman" pitchFamily="34" charset="0"/>
                <a:ea typeface="Times New Roman" pitchFamily="34" charset="-122"/>
                <a:cs typeface="Times New Roman" pitchFamily="34" charset="-120"/>
              </a:rPr>
              <a:t>29</a:t>
            </a:r>
            <a:endParaRPr lang="en-US" dirty="0"/>
          </a:p>
          <a:p>
            <a:pPr>
              <a:lnSpc>
                <a:spcPct val="105000"/>
              </a:lnSpc>
              <a:spcAft>
                <a:spcPts val="675"/>
              </a:spcAft>
            </a:pPr>
            <a:r>
              <a:rPr lang="en-US" b="1" dirty="0">
                <a:solidFill>
                  <a:srgbClr val="8B4513"/>
                </a:solidFill>
                <a:latin typeface="Times New Roman" pitchFamily="34" charset="0"/>
                <a:ea typeface="Times New Roman" pitchFamily="34" charset="-122"/>
                <a:cs typeface="Times New Roman" pitchFamily="34" charset="-120"/>
              </a:rPr>
              <a:t>Number of Images: </a:t>
            </a:r>
            <a:r>
              <a:rPr lang="en-US" dirty="0">
                <a:solidFill>
                  <a:srgbClr val="000000"/>
                </a:solidFill>
                <a:latin typeface="Times New Roman" pitchFamily="34" charset="0"/>
                <a:ea typeface="Times New Roman" pitchFamily="34" charset="-122"/>
                <a:cs typeface="Times New Roman" pitchFamily="34" charset="-120"/>
              </a:rPr>
              <a:t>67,118</a:t>
            </a:r>
            <a:endParaRPr lang="en-US" dirty="0"/>
          </a:p>
          <a:p>
            <a:pPr>
              <a:lnSpc>
                <a:spcPct val="105000"/>
              </a:lnSpc>
              <a:spcAft>
                <a:spcPts val="675"/>
              </a:spcAft>
            </a:pPr>
            <a:r>
              <a:rPr lang="en-US" b="1" dirty="0">
                <a:solidFill>
                  <a:srgbClr val="8B4513"/>
                </a:solidFill>
                <a:latin typeface="Times New Roman" pitchFamily="34" charset="0"/>
                <a:ea typeface="Times New Roman" pitchFamily="34" charset="-122"/>
                <a:cs typeface="Times New Roman" pitchFamily="34" charset="-120"/>
              </a:rPr>
              <a:t>Train set size: </a:t>
            </a:r>
            <a:r>
              <a:rPr lang="en-US" dirty="0">
                <a:solidFill>
                  <a:srgbClr val="000000"/>
                </a:solidFill>
                <a:latin typeface="Times New Roman" pitchFamily="34" charset="0"/>
                <a:ea typeface="Times New Roman" pitchFamily="34" charset="-122"/>
                <a:cs typeface="Times New Roman" pitchFamily="34" charset="-120"/>
              </a:rPr>
              <a:t>53,693</a:t>
            </a:r>
            <a:r>
              <a:rPr lang="en-US" b="1" i="1" dirty="0">
                <a:solidFill>
                  <a:srgbClr val="000000"/>
                </a:solidFill>
                <a:latin typeface="Times New Roman" pitchFamily="34" charset="0"/>
                <a:ea typeface="Times New Roman" pitchFamily="34" charset="-122"/>
                <a:cs typeface="Times New Roman" pitchFamily="34" charset="-120"/>
              </a:rPr>
              <a:t> (Predefined)</a:t>
            </a:r>
            <a:endParaRPr lang="en-US" dirty="0"/>
          </a:p>
          <a:p>
            <a:pPr>
              <a:lnSpc>
                <a:spcPct val="105000"/>
              </a:lnSpc>
              <a:spcAft>
                <a:spcPts val="675"/>
              </a:spcAft>
            </a:pPr>
            <a:r>
              <a:rPr lang="en-US" b="1" dirty="0">
                <a:solidFill>
                  <a:srgbClr val="8B4513"/>
                </a:solidFill>
                <a:latin typeface="Times New Roman" pitchFamily="34" charset="0"/>
                <a:ea typeface="Times New Roman" pitchFamily="34" charset="-122"/>
                <a:cs typeface="Times New Roman" pitchFamily="34" charset="-120"/>
              </a:rPr>
              <a:t>Validation set size: </a:t>
            </a:r>
            <a:r>
              <a:rPr lang="en-US" dirty="0">
                <a:solidFill>
                  <a:srgbClr val="000000"/>
                </a:solidFill>
                <a:latin typeface="Times New Roman" pitchFamily="34" charset="0"/>
                <a:ea typeface="Times New Roman" pitchFamily="34" charset="-122"/>
                <a:cs typeface="Times New Roman" pitchFamily="34" charset="-120"/>
              </a:rPr>
              <a:t>12,067</a:t>
            </a:r>
            <a:r>
              <a:rPr lang="en-US" b="1" i="1" dirty="0">
                <a:solidFill>
                  <a:srgbClr val="000000"/>
                </a:solidFill>
                <a:latin typeface="Times New Roman" pitchFamily="34" charset="0"/>
                <a:ea typeface="Times New Roman" pitchFamily="34" charset="-122"/>
                <a:cs typeface="Times New Roman" pitchFamily="34" charset="-120"/>
              </a:rPr>
              <a:t> (Predefined)</a:t>
            </a:r>
            <a:endParaRPr lang="en-US" dirty="0"/>
          </a:p>
          <a:p>
            <a:pPr>
              <a:lnSpc>
                <a:spcPct val="105000"/>
              </a:lnSpc>
              <a:spcAft>
                <a:spcPts val="675"/>
              </a:spcAft>
            </a:pPr>
            <a:r>
              <a:rPr lang="en-US" b="1" dirty="0">
                <a:solidFill>
                  <a:srgbClr val="8B4513"/>
                </a:solidFill>
                <a:latin typeface="Times New Roman" pitchFamily="34" charset="0"/>
                <a:ea typeface="Times New Roman" pitchFamily="34" charset="-122"/>
                <a:cs typeface="Times New Roman" pitchFamily="34" charset="-120"/>
              </a:rPr>
              <a:t>Test set size: </a:t>
            </a:r>
            <a:r>
              <a:rPr lang="en-US" dirty="0">
                <a:solidFill>
                  <a:srgbClr val="000000"/>
                </a:solidFill>
                <a:latin typeface="Times New Roman" pitchFamily="34" charset="0"/>
                <a:ea typeface="Times New Roman" pitchFamily="34" charset="-122"/>
                <a:cs typeface="Times New Roman" pitchFamily="34" charset="-120"/>
              </a:rPr>
              <a:t>1,358</a:t>
            </a:r>
            <a:r>
              <a:rPr lang="en-US" b="1" i="1" dirty="0">
                <a:solidFill>
                  <a:srgbClr val="000000"/>
                </a:solidFill>
                <a:latin typeface="Times New Roman" pitchFamily="34" charset="0"/>
                <a:ea typeface="Times New Roman" pitchFamily="34" charset="-122"/>
                <a:cs typeface="Times New Roman" pitchFamily="34" charset="-120"/>
              </a:rPr>
              <a:t> (Predefined)</a:t>
            </a:r>
            <a:endParaRPr lang="en-US" dirty="0"/>
          </a:p>
          <a:p>
            <a:pPr>
              <a:lnSpc>
                <a:spcPct val="105000"/>
              </a:lnSpc>
              <a:spcAft>
                <a:spcPts val="675"/>
              </a:spcAft>
            </a:pPr>
            <a:r>
              <a:rPr lang="en-US" b="1" dirty="0">
                <a:solidFill>
                  <a:srgbClr val="8B4513"/>
                </a:solidFill>
                <a:latin typeface="Times New Roman" pitchFamily="34" charset="0"/>
                <a:ea typeface="Times New Roman" pitchFamily="34" charset="-122"/>
                <a:cs typeface="Times New Roman" pitchFamily="34" charset="-120"/>
              </a:rPr>
              <a:t>Image resolution: </a:t>
            </a:r>
            <a:r>
              <a:rPr lang="en-US" dirty="0">
                <a:solidFill>
                  <a:srgbClr val="000000"/>
                </a:solidFill>
                <a:latin typeface="Times New Roman" pitchFamily="34" charset="0"/>
                <a:ea typeface="Times New Roman" pitchFamily="34" charset="-122"/>
                <a:cs typeface="Times New Roman" pitchFamily="34" charset="-120"/>
              </a:rPr>
              <a:t>224 × 224 pixels after preprocessing (original image dimensions may vary)</a:t>
            </a:r>
            <a:endParaRPr lang="en-US"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738971-B764-E045-F92B-01E3322A0123}"/>
              </a:ext>
            </a:extLst>
          </p:cNvPr>
          <p:cNvSpPr>
            <a:spLocks noGrp="1"/>
          </p:cNvSpPr>
          <p:nvPr>
            <p:ph type="title"/>
          </p:nvPr>
        </p:nvSpPr>
        <p:spPr>
          <a:xfrm>
            <a:off x="358218" y="136524"/>
            <a:ext cx="8006303" cy="549273"/>
          </a:xfrm>
        </p:spPr>
        <p:txBody>
          <a:bodyPr>
            <a:normAutofit fontScale="90000"/>
          </a:bodyPr>
          <a:lstStyle/>
          <a:p>
            <a:r>
              <a:rPr lang="en-US" sz="4000" b="1" dirty="0">
                <a:solidFill>
                  <a:schemeClr val="accent2">
                    <a:lumMod val="50000"/>
                  </a:schemeClr>
                </a:solidFill>
                <a:latin typeface="Calisto MT" panose="02040603050505030304" pitchFamily="18" charset="0"/>
              </a:rPr>
              <a:t>16.1 Data Preparation</a:t>
            </a:r>
          </a:p>
        </p:txBody>
      </p:sp>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E5D502BE-F636-7D1D-85F0-BAFFD3E05E1C}"/>
                  </a:ext>
                </a:extLst>
              </p:cNvPr>
              <p:cNvSpPr>
                <a:spLocks noGrp="1"/>
              </p:cNvSpPr>
              <p:nvPr>
                <p:ph idx="1"/>
              </p:nvPr>
            </p:nvSpPr>
            <p:spPr>
              <a:xfrm>
                <a:off x="358218" y="685797"/>
                <a:ext cx="8314441" cy="6052174"/>
              </a:xfrm>
            </p:spPr>
            <p:txBody>
              <a:bodyPr numCol="1">
                <a:normAutofit fontScale="92500" lnSpcReduction="20000"/>
              </a:bodyPr>
              <a:lstStyle/>
              <a:p>
                <a:pPr marL="0" indent="0" algn="just">
                  <a:buNone/>
                </a:pPr>
                <a:r>
                  <a:rPr lang="en-IN" sz="2400" b="1" dirty="0">
                    <a:latin typeface="Times New Roman" panose="02020603050405020304" pitchFamily="18" charset="0"/>
                    <a:cs typeface="Times New Roman" panose="02020603050405020304" pitchFamily="18" charset="0"/>
                  </a:rPr>
                  <a:t>Algorithm:</a:t>
                </a:r>
                <a:r>
                  <a:rPr lang="en-IN" sz="2400" dirty="0">
                    <a:latin typeface="Times New Roman" panose="02020603050405020304" pitchFamily="18" charset="0"/>
                    <a:cs typeface="Times New Roman" panose="02020603050405020304" pitchFamily="18" charset="0"/>
                  </a:rPr>
                  <a:t> </a:t>
                </a:r>
                <a:r>
                  <a:rPr lang="en-IN" sz="2400" dirty="0" err="1">
                    <a:latin typeface="Times New Roman" panose="02020603050405020304" pitchFamily="18" charset="0"/>
                    <a:cs typeface="Times New Roman" panose="02020603050405020304" pitchFamily="18" charset="0"/>
                  </a:rPr>
                  <a:t>PlantVillage</a:t>
                </a:r>
                <a:r>
                  <a:rPr lang="en-IN" sz="2400" dirty="0">
                    <a:latin typeface="Times New Roman" panose="02020603050405020304" pitchFamily="18" charset="0"/>
                    <a:cs typeface="Times New Roman" panose="02020603050405020304" pitchFamily="18" charset="0"/>
                  </a:rPr>
                  <a:t> Dataset Preparation</a:t>
                </a:r>
              </a:p>
              <a:p>
                <a:pPr marL="0" indent="0" algn="just">
                  <a:buNone/>
                </a:pPr>
                <a:r>
                  <a:rPr lang="en-IN" sz="2400" b="1" dirty="0">
                    <a:latin typeface="Times New Roman" panose="02020603050405020304" pitchFamily="18" charset="0"/>
                    <a:cs typeface="Times New Roman" panose="02020603050405020304" pitchFamily="18" charset="0"/>
                  </a:rPr>
                  <a:t>Input:</a:t>
                </a:r>
                <a:r>
                  <a:rPr lang="en-IN" sz="2400" dirty="0">
                    <a:latin typeface="Times New Roman" panose="02020603050405020304" pitchFamily="18" charset="0"/>
                    <a:cs typeface="Times New Roman" panose="02020603050405020304" pitchFamily="18" charset="0"/>
                  </a:rPr>
                  <a:t> </a:t>
                </a:r>
                <a:r>
                  <a:rPr lang="en-IN" sz="2400" dirty="0" err="1">
                    <a:latin typeface="Times New Roman" panose="02020603050405020304" pitchFamily="18" charset="0"/>
                    <a:cs typeface="Times New Roman" panose="02020603050405020304" pitchFamily="18" charset="0"/>
                  </a:rPr>
                  <a:t>PlantVillage</a:t>
                </a:r>
                <a:r>
                  <a:rPr lang="en-IN" sz="2400" dirty="0">
                    <a:latin typeface="Times New Roman" panose="02020603050405020304" pitchFamily="18" charset="0"/>
                    <a:cs typeface="Times New Roman" panose="02020603050405020304" pitchFamily="18" charset="0"/>
                  </a:rPr>
                  <a:t> dataset containing leaf images and class labels. </a:t>
                </a:r>
                <a:r>
                  <a:rPr lang="en-IN" sz="2400" b="1" dirty="0">
                    <a:latin typeface="Times New Roman" panose="02020603050405020304" pitchFamily="18" charset="0"/>
                    <a:cs typeface="Times New Roman" panose="02020603050405020304" pitchFamily="18" charset="0"/>
                  </a:rPr>
                  <a:t>Output: </a:t>
                </a:r>
                <a:r>
                  <a:rPr lang="en-IN" sz="2400" dirty="0">
                    <a:latin typeface="Times New Roman" panose="02020603050405020304" pitchFamily="18" charset="0"/>
                    <a:cs typeface="Times New Roman" panose="02020603050405020304" pitchFamily="18" charset="0"/>
                  </a:rPr>
                  <a:t>Prepared training, validation, and test datasets for deep-learning models.</a:t>
                </a:r>
              </a:p>
              <a:p>
                <a:pPr marL="457200" lvl="0" indent="-457200" algn="just">
                  <a:buFont typeface="+mj-lt"/>
                  <a:buAutoNum type="arabicPeriod"/>
                </a:pPr>
                <a:r>
                  <a:rPr lang="en-IN" sz="2400" dirty="0">
                    <a:latin typeface="Times New Roman" panose="02020603050405020304" pitchFamily="18" charset="0"/>
                    <a:cs typeface="Times New Roman" panose="02020603050405020304" pitchFamily="18" charset="0"/>
                  </a:rPr>
                  <a:t>Load the </a:t>
                </a:r>
                <a:r>
                  <a:rPr lang="en-IN" sz="2400" dirty="0" err="1">
                    <a:latin typeface="Times New Roman" panose="02020603050405020304" pitchFamily="18" charset="0"/>
                    <a:cs typeface="Times New Roman" panose="02020603050405020304" pitchFamily="18" charset="0"/>
                  </a:rPr>
                  <a:t>PlantVillage</a:t>
                </a:r>
                <a:r>
                  <a:rPr lang="en-IN" sz="2400" dirty="0">
                    <a:latin typeface="Times New Roman" panose="02020603050405020304" pitchFamily="18" charset="0"/>
                    <a:cs typeface="Times New Roman" panose="02020603050405020304" pitchFamily="18" charset="0"/>
                  </a:rPr>
                  <a:t> dataset from the specified dataset directory.</a:t>
                </a:r>
              </a:p>
              <a:p>
                <a:pPr marL="457200" lvl="0" indent="-457200" algn="just">
                  <a:buFont typeface="+mj-lt"/>
                  <a:buAutoNum type="arabicPeriod"/>
                </a:pPr>
                <a:r>
                  <a:rPr lang="en-IN" sz="2400" dirty="0">
                    <a:latin typeface="Times New Roman" panose="02020603050405020304" pitchFamily="18" charset="0"/>
                    <a:cs typeface="Times New Roman" panose="02020603050405020304" pitchFamily="18" charset="0"/>
                  </a:rPr>
                  <a:t>Identify image files and their corresponding disease-class labels.</a:t>
                </a:r>
              </a:p>
              <a:p>
                <a:pPr marL="457200" lvl="0" indent="-457200" algn="just">
                  <a:buFont typeface="+mj-lt"/>
                  <a:buAutoNum type="arabicPeriod"/>
                </a:pPr>
                <a:r>
                  <a:rPr lang="en-IN" sz="2400" dirty="0">
                    <a:latin typeface="Times New Roman" panose="02020603050405020304" pitchFamily="18" charset="0"/>
                    <a:cs typeface="Times New Roman" panose="02020603050405020304" pitchFamily="18" charset="0"/>
                  </a:rPr>
                  <a:t>Verify the dataset structure and class distribution across training, validation, and test splits.</a:t>
                </a:r>
              </a:p>
              <a:p>
                <a:pPr marL="457200" lvl="0" indent="-457200" algn="just">
                  <a:buFont typeface="+mj-lt"/>
                  <a:buAutoNum type="arabicPeriod"/>
                </a:pPr>
                <a:r>
                  <a:rPr lang="en-IN" sz="2400" dirty="0">
                    <a:latin typeface="Times New Roman" panose="02020603050405020304" pitchFamily="18" charset="0"/>
                    <a:cs typeface="Times New Roman" panose="02020603050405020304" pitchFamily="18" charset="0"/>
                  </a:rPr>
                  <a:t>Check image integrity and identify corrupted or unreadable files.</a:t>
                </a:r>
              </a:p>
              <a:p>
                <a:pPr marL="457200" lvl="0" indent="-457200" algn="just">
                  <a:buFont typeface="+mj-lt"/>
                  <a:buAutoNum type="arabicPeriod"/>
                </a:pPr>
                <a:r>
                  <a:rPr lang="en-IN" sz="2400" dirty="0">
                    <a:latin typeface="Times New Roman" panose="02020603050405020304" pitchFamily="18" charset="0"/>
                    <a:cs typeface="Times New Roman" panose="02020603050405020304" pitchFamily="18" charset="0"/>
                  </a:rPr>
                  <a:t>Resize all images to </a:t>
                </a:r>
                <a14:m>
                  <m:oMath xmlns:m="http://schemas.openxmlformats.org/officeDocument/2006/math">
                    <m:r>
                      <a:rPr lang="en-IN"/>
                      <m:t>224×224</m:t>
                    </m:r>
                    <m:r>
                      <a:rPr lang="en-IN" b="0" i="0" smtClean="0">
                        <a:latin typeface="Cambria Math" panose="02040503050406030204" pitchFamily="18" charset="0"/>
                      </a:rPr>
                      <m:t> </m:t>
                    </m:r>
                  </m:oMath>
                </a14:m>
                <a:r>
                  <a:rPr lang="en-IN" sz="2400" dirty="0">
                    <a:latin typeface="Times New Roman" panose="02020603050405020304" pitchFamily="18" charset="0"/>
                    <a:cs typeface="Times New Roman" panose="02020603050405020304" pitchFamily="18" charset="0"/>
                  </a:rPr>
                  <a:t>pixels.</a:t>
                </a:r>
              </a:p>
              <a:p>
                <a:pPr marL="457200" lvl="0" indent="-457200" algn="just">
                  <a:buFont typeface="+mj-lt"/>
                  <a:buAutoNum type="arabicPeriod"/>
                </a:pPr>
                <a:r>
                  <a:rPr lang="en-IN" sz="2400" dirty="0">
                    <a:latin typeface="Times New Roman" panose="02020603050405020304" pitchFamily="18" charset="0"/>
                    <a:cs typeface="Times New Roman" panose="02020603050405020304" pitchFamily="18" charset="0"/>
                  </a:rPr>
                  <a:t>Convert images into tensors and apply the model-compatible normalization.</a:t>
                </a:r>
              </a:p>
              <a:p>
                <a:pPr marL="457200" lvl="0" indent="-457200" algn="just">
                  <a:buFont typeface="+mj-lt"/>
                  <a:buAutoNum type="arabicPeriod"/>
                </a:pPr>
                <a:r>
                  <a:rPr lang="en-IN" sz="2400" dirty="0">
                    <a:latin typeface="Times New Roman" panose="02020603050405020304" pitchFamily="18" charset="0"/>
                    <a:cs typeface="Times New Roman" panose="02020603050405020304" pitchFamily="18" charset="0"/>
                  </a:rPr>
                  <a:t>Apply data augmentation to the training images only.</a:t>
                </a:r>
              </a:p>
              <a:p>
                <a:pPr marL="457200" lvl="0" indent="-457200" algn="just">
                  <a:buFont typeface="+mj-lt"/>
                  <a:buAutoNum type="arabicPeriod"/>
                </a:pPr>
                <a:r>
                  <a:rPr lang="en-IN" sz="2400" dirty="0">
                    <a:latin typeface="Times New Roman" panose="02020603050405020304" pitchFamily="18" charset="0"/>
                    <a:cs typeface="Times New Roman" panose="02020603050405020304" pitchFamily="18" charset="0"/>
                  </a:rPr>
                  <a:t>Create datasets and </a:t>
                </a:r>
                <a:r>
                  <a:rPr lang="en-IN" sz="2400" dirty="0" err="1">
                    <a:latin typeface="Times New Roman" panose="02020603050405020304" pitchFamily="18" charset="0"/>
                    <a:cs typeface="Times New Roman" panose="02020603050405020304" pitchFamily="18" charset="0"/>
                  </a:rPr>
                  <a:t>DataLoaders</a:t>
                </a:r>
                <a:r>
                  <a:rPr lang="en-IN" sz="2400" dirty="0">
                    <a:latin typeface="Times New Roman" panose="02020603050405020304" pitchFamily="18" charset="0"/>
                    <a:cs typeface="Times New Roman" panose="02020603050405020304" pitchFamily="18" charset="0"/>
                  </a:rPr>
                  <a:t> with the required batch size.</a:t>
                </a:r>
              </a:p>
              <a:p>
                <a:pPr marL="457200" lvl="0" indent="-457200" algn="just">
                  <a:buFont typeface="+mj-lt"/>
                  <a:buAutoNum type="arabicPeriod"/>
                </a:pPr>
                <a:r>
                  <a:rPr lang="en-IN" sz="2400" dirty="0">
                    <a:latin typeface="Times New Roman" panose="02020603050405020304" pitchFamily="18" charset="0"/>
                    <a:cs typeface="Times New Roman" panose="02020603050405020304" pitchFamily="18" charset="0"/>
                  </a:rPr>
                  <a:t>Verify image dimensions, labels, and batch outputs.</a:t>
                </a:r>
              </a:p>
              <a:p>
                <a:pPr marL="457200" lvl="0" indent="-457200" algn="just">
                  <a:buFont typeface="+mj-lt"/>
                  <a:buAutoNum type="arabicPeriod"/>
                </a:pPr>
                <a:r>
                  <a:rPr lang="en-IN" sz="2400" dirty="0">
                    <a:latin typeface="Times New Roman" panose="02020603050405020304" pitchFamily="18" charset="0"/>
                    <a:cs typeface="Times New Roman" panose="02020603050405020304" pitchFamily="18" charset="0"/>
                  </a:rPr>
                  <a:t>Return the prepared datasets for model training, validation, and testing.</a:t>
                </a:r>
              </a:p>
            </p:txBody>
          </p:sp>
        </mc:Choice>
        <mc:Fallback>
          <p:sp>
            <p:nvSpPr>
              <p:cNvPr id="3" name="Content Placeholder 2">
                <a:extLst>
                  <a:ext uri="{FF2B5EF4-FFF2-40B4-BE49-F238E27FC236}">
                    <a16:creationId xmlns:a16="http://schemas.microsoft.com/office/drawing/2014/main" id="{E5D502BE-F636-7D1D-85F0-BAFFD3E05E1C}"/>
                  </a:ext>
                </a:extLst>
              </p:cNvPr>
              <p:cNvSpPr>
                <a:spLocks noGrp="1" noRot="1" noChangeAspect="1" noMove="1" noResize="1" noEditPoints="1" noAdjustHandles="1" noChangeArrowheads="1" noChangeShapeType="1" noTextEdit="1"/>
              </p:cNvSpPr>
              <p:nvPr>
                <p:ph idx="1"/>
              </p:nvPr>
            </p:nvSpPr>
            <p:spPr>
              <a:xfrm>
                <a:off x="358218" y="685797"/>
                <a:ext cx="8314441" cy="6052174"/>
              </a:xfrm>
              <a:blipFill>
                <a:blip r:embed="rId2"/>
                <a:stretch>
                  <a:fillRect l="-953" t="-2115" r="-953"/>
                </a:stretch>
              </a:blipFill>
            </p:spPr>
            <p:txBody>
              <a:bodyPr/>
              <a:lstStyle/>
              <a:p>
                <a:r>
                  <a:rPr lang="en-IN">
                    <a:noFill/>
                  </a:rPr>
                  <a:t> </a:t>
                </a:r>
              </a:p>
            </p:txBody>
          </p:sp>
        </mc:Fallback>
      </mc:AlternateContent>
      <p:sp>
        <p:nvSpPr>
          <p:cNvPr id="7" name="Slide Number Placeholder 6">
            <a:extLst>
              <a:ext uri="{FF2B5EF4-FFF2-40B4-BE49-F238E27FC236}">
                <a16:creationId xmlns:a16="http://schemas.microsoft.com/office/drawing/2014/main" id="{14F45621-8939-04E9-03B4-11AF180D5862}"/>
              </a:ext>
            </a:extLst>
          </p:cNvPr>
          <p:cNvSpPr>
            <a:spLocks noGrp="1"/>
          </p:cNvSpPr>
          <p:nvPr>
            <p:ph type="sldNum" sz="quarter" idx="12"/>
          </p:nvPr>
        </p:nvSpPr>
        <p:spPr/>
        <p:txBody>
          <a:bodyPr/>
          <a:lstStyle/>
          <a:p>
            <a:fld id="{D90542D4-23E8-43E0-BA8E-C972DA1A005D}" type="slidenum">
              <a:rPr lang="en-US" sz="1400" b="1" smtClean="0">
                <a:solidFill>
                  <a:schemeClr val="tx1"/>
                </a:solidFill>
                <a:latin typeface="Calisto MT" panose="02040603050505030304" pitchFamily="18" charset="0"/>
              </a:rPr>
              <a:pPr/>
              <a:t>37</a:t>
            </a:fld>
            <a:endParaRPr lang="en-US" sz="1400" b="1" dirty="0">
              <a:solidFill>
                <a:schemeClr val="tx1"/>
              </a:solidFill>
              <a:latin typeface="Calisto MT" panose="02040603050505030304" pitchFamily="18" charset="0"/>
            </a:endParaRPr>
          </a:p>
        </p:txBody>
      </p:sp>
    </p:spTree>
    <p:extLst>
      <p:ext uri="{BB962C8B-B14F-4D97-AF65-F5344CB8AC3E}">
        <p14:creationId xmlns:p14="http://schemas.microsoft.com/office/powerpoint/2010/main" val="2820735777"/>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B4F8088-AA4E-8146-87E9-D7C4375AB7A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4CEBF6C-EE03-9C49-0FC2-8F0E4BA30AC5}"/>
              </a:ext>
            </a:extLst>
          </p:cNvPr>
          <p:cNvSpPr>
            <a:spLocks noGrp="1"/>
          </p:cNvSpPr>
          <p:nvPr>
            <p:ph type="title"/>
          </p:nvPr>
        </p:nvSpPr>
        <p:spPr>
          <a:xfrm>
            <a:off x="358218" y="136524"/>
            <a:ext cx="8006303" cy="549273"/>
          </a:xfrm>
        </p:spPr>
        <p:txBody>
          <a:bodyPr>
            <a:normAutofit fontScale="90000"/>
          </a:bodyPr>
          <a:lstStyle/>
          <a:p>
            <a:r>
              <a:rPr lang="en-US" sz="4000" b="1" dirty="0">
                <a:solidFill>
                  <a:schemeClr val="accent2">
                    <a:lumMod val="50000"/>
                  </a:schemeClr>
                </a:solidFill>
                <a:latin typeface="Calisto MT" panose="02040603050505030304" pitchFamily="18" charset="0"/>
              </a:rPr>
              <a:t>16.2 Data Preparation</a:t>
            </a:r>
          </a:p>
        </p:txBody>
      </p:sp>
      <p:sp>
        <p:nvSpPr>
          <p:cNvPr id="3" name="Content Placeholder 2">
            <a:extLst>
              <a:ext uri="{FF2B5EF4-FFF2-40B4-BE49-F238E27FC236}">
                <a16:creationId xmlns:a16="http://schemas.microsoft.com/office/drawing/2014/main" id="{5E4C34F1-0D37-8E50-57CA-D97F109D3FEF}"/>
              </a:ext>
            </a:extLst>
          </p:cNvPr>
          <p:cNvSpPr>
            <a:spLocks noGrp="1"/>
          </p:cNvSpPr>
          <p:nvPr>
            <p:ph idx="1"/>
          </p:nvPr>
        </p:nvSpPr>
        <p:spPr>
          <a:xfrm>
            <a:off x="358218" y="685797"/>
            <a:ext cx="8314441" cy="6052174"/>
          </a:xfrm>
        </p:spPr>
        <p:txBody>
          <a:bodyPr numCol="2">
            <a:noAutofit/>
          </a:bodyPr>
          <a:lstStyle/>
          <a:p>
            <a:pPr marL="0" indent="0">
              <a:buNone/>
            </a:pPr>
            <a:r>
              <a:rPr lang="en-IN" sz="1500" dirty="0">
                <a:latin typeface="Times New Roman" panose="02020603050405020304" pitchFamily="18" charset="0"/>
                <a:cs typeface="Times New Roman" panose="02020603050405020304" pitchFamily="18" charset="0"/>
              </a:rPr>
              <a:t>ALGORITHM: </a:t>
            </a:r>
            <a:r>
              <a:rPr lang="en-IN" sz="1500" dirty="0" err="1">
                <a:latin typeface="Times New Roman" panose="02020603050405020304" pitchFamily="18" charset="0"/>
                <a:cs typeface="Times New Roman" panose="02020603050405020304" pitchFamily="18" charset="0"/>
              </a:rPr>
              <a:t>PlantVillage</a:t>
            </a:r>
            <a:r>
              <a:rPr lang="en-IN" sz="1500" dirty="0">
                <a:latin typeface="Times New Roman" panose="02020603050405020304" pitchFamily="18" charset="0"/>
                <a:cs typeface="Times New Roman" panose="02020603050405020304" pitchFamily="18" charset="0"/>
              </a:rPr>
              <a:t> Data Preparation</a:t>
            </a:r>
          </a:p>
          <a:p>
            <a:pPr marL="0" indent="0">
              <a:buNone/>
            </a:pPr>
            <a:r>
              <a:rPr lang="en-IN" sz="1500" dirty="0">
                <a:latin typeface="Times New Roman" panose="02020603050405020304" pitchFamily="18" charset="0"/>
                <a:cs typeface="Times New Roman" panose="02020603050405020304" pitchFamily="18" charset="0"/>
              </a:rPr>
              <a:t>INPUT:</a:t>
            </a:r>
          </a:p>
          <a:p>
            <a:pPr marL="0" indent="0">
              <a:buNone/>
            </a:pPr>
            <a:r>
              <a:rPr lang="en-IN" sz="1500" dirty="0">
                <a:latin typeface="Times New Roman" panose="02020603050405020304" pitchFamily="18" charset="0"/>
                <a:cs typeface="Times New Roman" panose="02020603050405020304" pitchFamily="18" charset="0"/>
              </a:rPr>
              <a:t>Dataset directory D</a:t>
            </a:r>
          </a:p>
          <a:p>
            <a:pPr marL="0" indent="0">
              <a:buNone/>
            </a:pPr>
            <a:r>
              <a:rPr lang="en-IN" sz="1500" dirty="0">
                <a:latin typeface="Times New Roman" panose="02020603050405020304" pitchFamily="18" charset="0"/>
                <a:cs typeface="Times New Roman" panose="02020603050405020304" pitchFamily="18" charset="0"/>
              </a:rPr>
              <a:t>Image size S = (224, 224)</a:t>
            </a:r>
          </a:p>
          <a:p>
            <a:pPr marL="0" indent="0">
              <a:buNone/>
            </a:pPr>
            <a:r>
              <a:rPr lang="en-IN" sz="1500" dirty="0">
                <a:latin typeface="Times New Roman" panose="02020603050405020304" pitchFamily="18" charset="0"/>
                <a:cs typeface="Times New Roman" panose="02020603050405020304" pitchFamily="18" charset="0"/>
              </a:rPr>
              <a:t>Batch size B</a:t>
            </a:r>
          </a:p>
          <a:p>
            <a:pPr marL="0" indent="0">
              <a:buNone/>
            </a:pPr>
            <a:r>
              <a:rPr lang="en-IN" sz="1500" dirty="0">
                <a:latin typeface="Times New Roman" panose="02020603050405020304" pitchFamily="18" charset="0"/>
                <a:cs typeface="Times New Roman" panose="02020603050405020304" pitchFamily="18" charset="0"/>
              </a:rPr>
              <a:t>OUTPUT:</a:t>
            </a:r>
          </a:p>
          <a:p>
            <a:pPr marL="0" indent="0">
              <a:buNone/>
            </a:pPr>
            <a:r>
              <a:rPr lang="en-IN" sz="1500" dirty="0">
                <a:latin typeface="Times New Roman" panose="02020603050405020304" pitchFamily="18" charset="0"/>
                <a:cs typeface="Times New Roman" panose="02020603050405020304" pitchFamily="18" charset="0"/>
              </a:rPr>
              <a:t>Training dataset </a:t>
            </a:r>
            <a:r>
              <a:rPr lang="en-IN" sz="1500" dirty="0" err="1">
                <a:latin typeface="Times New Roman" panose="02020603050405020304" pitchFamily="18" charset="0"/>
                <a:cs typeface="Times New Roman" panose="02020603050405020304" pitchFamily="18" charset="0"/>
              </a:rPr>
              <a:t>D_train</a:t>
            </a:r>
            <a:endParaRPr lang="en-IN" sz="1500" dirty="0">
              <a:latin typeface="Times New Roman" panose="02020603050405020304" pitchFamily="18" charset="0"/>
              <a:cs typeface="Times New Roman" panose="02020603050405020304" pitchFamily="18" charset="0"/>
            </a:endParaRPr>
          </a:p>
          <a:p>
            <a:pPr marL="0" indent="0">
              <a:buNone/>
            </a:pPr>
            <a:r>
              <a:rPr lang="en-IN" sz="1500" dirty="0">
                <a:latin typeface="Times New Roman" panose="02020603050405020304" pitchFamily="18" charset="0"/>
                <a:cs typeface="Times New Roman" panose="02020603050405020304" pitchFamily="18" charset="0"/>
              </a:rPr>
              <a:t>Validation dataset </a:t>
            </a:r>
            <a:r>
              <a:rPr lang="en-IN" sz="1500" dirty="0" err="1">
                <a:latin typeface="Times New Roman" panose="02020603050405020304" pitchFamily="18" charset="0"/>
                <a:cs typeface="Times New Roman" panose="02020603050405020304" pitchFamily="18" charset="0"/>
              </a:rPr>
              <a:t>D_val</a:t>
            </a:r>
            <a:endParaRPr lang="en-IN" sz="1500" dirty="0">
              <a:latin typeface="Times New Roman" panose="02020603050405020304" pitchFamily="18" charset="0"/>
              <a:cs typeface="Times New Roman" panose="02020603050405020304" pitchFamily="18" charset="0"/>
            </a:endParaRPr>
          </a:p>
          <a:p>
            <a:pPr marL="0" indent="0">
              <a:buNone/>
            </a:pPr>
            <a:r>
              <a:rPr lang="en-IN" sz="1500" dirty="0">
                <a:latin typeface="Times New Roman" panose="02020603050405020304" pitchFamily="18" charset="0"/>
                <a:cs typeface="Times New Roman" panose="02020603050405020304" pitchFamily="18" charset="0"/>
              </a:rPr>
              <a:t>Testing dataset </a:t>
            </a:r>
            <a:r>
              <a:rPr lang="en-IN" sz="1500" dirty="0" err="1">
                <a:latin typeface="Times New Roman" panose="02020603050405020304" pitchFamily="18" charset="0"/>
                <a:cs typeface="Times New Roman" panose="02020603050405020304" pitchFamily="18" charset="0"/>
              </a:rPr>
              <a:t>D_test</a:t>
            </a:r>
            <a:endParaRPr lang="en-IN" sz="1500" dirty="0">
              <a:latin typeface="Times New Roman" panose="02020603050405020304" pitchFamily="18" charset="0"/>
              <a:cs typeface="Times New Roman" panose="02020603050405020304" pitchFamily="18" charset="0"/>
            </a:endParaRPr>
          </a:p>
          <a:p>
            <a:pPr marL="0" indent="0">
              <a:buNone/>
            </a:pPr>
            <a:r>
              <a:rPr lang="en-IN" sz="1500" dirty="0">
                <a:latin typeface="Times New Roman" panose="02020603050405020304" pitchFamily="18" charset="0"/>
                <a:cs typeface="Times New Roman" panose="02020603050405020304" pitchFamily="18" charset="0"/>
              </a:rPr>
              <a:t>BEGIN</a:t>
            </a:r>
          </a:p>
          <a:p>
            <a:pPr marL="0" indent="0">
              <a:buNone/>
            </a:pPr>
            <a:r>
              <a:rPr lang="en-IN" sz="1500" dirty="0">
                <a:latin typeface="Times New Roman" panose="02020603050405020304" pitchFamily="18" charset="0"/>
                <a:cs typeface="Times New Roman" panose="02020603050405020304" pitchFamily="18" charset="0"/>
              </a:rPr>
              <a:t>1. Load dataset D</a:t>
            </a:r>
          </a:p>
          <a:p>
            <a:pPr marL="0" indent="0">
              <a:buNone/>
            </a:pPr>
            <a:r>
              <a:rPr lang="en-IN" sz="1500" dirty="0">
                <a:latin typeface="Times New Roman" panose="02020603050405020304" pitchFamily="18" charset="0"/>
                <a:cs typeface="Times New Roman" panose="02020603050405020304" pitchFamily="18" charset="0"/>
              </a:rPr>
              <a:t>2. Verify class folders and image labels</a:t>
            </a:r>
          </a:p>
          <a:p>
            <a:pPr marL="0" indent="0">
              <a:buNone/>
            </a:pPr>
            <a:r>
              <a:rPr lang="en-IN" sz="1500" dirty="0">
                <a:latin typeface="Times New Roman" panose="02020603050405020304" pitchFamily="18" charset="0"/>
                <a:cs typeface="Times New Roman" panose="02020603050405020304" pitchFamily="18" charset="0"/>
              </a:rPr>
              <a:t>3. Inspect dataset splits:</a:t>
            </a:r>
          </a:p>
          <a:p>
            <a:pPr marL="0" indent="0">
              <a:buNone/>
            </a:pPr>
            <a:r>
              <a:rPr lang="en-IN" sz="1500" dirty="0">
                <a:latin typeface="Times New Roman" panose="02020603050405020304" pitchFamily="18" charset="0"/>
                <a:cs typeface="Times New Roman" panose="02020603050405020304" pitchFamily="18" charset="0"/>
              </a:rPr>
              <a:t>Train, Validation, Test</a:t>
            </a:r>
          </a:p>
          <a:p>
            <a:pPr marL="0" indent="0">
              <a:buNone/>
            </a:pPr>
            <a:r>
              <a:rPr lang="en-IN" sz="1500" dirty="0">
                <a:latin typeface="Times New Roman" panose="02020603050405020304" pitchFamily="18" charset="0"/>
                <a:cs typeface="Times New Roman" panose="02020603050405020304" pitchFamily="18" charset="0"/>
              </a:rPr>
              <a:t>4. FOR each image I in D:</a:t>
            </a:r>
          </a:p>
          <a:p>
            <a:pPr marL="0" indent="0">
              <a:buNone/>
            </a:pPr>
            <a:r>
              <a:rPr lang="en-IN" sz="1500" dirty="0">
                <a:latin typeface="Times New Roman" panose="02020603050405020304" pitchFamily="18" charset="0"/>
                <a:cs typeface="Times New Roman" panose="02020603050405020304" pitchFamily="18" charset="0"/>
              </a:rPr>
              <a:t>     Check whether I is readable</a:t>
            </a:r>
          </a:p>
          <a:p>
            <a:pPr marL="0" indent="0">
              <a:buNone/>
            </a:pPr>
            <a:r>
              <a:rPr lang="en-IN" sz="1500" dirty="0">
                <a:latin typeface="Times New Roman" panose="02020603050405020304" pitchFamily="18" charset="0"/>
                <a:cs typeface="Times New Roman" panose="02020603050405020304" pitchFamily="18" charset="0"/>
              </a:rPr>
              <a:t>     IF I is corrupted:</a:t>
            </a:r>
          </a:p>
          <a:p>
            <a:pPr marL="0" indent="0">
              <a:buNone/>
            </a:pPr>
            <a:r>
              <a:rPr lang="en-IN" sz="1500" dirty="0">
                <a:latin typeface="Times New Roman" panose="02020603050405020304" pitchFamily="18" charset="0"/>
                <a:cs typeface="Times New Roman" panose="02020603050405020304" pitchFamily="18" charset="0"/>
              </a:rPr>
              <a:t>         Exclude I from processing</a:t>
            </a:r>
          </a:p>
          <a:p>
            <a:pPr marL="0" indent="0">
              <a:buNone/>
            </a:pPr>
            <a:r>
              <a:rPr lang="en-IN" sz="1500" dirty="0">
                <a:latin typeface="Times New Roman" panose="02020603050405020304" pitchFamily="18" charset="0"/>
                <a:cs typeface="Times New Roman" panose="02020603050405020304" pitchFamily="18" charset="0"/>
              </a:rPr>
              <a:t>     ELSE:</a:t>
            </a:r>
          </a:p>
          <a:p>
            <a:pPr marL="0" indent="0">
              <a:buNone/>
            </a:pPr>
            <a:r>
              <a:rPr lang="en-IN" sz="1500" dirty="0">
                <a:latin typeface="Times New Roman" panose="02020603050405020304" pitchFamily="18" charset="0"/>
                <a:cs typeface="Times New Roman" panose="02020603050405020304" pitchFamily="18" charset="0"/>
              </a:rPr>
              <a:t>           Resize I to 224 × 224</a:t>
            </a:r>
          </a:p>
          <a:p>
            <a:pPr marL="0" indent="0">
              <a:buNone/>
            </a:pPr>
            <a:r>
              <a:rPr lang="en-IN" sz="1500" dirty="0">
                <a:latin typeface="Times New Roman" panose="02020603050405020304" pitchFamily="18" charset="0"/>
                <a:cs typeface="Times New Roman" panose="02020603050405020304" pitchFamily="18" charset="0"/>
              </a:rPr>
              <a:t>           Convert I to tensor</a:t>
            </a:r>
          </a:p>
          <a:p>
            <a:pPr marL="0" indent="0">
              <a:buNone/>
            </a:pPr>
            <a:r>
              <a:rPr lang="en-IN" sz="1500" dirty="0">
                <a:latin typeface="Times New Roman" panose="02020603050405020304" pitchFamily="18" charset="0"/>
                <a:cs typeface="Times New Roman" panose="02020603050405020304" pitchFamily="18" charset="0"/>
              </a:rPr>
              <a:t>           Apply model-compatible normalization</a:t>
            </a:r>
          </a:p>
          <a:p>
            <a:pPr marL="0" indent="0">
              <a:buNone/>
            </a:pPr>
            <a:r>
              <a:rPr lang="en-IN" sz="1500" dirty="0">
                <a:latin typeface="Times New Roman" panose="02020603050405020304" pitchFamily="18" charset="0"/>
                <a:cs typeface="Times New Roman" panose="02020603050405020304" pitchFamily="18" charset="0"/>
              </a:rPr>
              <a:t>    END IF</a:t>
            </a:r>
          </a:p>
          <a:p>
            <a:pPr marL="0" indent="0">
              <a:buNone/>
            </a:pPr>
            <a:r>
              <a:rPr lang="en-IN" sz="1500" dirty="0">
                <a:latin typeface="Times New Roman" panose="02020603050405020304" pitchFamily="18" charset="0"/>
                <a:cs typeface="Times New Roman" panose="02020603050405020304" pitchFamily="18" charset="0"/>
              </a:rPr>
              <a:t>END FOR</a:t>
            </a:r>
          </a:p>
          <a:p>
            <a:pPr marL="0" indent="0">
              <a:buNone/>
            </a:pPr>
            <a:r>
              <a:rPr lang="en-IN" sz="1500" dirty="0">
                <a:latin typeface="Times New Roman" panose="02020603050405020304" pitchFamily="18" charset="0"/>
                <a:cs typeface="Times New Roman" panose="02020603050405020304" pitchFamily="18" charset="0"/>
              </a:rPr>
              <a:t>5. Apply data augmentation to training images only</a:t>
            </a:r>
          </a:p>
          <a:p>
            <a:pPr marL="0" indent="0">
              <a:buNone/>
            </a:pPr>
            <a:r>
              <a:rPr lang="en-IN" sz="1500" dirty="0">
                <a:latin typeface="Times New Roman" panose="02020603050405020304" pitchFamily="18" charset="0"/>
                <a:cs typeface="Times New Roman" panose="02020603050405020304" pitchFamily="18" charset="0"/>
              </a:rPr>
              <a:t>6. Create dataset objects for each split</a:t>
            </a:r>
          </a:p>
          <a:p>
            <a:pPr marL="0" indent="0">
              <a:buNone/>
            </a:pPr>
            <a:r>
              <a:rPr lang="en-IN" sz="1500" dirty="0">
                <a:latin typeface="Times New Roman" panose="02020603050405020304" pitchFamily="18" charset="0"/>
                <a:cs typeface="Times New Roman" panose="02020603050405020304" pitchFamily="18" charset="0"/>
              </a:rPr>
              <a:t>7. Create </a:t>
            </a:r>
            <a:r>
              <a:rPr lang="en-IN" sz="1500" dirty="0" err="1">
                <a:latin typeface="Times New Roman" panose="02020603050405020304" pitchFamily="18" charset="0"/>
                <a:cs typeface="Times New Roman" panose="02020603050405020304" pitchFamily="18" charset="0"/>
              </a:rPr>
              <a:t>DataLoaders</a:t>
            </a:r>
            <a:r>
              <a:rPr lang="en-IN" sz="1500" dirty="0">
                <a:latin typeface="Times New Roman" panose="02020603050405020304" pitchFamily="18" charset="0"/>
                <a:cs typeface="Times New Roman" panose="02020603050405020304" pitchFamily="18" charset="0"/>
              </a:rPr>
              <a:t> using batch size B</a:t>
            </a:r>
          </a:p>
          <a:p>
            <a:pPr marL="0" indent="0">
              <a:buNone/>
            </a:pPr>
            <a:r>
              <a:rPr lang="en-IN" sz="1500" dirty="0">
                <a:latin typeface="Times New Roman" panose="02020603050405020304" pitchFamily="18" charset="0"/>
                <a:cs typeface="Times New Roman" panose="02020603050405020304" pitchFamily="18" charset="0"/>
              </a:rPr>
              <a:t>8. Verify image dimensions, labels, and batches</a:t>
            </a:r>
          </a:p>
          <a:p>
            <a:pPr marL="0" indent="0">
              <a:buNone/>
            </a:pPr>
            <a:r>
              <a:rPr lang="en-IN" sz="1500" dirty="0">
                <a:latin typeface="Times New Roman" panose="02020603050405020304" pitchFamily="18" charset="0"/>
                <a:cs typeface="Times New Roman" panose="02020603050405020304" pitchFamily="18" charset="0"/>
              </a:rPr>
              <a:t>9. RETURN </a:t>
            </a:r>
            <a:r>
              <a:rPr lang="en-IN" sz="1500" dirty="0" err="1">
                <a:latin typeface="Times New Roman" panose="02020603050405020304" pitchFamily="18" charset="0"/>
                <a:cs typeface="Times New Roman" panose="02020603050405020304" pitchFamily="18" charset="0"/>
              </a:rPr>
              <a:t>D_train</a:t>
            </a:r>
            <a:r>
              <a:rPr lang="en-IN" sz="1500" dirty="0">
                <a:latin typeface="Times New Roman" panose="02020603050405020304" pitchFamily="18" charset="0"/>
                <a:cs typeface="Times New Roman" panose="02020603050405020304" pitchFamily="18" charset="0"/>
              </a:rPr>
              <a:t>, </a:t>
            </a:r>
            <a:r>
              <a:rPr lang="en-IN" sz="1500" dirty="0" err="1">
                <a:latin typeface="Times New Roman" panose="02020603050405020304" pitchFamily="18" charset="0"/>
                <a:cs typeface="Times New Roman" panose="02020603050405020304" pitchFamily="18" charset="0"/>
              </a:rPr>
              <a:t>D_val</a:t>
            </a:r>
            <a:r>
              <a:rPr lang="en-IN" sz="1500" dirty="0">
                <a:latin typeface="Times New Roman" panose="02020603050405020304" pitchFamily="18" charset="0"/>
                <a:cs typeface="Times New Roman" panose="02020603050405020304" pitchFamily="18" charset="0"/>
              </a:rPr>
              <a:t>, </a:t>
            </a:r>
            <a:r>
              <a:rPr lang="en-IN" sz="1500" dirty="0" err="1">
                <a:latin typeface="Times New Roman" panose="02020603050405020304" pitchFamily="18" charset="0"/>
                <a:cs typeface="Times New Roman" panose="02020603050405020304" pitchFamily="18" charset="0"/>
              </a:rPr>
              <a:t>D_test</a:t>
            </a:r>
            <a:endParaRPr lang="en-IN" sz="1500" dirty="0">
              <a:latin typeface="Times New Roman" panose="02020603050405020304" pitchFamily="18" charset="0"/>
              <a:cs typeface="Times New Roman" panose="02020603050405020304" pitchFamily="18" charset="0"/>
            </a:endParaRPr>
          </a:p>
          <a:p>
            <a:pPr marL="0" indent="0">
              <a:buNone/>
            </a:pPr>
            <a:r>
              <a:rPr lang="en-IN" sz="1500" dirty="0">
                <a:latin typeface="Times New Roman" panose="02020603050405020304" pitchFamily="18" charset="0"/>
                <a:cs typeface="Times New Roman" panose="02020603050405020304" pitchFamily="18" charset="0"/>
              </a:rPr>
              <a:t>END</a:t>
            </a:r>
          </a:p>
        </p:txBody>
      </p:sp>
      <p:sp>
        <p:nvSpPr>
          <p:cNvPr id="7" name="Slide Number Placeholder 6">
            <a:extLst>
              <a:ext uri="{FF2B5EF4-FFF2-40B4-BE49-F238E27FC236}">
                <a16:creationId xmlns:a16="http://schemas.microsoft.com/office/drawing/2014/main" id="{0749BA53-4BDF-F83C-C714-B6CC017476DE}"/>
              </a:ext>
            </a:extLst>
          </p:cNvPr>
          <p:cNvSpPr>
            <a:spLocks noGrp="1"/>
          </p:cNvSpPr>
          <p:nvPr>
            <p:ph type="sldNum" sz="quarter" idx="12"/>
          </p:nvPr>
        </p:nvSpPr>
        <p:spPr/>
        <p:txBody>
          <a:bodyPr/>
          <a:lstStyle/>
          <a:p>
            <a:fld id="{D90542D4-23E8-43E0-BA8E-C972DA1A005D}" type="slidenum">
              <a:rPr lang="en-US" sz="1400" b="1" smtClean="0">
                <a:solidFill>
                  <a:schemeClr val="tx1"/>
                </a:solidFill>
                <a:latin typeface="Calisto MT" panose="02040603050505030304" pitchFamily="18" charset="0"/>
              </a:rPr>
              <a:pPr/>
              <a:t>38</a:t>
            </a:fld>
            <a:endParaRPr lang="en-US" sz="1400" b="1" dirty="0">
              <a:solidFill>
                <a:schemeClr val="tx1"/>
              </a:solidFill>
              <a:latin typeface="Calisto MT" panose="02040603050505030304" pitchFamily="18" charset="0"/>
            </a:endParaRPr>
          </a:p>
        </p:txBody>
      </p:sp>
    </p:spTree>
    <p:extLst>
      <p:ext uri="{BB962C8B-B14F-4D97-AF65-F5344CB8AC3E}">
        <p14:creationId xmlns:p14="http://schemas.microsoft.com/office/powerpoint/2010/main" val="2064946236"/>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txBox="1"/>
          <p:nvPr/>
        </p:nvSpPr>
        <p:spPr>
          <a:xfrm>
            <a:off x="342900" y="660083"/>
            <a:ext cx="8455914" cy="445770"/>
          </a:xfrm>
          <a:prstGeom prst="rect">
            <a:avLst/>
          </a:prstGeom>
          <a:noFill/>
          <a:ln/>
        </p:spPr>
        <p:txBody>
          <a:bodyPr wrap="square" lIns="0" tIns="0" rIns="0" bIns="0" rtlCol="0" anchor="ctr"/>
          <a:lstStyle/>
          <a:p>
            <a:r>
              <a:rPr lang="en-US" sz="2400" b="1" dirty="0">
                <a:solidFill>
                  <a:srgbClr val="8B4513"/>
                </a:solidFill>
                <a:latin typeface="Times New Roman" pitchFamily="34" charset="0"/>
                <a:ea typeface="Times New Roman" pitchFamily="34" charset="-122"/>
                <a:cs typeface="Times New Roman" pitchFamily="34" charset="-120"/>
              </a:rPr>
              <a:t>16.3 Data Preparation</a:t>
            </a:r>
            <a:endParaRPr lang="en-US" sz="2400" dirty="0"/>
          </a:p>
        </p:txBody>
      </p:sp>
      <p:sp>
        <p:nvSpPr>
          <p:cNvPr id="3" name="Shape 1"/>
          <p:cNvSpPr/>
          <p:nvPr/>
        </p:nvSpPr>
        <p:spPr>
          <a:xfrm>
            <a:off x="342900" y="1645920"/>
            <a:ext cx="1851660" cy="788670"/>
          </a:xfrm>
          <a:prstGeom prst="roundRect">
            <a:avLst>
              <a:gd name="adj" fmla="val 6957"/>
            </a:avLst>
          </a:prstGeom>
          <a:solidFill>
            <a:srgbClr val="1F8A8A"/>
          </a:solidFill>
          <a:ln w="15875">
            <a:solidFill>
              <a:srgbClr val="1F3864"/>
            </a:solidFill>
            <a:prstDash val="solid"/>
          </a:ln>
        </p:spPr>
      </p:sp>
      <p:sp>
        <p:nvSpPr>
          <p:cNvPr id="4" name="Text 2"/>
          <p:cNvSpPr txBox="1"/>
          <p:nvPr/>
        </p:nvSpPr>
        <p:spPr>
          <a:xfrm>
            <a:off x="397764" y="1645920"/>
            <a:ext cx="1741932" cy="788670"/>
          </a:xfrm>
          <a:prstGeom prst="rect">
            <a:avLst/>
          </a:prstGeom>
          <a:noFill/>
          <a:ln/>
        </p:spPr>
        <p:txBody>
          <a:bodyPr wrap="square" lIns="0" tIns="0" rIns="0" bIns="0" rtlCol="0" anchor="ctr"/>
          <a:lstStyle/>
          <a:p>
            <a:pPr algn="ctr">
              <a:spcAft>
                <a:spcPts val="225"/>
              </a:spcAft>
            </a:pPr>
            <a:r>
              <a:rPr lang="en-US" sz="1013" b="1" dirty="0">
                <a:solidFill>
                  <a:srgbClr val="FFFFFF"/>
                </a:solidFill>
                <a:latin typeface="Times New Roman" pitchFamily="34" charset="0"/>
                <a:ea typeface="Times New Roman" pitchFamily="34" charset="-122"/>
                <a:cs typeface="Times New Roman" pitchFamily="34" charset="-120"/>
              </a:rPr>
              <a:t>INPUT</a:t>
            </a:r>
            <a:endParaRPr lang="en-US" sz="1013" dirty="0"/>
          </a:p>
          <a:p>
            <a:pPr algn="ctr">
              <a:spcAft>
                <a:spcPts val="225"/>
              </a:spcAft>
            </a:pPr>
            <a:r>
              <a:rPr lang="en-US" sz="825" dirty="0">
                <a:solidFill>
                  <a:srgbClr val="FFFFFF"/>
                </a:solidFill>
                <a:latin typeface="Times New Roman" pitchFamily="34" charset="0"/>
                <a:ea typeface="Times New Roman" pitchFamily="34" charset="-122"/>
                <a:cs typeface="Times New Roman" pitchFamily="34" charset="-120"/>
              </a:rPr>
              <a:t>Plant Leaf Image Dataset (67,118 images; 29 classes)</a:t>
            </a:r>
            <a:endParaRPr lang="en-US" sz="1013" dirty="0"/>
          </a:p>
        </p:txBody>
      </p:sp>
      <p:sp>
        <p:nvSpPr>
          <p:cNvPr id="5" name="Shape 3"/>
          <p:cNvSpPr/>
          <p:nvPr/>
        </p:nvSpPr>
        <p:spPr>
          <a:xfrm>
            <a:off x="2544318" y="1645920"/>
            <a:ext cx="1851660" cy="788670"/>
          </a:xfrm>
          <a:prstGeom prst="roundRect">
            <a:avLst>
              <a:gd name="adj" fmla="val 6957"/>
            </a:avLst>
          </a:prstGeom>
          <a:solidFill>
            <a:srgbClr val="D9E2F3"/>
          </a:solidFill>
          <a:ln w="15875">
            <a:solidFill>
              <a:srgbClr val="1F3864"/>
            </a:solidFill>
            <a:prstDash val="solid"/>
          </a:ln>
        </p:spPr>
      </p:sp>
      <p:sp>
        <p:nvSpPr>
          <p:cNvPr id="6" name="Text 4"/>
          <p:cNvSpPr txBox="1"/>
          <p:nvPr/>
        </p:nvSpPr>
        <p:spPr>
          <a:xfrm>
            <a:off x="2599182" y="1645920"/>
            <a:ext cx="1741932" cy="788670"/>
          </a:xfrm>
          <a:prstGeom prst="rect">
            <a:avLst/>
          </a:prstGeom>
          <a:noFill/>
          <a:ln/>
        </p:spPr>
        <p:txBody>
          <a:bodyPr wrap="square" lIns="0" tIns="0" rIns="0" bIns="0" rtlCol="0" anchor="ctr"/>
          <a:lstStyle/>
          <a:p>
            <a:pPr algn="ctr">
              <a:spcAft>
                <a:spcPts val="225"/>
              </a:spcAft>
            </a:pPr>
            <a:r>
              <a:rPr lang="en-US" sz="1013" b="1" dirty="0">
                <a:solidFill>
                  <a:srgbClr val="1F3864"/>
                </a:solidFill>
                <a:latin typeface="Times New Roman" pitchFamily="34" charset="0"/>
                <a:ea typeface="Times New Roman" pitchFamily="34" charset="-122"/>
                <a:cs typeface="Times New Roman" pitchFamily="34" charset="-120"/>
              </a:rPr>
              <a:t>Dataset Inspection</a:t>
            </a:r>
            <a:endParaRPr lang="en-US" sz="1013" dirty="0"/>
          </a:p>
          <a:p>
            <a:pPr algn="ctr">
              <a:spcAft>
                <a:spcPts val="225"/>
              </a:spcAft>
            </a:pPr>
            <a:r>
              <a:rPr lang="en-US" sz="825" dirty="0">
                <a:solidFill>
                  <a:srgbClr val="222222"/>
                </a:solidFill>
                <a:latin typeface="Times New Roman" pitchFamily="34" charset="0"/>
                <a:ea typeface="Times New Roman" pitchFamily="34" charset="-122"/>
                <a:cs typeface="Times New Roman" pitchFamily="34" charset="-120"/>
              </a:rPr>
              <a:t>Directory structure, species, class labels and image counts</a:t>
            </a:r>
            <a:endParaRPr lang="en-US" sz="1013" dirty="0"/>
          </a:p>
        </p:txBody>
      </p:sp>
      <p:sp>
        <p:nvSpPr>
          <p:cNvPr id="7" name="Shape 5"/>
          <p:cNvSpPr/>
          <p:nvPr/>
        </p:nvSpPr>
        <p:spPr>
          <a:xfrm>
            <a:off x="4745736" y="1645920"/>
            <a:ext cx="1851660" cy="788670"/>
          </a:xfrm>
          <a:prstGeom prst="roundRect">
            <a:avLst>
              <a:gd name="adj" fmla="val 6957"/>
            </a:avLst>
          </a:prstGeom>
          <a:solidFill>
            <a:srgbClr val="D9E2F3"/>
          </a:solidFill>
          <a:ln w="15875">
            <a:solidFill>
              <a:srgbClr val="1F3864"/>
            </a:solidFill>
            <a:prstDash val="solid"/>
          </a:ln>
        </p:spPr>
      </p:sp>
      <p:sp>
        <p:nvSpPr>
          <p:cNvPr id="8" name="Text 6"/>
          <p:cNvSpPr txBox="1"/>
          <p:nvPr/>
        </p:nvSpPr>
        <p:spPr>
          <a:xfrm>
            <a:off x="4800600" y="1645920"/>
            <a:ext cx="1741932" cy="788670"/>
          </a:xfrm>
          <a:prstGeom prst="rect">
            <a:avLst/>
          </a:prstGeom>
          <a:noFill/>
          <a:ln/>
        </p:spPr>
        <p:txBody>
          <a:bodyPr wrap="square" lIns="0" tIns="0" rIns="0" bIns="0" rtlCol="0" anchor="ctr"/>
          <a:lstStyle/>
          <a:p>
            <a:pPr algn="ctr">
              <a:spcAft>
                <a:spcPts val="225"/>
              </a:spcAft>
            </a:pPr>
            <a:r>
              <a:rPr lang="en-US" sz="1013" b="1" dirty="0">
                <a:solidFill>
                  <a:srgbClr val="1F3864"/>
                </a:solidFill>
                <a:latin typeface="Times New Roman" pitchFamily="34" charset="0"/>
                <a:ea typeface="Times New Roman" pitchFamily="34" charset="-122"/>
                <a:cs typeface="Times New Roman" pitchFamily="34" charset="-120"/>
              </a:rPr>
              <a:t>Image Integrity Validation</a:t>
            </a:r>
            <a:endParaRPr lang="en-US" sz="1013" dirty="0"/>
          </a:p>
          <a:p>
            <a:pPr algn="ctr">
              <a:spcAft>
                <a:spcPts val="225"/>
              </a:spcAft>
            </a:pPr>
            <a:r>
              <a:rPr lang="en-US" sz="825" dirty="0">
                <a:solidFill>
                  <a:srgbClr val="222222"/>
                </a:solidFill>
                <a:latin typeface="Times New Roman" pitchFamily="34" charset="0"/>
                <a:ea typeface="Times New Roman" pitchFamily="34" charset="-122"/>
                <a:cs typeface="Times New Roman" pitchFamily="34" charset="-120"/>
              </a:rPr>
              <a:t>Open each file; detect corrupted images (0 found)</a:t>
            </a:r>
            <a:endParaRPr lang="en-US" sz="1013" dirty="0"/>
          </a:p>
        </p:txBody>
      </p:sp>
      <p:sp>
        <p:nvSpPr>
          <p:cNvPr id="9" name="Shape 7"/>
          <p:cNvSpPr/>
          <p:nvPr/>
        </p:nvSpPr>
        <p:spPr>
          <a:xfrm>
            <a:off x="6947154" y="1645920"/>
            <a:ext cx="1851660" cy="788670"/>
          </a:xfrm>
          <a:prstGeom prst="roundRect">
            <a:avLst>
              <a:gd name="adj" fmla="val 6957"/>
            </a:avLst>
          </a:prstGeom>
          <a:solidFill>
            <a:srgbClr val="D9E2F3"/>
          </a:solidFill>
          <a:ln w="15875">
            <a:solidFill>
              <a:srgbClr val="1F3864"/>
            </a:solidFill>
            <a:prstDash val="solid"/>
          </a:ln>
        </p:spPr>
      </p:sp>
      <p:sp>
        <p:nvSpPr>
          <p:cNvPr id="10" name="Text 8"/>
          <p:cNvSpPr txBox="1"/>
          <p:nvPr/>
        </p:nvSpPr>
        <p:spPr>
          <a:xfrm>
            <a:off x="7002018" y="1645920"/>
            <a:ext cx="1741932" cy="788670"/>
          </a:xfrm>
          <a:prstGeom prst="rect">
            <a:avLst/>
          </a:prstGeom>
          <a:noFill/>
          <a:ln/>
        </p:spPr>
        <p:txBody>
          <a:bodyPr wrap="square" lIns="0" tIns="0" rIns="0" bIns="0" rtlCol="0" anchor="ctr"/>
          <a:lstStyle/>
          <a:p>
            <a:pPr algn="ctr">
              <a:spcAft>
                <a:spcPts val="225"/>
              </a:spcAft>
            </a:pPr>
            <a:r>
              <a:rPr lang="en-US" sz="1013" b="1" dirty="0">
                <a:solidFill>
                  <a:srgbClr val="1F3864"/>
                </a:solidFill>
                <a:latin typeface="Times New Roman" pitchFamily="34" charset="0"/>
                <a:ea typeface="Times New Roman" pitchFamily="34" charset="-122"/>
                <a:cs typeface="Times New Roman" pitchFamily="34" charset="-120"/>
              </a:rPr>
              <a:t>Split Verification</a:t>
            </a:r>
            <a:endParaRPr lang="en-US" sz="1013" dirty="0"/>
          </a:p>
          <a:p>
            <a:pPr algn="ctr">
              <a:spcAft>
                <a:spcPts val="225"/>
              </a:spcAft>
            </a:pPr>
            <a:r>
              <a:rPr lang="en-US" sz="825" dirty="0">
                <a:solidFill>
                  <a:srgbClr val="222222"/>
                </a:solidFill>
                <a:latin typeface="Times New Roman" pitchFamily="34" charset="0"/>
                <a:ea typeface="Times New Roman" pitchFamily="34" charset="-122"/>
                <a:cs typeface="Times New Roman" pitchFamily="34" charset="-120"/>
              </a:rPr>
              <a:t>Train 53,693 · Val 12,067 · Test 1,358; 29 classes in each split</a:t>
            </a:r>
            <a:endParaRPr lang="en-US" sz="1013" dirty="0"/>
          </a:p>
        </p:txBody>
      </p:sp>
      <p:sp>
        <p:nvSpPr>
          <p:cNvPr id="11" name="Shape 9"/>
          <p:cNvSpPr/>
          <p:nvPr/>
        </p:nvSpPr>
        <p:spPr>
          <a:xfrm>
            <a:off x="342900" y="2914650"/>
            <a:ext cx="1851660" cy="788670"/>
          </a:xfrm>
          <a:prstGeom prst="roundRect">
            <a:avLst>
              <a:gd name="adj" fmla="val 6957"/>
            </a:avLst>
          </a:prstGeom>
          <a:solidFill>
            <a:srgbClr val="D9E2F3"/>
          </a:solidFill>
          <a:ln w="15875">
            <a:solidFill>
              <a:srgbClr val="1F3864"/>
            </a:solidFill>
            <a:prstDash val="solid"/>
          </a:ln>
        </p:spPr>
      </p:sp>
      <p:sp>
        <p:nvSpPr>
          <p:cNvPr id="12" name="Text 10"/>
          <p:cNvSpPr txBox="1"/>
          <p:nvPr/>
        </p:nvSpPr>
        <p:spPr>
          <a:xfrm>
            <a:off x="397764" y="2914650"/>
            <a:ext cx="1741932" cy="788670"/>
          </a:xfrm>
          <a:prstGeom prst="rect">
            <a:avLst/>
          </a:prstGeom>
          <a:noFill/>
          <a:ln/>
        </p:spPr>
        <p:txBody>
          <a:bodyPr wrap="square" lIns="0" tIns="0" rIns="0" bIns="0" rtlCol="0" anchor="ctr"/>
          <a:lstStyle/>
          <a:p>
            <a:pPr algn="ctr">
              <a:spcAft>
                <a:spcPts val="225"/>
              </a:spcAft>
            </a:pPr>
            <a:r>
              <a:rPr lang="en-US" sz="1013" b="1" dirty="0">
                <a:solidFill>
                  <a:srgbClr val="1F3864"/>
                </a:solidFill>
                <a:latin typeface="Times New Roman" pitchFamily="34" charset="0"/>
                <a:ea typeface="Times New Roman" pitchFamily="34" charset="-122"/>
                <a:cs typeface="Times New Roman" pitchFamily="34" charset="-120"/>
              </a:rPr>
              <a:t>Image Resizing</a:t>
            </a:r>
            <a:endParaRPr lang="en-US" sz="1013" dirty="0"/>
          </a:p>
          <a:p>
            <a:pPr algn="ctr">
              <a:spcAft>
                <a:spcPts val="225"/>
              </a:spcAft>
            </a:pPr>
            <a:r>
              <a:rPr lang="en-US" sz="825" dirty="0">
                <a:solidFill>
                  <a:srgbClr val="222222"/>
                </a:solidFill>
                <a:latin typeface="Times New Roman" pitchFamily="34" charset="0"/>
                <a:ea typeface="Times New Roman" pitchFamily="34" charset="-122"/>
                <a:cs typeface="Times New Roman" pitchFamily="34" charset="-120"/>
              </a:rPr>
              <a:t>Resize to 224 × 224 pixels</a:t>
            </a:r>
            <a:endParaRPr lang="en-US" sz="1013" dirty="0"/>
          </a:p>
        </p:txBody>
      </p:sp>
      <p:sp>
        <p:nvSpPr>
          <p:cNvPr id="13" name="Shape 11"/>
          <p:cNvSpPr/>
          <p:nvPr/>
        </p:nvSpPr>
        <p:spPr>
          <a:xfrm>
            <a:off x="2544318" y="2914650"/>
            <a:ext cx="1851660" cy="788670"/>
          </a:xfrm>
          <a:prstGeom prst="roundRect">
            <a:avLst>
              <a:gd name="adj" fmla="val 6957"/>
            </a:avLst>
          </a:prstGeom>
          <a:solidFill>
            <a:srgbClr val="D9E2F3"/>
          </a:solidFill>
          <a:ln w="15875">
            <a:solidFill>
              <a:srgbClr val="1F3864"/>
            </a:solidFill>
            <a:prstDash val="solid"/>
          </a:ln>
        </p:spPr>
      </p:sp>
      <p:sp>
        <p:nvSpPr>
          <p:cNvPr id="14" name="Text 12"/>
          <p:cNvSpPr txBox="1"/>
          <p:nvPr/>
        </p:nvSpPr>
        <p:spPr>
          <a:xfrm>
            <a:off x="2599182" y="2914650"/>
            <a:ext cx="1741932" cy="788670"/>
          </a:xfrm>
          <a:prstGeom prst="rect">
            <a:avLst/>
          </a:prstGeom>
          <a:noFill/>
          <a:ln/>
        </p:spPr>
        <p:txBody>
          <a:bodyPr wrap="square" lIns="0" tIns="0" rIns="0" bIns="0" rtlCol="0" anchor="ctr"/>
          <a:lstStyle/>
          <a:p>
            <a:pPr algn="ctr">
              <a:spcAft>
                <a:spcPts val="225"/>
              </a:spcAft>
            </a:pPr>
            <a:r>
              <a:rPr lang="en-US" sz="1013" b="1" dirty="0">
                <a:solidFill>
                  <a:srgbClr val="1F3864"/>
                </a:solidFill>
                <a:latin typeface="Times New Roman" pitchFamily="34" charset="0"/>
                <a:ea typeface="Times New Roman" pitchFamily="34" charset="-122"/>
                <a:cs typeface="Times New Roman" pitchFamily="34" charset="-120"/>
              </a:rPr>
              <a:t>Normalization and Tensor Conversion</a:t>
            </a:r>
            <a:endParaRPr lang="en-US" sz="1013" dirty="0"/>
          </a:p>
          <a:p>
            <a:pPr algn="ctr">
              <a:spcAft>
                <a:spcPts val="225"/>
              </a:spcAft>
            </a:pPr>
            <a:r>
              <a:rPr lang="en-US" sz="825" dirty="0">
                <a:solidFill>
                  <a:srgbClr val="222222"/>
                </a:solidFill>
                <a:latin typeface="Times New Roman" pitchFamily="34" charset="0"/>
                <a:ea typeface="Times New Roman" pitchFamily="34" charset="-122"/>
                <a:cs typeface="Times New Roman" pitchFamily="34" charset="-120"/>
              </a:rPr>
              <a:t>As required by the selected model or pretrained weights</a:t>
            </a:r>
            <a:endParaRPr lang="en-US" sz="1013" dirty="0"/>
          </a:p>
        </p:txBody>
      </p:sp>
      <p:sp>
        <p:nvSpPr>
          <p:cNvPr id="15" name="Shape 13"/>
          <p:cNvSpPr/>
          <p:nvPr/>
        </p:nvSpPr>
        <p:spPr>
          <a:xfrm>
            <a:off x="4745736" y="2914650"/>
            <a:ext cx="1851660" cy="788670"/>
          </a:xfrm>
          <a:prstGeom prst="roundRect">
            <a:avLst>
              <a:gd name="adj" fmla="val 6957"/>
            </a:avLst>
          </a:prstGeom>
          <a:solidFill>
            <a:srgbClr val="D9E2F3"/>
          </a:solidFill>
          <a:ln w="15875">
            <a:solidFill>
              <a:srgbClr val="1F3864"/>
            </a:solidFill>
            <a:prstDash val="solid"/>
          </a:ln>
        </p:spPr>
      </p:sp>
      <p:sp>
        <p:nvSpPr>
          <p:cNvPr id="16" name="Text 14"/>
          <p:cNvSpPr txBox="1"/>
          <p:nvPr/>
        </p:nvSpPr>
        <p:spPr>
          <a:xfrm>
            <a:off x="4800600" y="2914650"/>
            <a:ext cx="1741932" cy="788670"/>
          </a:xfrm>
          <a:prstGeom prst="rect">
            <a:avLst/>
          </a:prstGeom>
          <a:noFill/>
          <a:ln/>
        </p:spPr>
        <p:txBody>
          <a:bodyPr wrap="square" lIns="0" tIns="0" rIns="0" bIns="0" rtlCol="0" anchor="ctr"/>
          <a:lstStyle/>
          <a:p>
            <a:pPr algn="ctr">
              <a:spcAft>
                <a:spcPts val="225"/>
              </a:spcAft>
            </a:pPr>
            <a:r>
              <a:rPr lang="en-US" sz="1013" b="1" dirty="0">
                <a:solidFill>
                  <a:srgbClr val="1F3864"/>
                </a:solidFill>
                <a:latin typeface="Times New Roman" pitchFamily="34" charset="0"/>
                <a:ea typeface="Times New Roman" pitchFamily="34" charset="-122"/>
                <a:cs typeface="Times New Roman" pitchFamily="34" charset="-120"/>
              </a:rPr>
              <a:t>Training-Only Augmentation</a:t>
            </a:r>
            <a:endParaRPr lang="en-US" sz="1013" dirty="0"/>
          </a:p>
          <a:p>
            <a:pPr algn="ctr">
              <a:spcAft>
                <a:spcPts val="225"/>
              </a:spcAft>
            </a:pPr>
            <a:r>
              <a:rPr lang="en-US" sz="825" dirty="0">
                <a:solidFill>
                  <a:srgbClr val="222222"/>
                </a:solidFill>
                <a:latin typeface="Times New Roman" pitchFamily="34" charset="0"/>
                <a:ea typeface="Times New Roman" pitchFamily="34" charset="-122"/>
                <a:cs typeface="Times New Roman" pitchFamily="34" charset="-120"/>
              </a:rPr>
              <a:t>Training split only, where configured</a:t>
            </a:r>
            <a:endParaRPr lang="en-US" sz="1013" dirty="0"/>
          </a:p>
        </p:txBody>
      </p:sp>
      <p:sp>
        <p:nvSpPr>
          <p:cNvPr id="17" name="Shape 15"/>
          <p:cNvSpPr/>
          <p:nvPr/>
        </p:nvSpPr>
        <p:spPr>
          <a:xfrm>
            <a:off x="6947154" y="2914650"/>
            <a:ext cx="1851660" cy="788670"/>
          </a:xfrm>
          <a:prstGeom prst="roundRect">
            <a:avLst>
              <a:gd name="adj" fmla="val 6957"/>
            </a:avLst>
          </a:prstGeom>
          <a:solidFill>
            <a:srgbClr val="D9E2F3"/>
          </a:solidFill>
          <a:ln w="15875">
            <a:solidFill>
              <a:srgbClr val="1F3864"/>
            </a:solidFill>
            <a:prstDash val="solid"/>
          </a:ln>
        </p:spPr>
      </p:sp>
      <p:sp>
        <p:nvSpPr>
          <p:cNvPr id="18" name="Text 16"/>
          <p:cNvSpPr txBox="1"/>
          <p:nvPr/>
        </p:nvSpPr>
        <p:spPr>
          <a:xfrm>
            <a:off x="7002018" y="2914650"/>
            <a:ext cx="1741932" cy="788670"/>
          </a:xfrm>
          <a:prstGeom prst="rect">
            <a:avLst/>
          </a:prstGeom>
          <a:noFill/>
          <a:ln/>
        </p:spPr>
        <p:txBody>
          <a:bodyPr wrap="square" lIns="0" tIns="0" rIns="0" bIns="0" rtlCol="0" anchor="ctr"/>
          <a:lstStyle/>
          <a:p>
            <a:pPr algn="ctr">
              <a:spcAft>
                <a:spcPts val="225"/>
              </a:spcAft>
            </a:pPr>
            <a:r>
              <a:rPr lang="en-US" sz="1013" b="1" dirty="0">
                <a:solidFill>
                  <a:srgbClr val="1F3864"/>
                </a:solidFill>
                <a:latin typeface="Times New Roman" pitchFamily="34" charset="0"/>
                <a:ea typeface="Times New Roman" pitchFamily="34" charset="-122"/>
                <a:cs typeface="Times New Roman" pitchFamily="34" charset="-120"/>
              </a:rPr>
              <a:t>Batching and DataLoader Creation</a:t>
            </a:r>
            <a:endParaRPr lang="en-US" sz="1013" dirty="0"/>
          </a:p>
          <a:p>
            <a:pPr algn="ctr">
              <a:spcAft>
                <a:spcPts val="225"/>
              </a:spcAft>
            </a:pPr>
            <a:r>
              <a:rPr lang="en-US" sz="825" dirty="0">
                <a:solidFill>
                  <a:srgbClr val="222222"/>
                </a:solidFill>
                <a:latin typeface="Times New Roman" pitchFamily="34" charset="0"/>
                <a:ea typeface="Times New Roman" pitchFamily="34" charset="-122"/>
                <a:cs typeface="Times New Roman" pitchFamily="34" charset="-120"/>
              </a:rPr>
              <a:t>Batches with image–label mapping preserved</a:t>
            </a:r>
            <a:endParaRPr lang="en-US" sz="1013" dirty="0"/>
          </a:p>
        </p:txBody>
      </p:sp>
      <p:sp>
        <p:nvSpPr>
          <p:cNvPr id="19" name="Shape 17"/>
          <p:cNvSpPr/>
          <p:nvPr/>
        </p:nvSpPr>
        <p:spPr>
          <a:xfrm>
            <a:off x="2194560" y="2040255"/>
            <a:ext cx="349758" cy="0"/>
          </a:xfrm>
          <a:prstGeom prst="line">
            <a:avLst/>
          </a:prstGeom>
          <a:noFill/>
          <a:ln w="25400">
            <a:solidFill>
              <a:srgbClr val="1F3864"/>
            </a:solidFill>
            <a:prstDash val="solid"/>
            <a:tailEnd type="triangle"/>
          </a:ln>
        </p:spPr>
      </p:sp>
      <p:sp>
        <p:nvSpPr>
          <p:cNvPr id="20" name="Shape 18"/>
          <p:cNvSpPr/>
          <p:nvPr/>
        </p:nvSpPr>
        <p:spPr>
          <a:xfrm>
            <a:off x="2194560" y="3308985"/>
            <a:ext cx="349758" cy="0"/>
          </a:xfrm>
          <a:prstGeom prst="line">
            <a:avLst/>
          </a:prstGeom>
          <a:noFill/>
          <a:ln w="25400">
            <a:solidFill>
              <a:srgbClr val="1F3864"/>
            </a:solidFill>
            <a:prstDash val="solid"/>
            <a:tailEnd type="triangle"/>
          </a:ln>
        </p:spPr>
      </p:sp>
      <p:sp>
        <p:nvSpPr>
          <p:cNvPr id="21" name="Shape 19"/>
          <p:cNvSpPr/>
          <p:nvPr/>
        </p:nvSpPr>
        <p:spPr>
          <a:xfrm>
            <a:off x="4395978" y="2040255"/>
            <a:ext cx="349758" cy="0"/>
          </a:xfrm>
          <a:prstGeom prst="line">
            <a:avLst/>
          </a:prstGeom>
          <a:noFill/>
          <a:ln w="25400">
            <a:solidFill>
              <a:srgbClr val="1F3864"/>
            </a:solidFill>
            <a:prstDash val="solid"/>
            <a:tailEnd type="triangle"/>
          </a:ln>
        </p:spPr>
      </p:sp>
      <p:sp>
        <p:nvSpPr>
          <p:cNvPr id="22" name="Shape 20"/>
          <p:cNvSpPr/>
          <p:nvPr/>
        </p:nvSpPr>
        <p:spPr>
          <a:xfrm>
            <a:off x="4395978" y="3308985"/>
            <a:ext cx="349758" cy="0"/>
          </a:xfrm>
          <a:prstGeom prst="line">
            <a:avLst/>
          </a:prstGeom>
          <a:noFill/>
          <a:ln w="25400">
            <a:solidFill>
              <a:srgbClr val="1F3864"/>
            </a:solidFill>
            <a:prstDash val="solid"/>
            <a:tailEnd type="triangle"/>
          </a:ln>
        </p:spPr>
      </p:sp>
      <p:sp>
        <p:nvSpPr>
          <p:cNvPr id="23" name="Shape 21"/>
          <p:cNvSpPr/>
          <p:nvPr/>
        </p:nvSpPr>
        <p:spPr>
          <a:xfrm>
            <a:off x="6597396" y="2040255"/>
            <a:ext cx="349758" cy="0"/>
          </a:xfrm>
          <a:prstGeom prst="line">
            <a:avLst/>
          </a:prstGeom>
          <a:noFill/>
          <a:ln w="25400">
            <a:solidFill>
              <a:srgbClr val="1F3864"/>
            </a:solidFill>
            <a:prstDash val="solid"/>
            <a:tailEnd type="triangle"/>
          </a:ln>
        </p:spPr>
      </p:sp>
      <p:sp>
        <p:nvSpPr>
          <p:cNvPr id="24" name="Shape 22"/>
          <p:cNvSpPr/>
          <p:nvPr/>
        </p:nvSpPr>
        <p:spPr>
          <a:xfrm>
            <a:off x="6597396" y="3308985"/>
            <a:ext cx="349758" cy="0"/>
          </a:xfrm>
          <a:prstGeom prst="line">
            <a:avLst/>
          </a:prstGeom>
          <a:noFill/>
          <a:ln w="25400">
            <a:solidFill>
              <a:srgbClr val="1F3864"/>
            </a:solidFill>
            <a:prstDash val="solid"/>
            <a:tailEnd type="triangle"/>
          </a:ln>
        </p:spPr>
      </p:sp>
      <p:sp>
        <p:nvSpPr>
          <p:cNvPr id="25" name="Shape 23"/>
          <p:cNvSpPr/>
          <p:nvPr/>
        </p:nvSpPr>
        <p:spPr>
          <a:xfrm>
            <a:off x="7872984" y="2434590"/>
            <a:ext cx="0" cy="240030"/>
          </a:xfrm>
          <a:prstGeom prst="line">
            <a:avLst/>
          </a:prstGeom>
          <a:noFill/>
          <a:ln w="25400">
            <a:solidFill>
              <a:srgbClr val="1F3864"/>
            </a:solidFill>
            <a:prstDash val="solid"/>
          </a:ln>
        </p:spPr>
      </p:sp>
      <p:sp>
        <p:nvSpPr>
          <p:cNvPr id="26" name="Shape 24"/>
          <p:cNvSpPr/>
          <p:nvPr/>
        </p:nvSpPr>
        <p:spPr>
          <a:xfrm flipH="1">
            <a:off x="1268730" y="2674620"/>
            <a:ext cx="6604254" cy="0"/>
          </a:xfrm>
          <a:prstGeom prst="line">
            <a:avLst/>
          </a:prstGeom>
          <a:noFill/>
          <a:ln w="25400">
            <a:solidFill>
              <a:srgbClr val="1F3864"/>
            </a:solidFill>
            <a:prstDash val="solid"/>
          </a:ln>
        </p:spPr>
      </p:sp>
      <p:sp>
        <p:nvSpPr>
          <p:cNvPr id="27" name="Shape 25"/>
          <p:cNvSpPr/>
          <p:nvPr/>
        </p:nvSpPr>
        <p:spPr>
          <a:xfrm>
            <a:off x="1268730" y="2674620"/>
            <a:ext cx="0" cy="240030"/>
          </a:xfrm>
          <a:prstGeom prst="line">
            <a:avLst/>
          </a:prstGeom>
          <a:noFill/>
          <a:ln w="25400">
            <a:solidFill>
              <a:srgbClr val="1F3864"/>
            </a:solidFill>
            <a:prstDash val="solid"/>
            <a:tailEnd type="triangle"/>
          </a:ln>
        </p:spPr>
      </p:sp>
      <p:sp>
        <p:nvSpPr>
          <p:cNvPr id="28" name="Shape 26"/>
          <p:cNvSpPr/>
          <p:nvPr/>
        </p:nvSpPr>
        <p:spPr>
          <a:xfrm>
            <a:off x="7872984" y="3703320"/>
            <a:ext cx="0" cy="480060"/>
          </a:xfrm>
          <a:prstGeom prst="line">
            <a:avLst/>
          </a:prstGeom>
          <a:noFill/>
          <a:ln w="25400">
            <a:solidFill>
              <a:srgbClr val="1F3864"/>
            </a:solidFill>
            <a:prstDash val="solid"/>
            <a:tailEnd type="triangle"/>
          </a:ln>
        </p:spPr>
      </p:sp>
      <p:sp>
        <p:nvSpPr>
          <p:cNvPr id="29" name="Shape 27"/>
          <p:cNvSpPr/>
          <p:nvPr/>
        </p:nvSpPr>
        <p:spPr>
          <a:xfrm>
            <a:off x="342900" y="4183380"/>
            <a:ext cx="8455914" cy="651510"/>
          </a:xfrm>
          <a:prstGeom prst="roundRect">
            <a:avLst>
              <a:gd name="adj" fmla="val 8421"/>
            </a:avLst>
          </a:prstGeom>
          <a:solidFill>
            <a:srgbClr val="1F3864"/>
          </a:solidFill>
          <a:ln w="15875">
            <a:solidFill>
              <a:srgbClr val="1F3864"/>
            </a:solidFill>
            <a:prstDash val="solid"/>
          </a:ln>
        </p:spPr>
      </p:sp>
      <p:sp>
        <p:nvSpPr>
          <p:cNvPr id="30" name="Text 28"/>
          <p:cNvSpPr txBox="1"/>
          <p:nvPr/>
        </p:nvSpPr>
        <p:spPr>
          <a:xfrm>
            <a:off x="397764" y="4183380"/>
            <a:ext cx="8346186" cy="651510"/>
          </a:xfrm>
          <a:prstGeom prst="rect">
            <a:avLst/>
          </a:prstGeom>
          <a:noFill/>
          <a:ln/>
        </p:spPr>
        <p:txBody>
          <a:bodyPr wrap="square" lIns="0" tIns="0" rIns="0" bIns="0" rtlCol="0" anchor="ctr"/>
          <a:lstStyle/>
          <a:p>
            <a:pPr algn="ctr">
              <a:spcAft>
                <a:spcPts val="225"/>
              </a:spcAft>
            </a:pPr>
            <a:r>
              <a:rPr lang="en-US" sz="1013" b="1" dirty="0">
                <a:solidFill>
                  <a:srgbClr val="FFFFFF"/>
                </a:solidFill>
                <a:latin typeface="Times New Roman" pitchFamily="34" charset="0"/>
                <a:ea typeface="Times New Roman" pitchFamily="34" charset="-122"/>
                <a:cs typeface="Times New Roman" pitchFamily="34" charset="-120"/>
              </a:rPr>
              <a:t>OUTPUT</a:t>
            </a:r>
            <a:endParaRPr lang="en-US" sz="1013" dirty="0"/>
          </a:p>
          <a:p>
            <a:pPr algn="ctr">
              <a:spcAft>
                <a:spcPts val="225"/>
              </a:spcAft>
            </a:pPr>
            <a:r>
              <a:rPr lang="en-US" sz="825" dirty="0">
                <a:solidFill>
                  <a:srgbClr val="FFFFFF"/>
                </a:solidFill>
                <a:latin typeface="Times New Roman" pitchFamily="34" charset="0"/>
                <a:ea typeface="Times New Roman" pitchFamily="34" charset="-122"/>
                <a:cs typeface="Times New Roman" pitchFamily="34" charset="-120"/>
              </a:rPr>
              <a:t>Prepared training, validation and test data, ready for deep-learning model training and evaluation</a:t>
            </a:r>
            <a:endParaRPr lang="en-US" sz="1013" dirty="0"/>
          </a:p>
        </p:txBody>
      </p:sp>
      <p:sp>
        <p:nvSpPr>
          <p:cNvPr id="31" name="Text 29"/>
          <p:cNvSpPr txBox="1"/>
          <p:nvPr/>
        </p:nvSpPr>
        <p:spPr>
          <a:xfrm>
            <a:off x="342900" y="5074920"/>
            <a:ext cx="8455914" cy="274320"/>
          </a:xfrm>
          <a:prstGeom prst="rect">
            <a:avLst/>
          </a:prstGeom>
          <a:noFill/>
          <a:ln/>
        </p:spPr>
        <p:txBody>
          <a:bodyPr wrap="square" lIns="0" tIns="0" rIns="0" bIns="0" rtlCol="0" anchor="ctr"/>
          <a:lstStyle/>
          <a:p>
            <a:pPr algn="ctr"/>
            <a:r>
              <a:rPr lang="en-US" sz="1200" dirty="0">
                <a:solidFill>
                  <a:srgbClr val="000000"/>
                </a:solidFill>
                <a:latin typeface="Times New Roman" pitchFamily="34" charset="0"/>
                <a:ea typeface="Times New Roman" pitchFamily="34" charset="-122"/>
                <a:cs typeface="Times New Roman" pitchFamily="34" charset="-120"/>
              </a:rPr>
              <a:t>Figure:. Data Preparation Pipeline for the PlantVillage Dataset.</a:t>
            </a:r>
            <a:endParaRPr lang="en-US" sz="120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txBox="1"/>
          <p:nvPr/>
        </p:nvSpPr>
        <p:spPr>
          <a:xfrm>
            <a:off x="342900" y="994410"/>
            <a:ext cx="8455914" cy="445770"/>
          </a:xfrm>
          <a:prstGeom prst="rect">
            <a:avLst/>
          </a:prstGeom>
          <a:noFill/>
          <a:ln/>
        </p:spPr>
        <p:txBody>
          <a:bodyPr wrap="square" lIns="0" tIns="0" rIns="0" bIns="0" rtlCol="0" anchor="ctr"/>
          <a:lstStyle/>
          <a:p>
            <a:r>
              <a:rPr lang="en-US" sz="2400" b="1" dirty="0">
                <a:solidFill>
                  <a:srgbClr val="8B4513"/>
                </a:solidFill>
                <a:latin typeface="Times New Roman" pitchFamily="34" charset="0"/>
                <a:ea typeface="Times New Roman" pitchFamily="34" charset="-122"/>
                <a:cs typeface="Times New Roman" pitchFamily="34" charset="-120"/>
              </a:rPr>
              <a:t>17.1. Proposed System Architecture</a:t>
            </a:r>
            <a:endParaRPr lang="en-US" sz="2400" dirty="0"/>
          </a:p>
        </p:txBody>
      </p:sp>
      <p:sp>
        <p:nvSpPr>
          <p:cNvPr id="3" name="Text 1"/>
          <p:cNvSpPr txBox="1"/>
          <p:nvPr/>
        </p:nvSpPr>
        <p:spPr>
          <a:xfrm>
            <a:off x="342900" y="1474470"/>
            <a:ext cx="4114800" cy="150876"/>
          </a:xfrm>
          <a:prstGeom prst="rect">
            <a:avLst/>
          </a:prstGeom>
          <a:noFill/>
          <a:ln/>
        </p:spPr>
        <p:txBody>
          <a:bodyPr wrap="square" lIns="0" tIns="0" rIns="0" bIns="0" rtlCol="0" anchor="ctr"/>
          <a:lstStyle/>
          <a:p>
            <a:r>
              <a:rPr lang="en-US" sz="750" b="1" dirty="0">
                <a:solidFill>
                  <a:srgbClr val="1F8A8A"/>
                </a:solidFill>
                <a:latin typeface="Times New Roman" pitchFamily="34" charset="0"/>
                <a:ea typeface="Times New Roman" pitchFamily="34" charset="-122"/>
                <a:cs typeface="Times New Roman" pitchFamily="34" charset="-120"/>
              </a:rPr>
              <a:t>TRAINING AND EVALUATION PHASE (offline)</a:t>
            </a:r>
            <a:endParaRPr lang="en-US" sz="750" dirty="0"/>
          </a:p>
        </p:txBody>
      </p:sp>
      <p:sp>
        <p:nvSpPr>
          <p:cNvPr id="4" name="Text 2"/>
          <p:cNvSpPr txBox="1"/>
          <p:nvPr/>
        </p:nvSpPr>
        <p:spPr>
          <a:xfrm>
            <a:off x="342900" y="2441448"/>
            <a:ext cx="4114800" cy="150876"/>
          </a:xfrm>
          <a:prstGeom prst="rect">
            <a:avLst/>
          </a:prstGeom>
          <a:noFill/>
          <a:ln/>
        </p:spPr>
        <p:txBody>
          <a:bodyPr wrap="square" lIns="0" tIns="0" rIns="0" bIns="0" rtlCol="0" anchor="ctr"/>
          <a:lstStyle/>
          <a:p>
            <a:r>
              <a:rPr lang="en-US" sz="750" b="1" dirty="0">
                <a:solidFill>
                  <a:srgbClr val="1F8A8A"/>
                </a:solidFill>
                <a:latin typeface="Times New Roman" pitchFamily="34" charset="0"/>
                <a:ea typeface="Times New Roman" pitchFamily="34" charset="-122"/>
                <a:cs typeface="Times New Roman" pitchFamily="34" charset="-120"/>
              </a:rPr>
              <a:t>INFERENCE PHASE (per uploaded image)</a:t>
            </a:r>
            <a:endParaRPr lang="en-US" sz="750" dirty="0"/>
          </a:p>
        </p:txBody>
      </p:sp>
      <p:sp>
        <p:nvSpPr>
          <p:cNvPr id="5" name="Shape 3"/>
          <p:cNvSpPr/>
          <p:nvPr/>
        </p:nvSpPr>
        <p:spPr>
          <a:xfrm>
            <a:off x="342900" y="1645920"/>
            <a:ext cx="1885950" cy="685800"/>
          </a:xfrm>
          <a:prstGeom prst="roundRect">
            <a:avLst>
              <a:gd name="adj" fmla="val 8000"/>
            </a:avLst>
          </a:prstGeom>
          <a:solidFill>
            <a:srgbClr val="D9E2F3"/>
          </a:solidFill>
          <a:ln w="15875">
            <a:solidFill>
              <a:srgbClr val="1F3864"/>
            </a:solidFill>
            <a:prstDash val="solid"/>
          </a:ln>
        </p:spPr>
      </p:sp>
      <p:sp>
        <p:nvSpPr>
          <p:cNvPr id="6" name="Text 4"/>
          <p:cNvSpPr txBox="1"/>
          <p:nvPr/>
        </p:nvSpPr>
        <p:spPr>
          <a:xfrm>
            <a:off x="384048" y="1645920"/>
            <a:ext cx="1803654" cy="685800"/>
          </a:xfrm>
          <a:prstGeom prst="rect">
            <a:avLst/>
          </a:prstGeom>
          <a:noFill/>
          <a:ln/>
        </p:spPr>
        <p:txBody>
          <a:bodyPr wrap="square" lIns="0" tIns="0" rIns="0" bIns="0" rtlCol="0" anchor="ctr"/>
          <a:lstStyle/>
          <a:p>
            <a:pPr algn="ctr">
              <a:spcAft>
                <a:spcPts val="150"/>
              </a:spcAft>
            </a:pPr>
            <a:r>
              <a:rPr lang="en-US" sz="900" b="1" dirty="0">
                <a:solidFill>
                  <a:srgbClr val="1F3864"/>
                </a:solidFill>
                <a:latin typeface="Times New Roman" pitchFamily="34" charset="0"/>
                <a:ea typeface="Times New Roman" pitchFamily="34" charset="-122"/>
                <a:cs typeface="Times New Roman" pitchFamily="34" charset="-120"/>
              </a:rPr>
              <a:t>PlantVillage Dataset</a:t>
            </a:r>
            <a:endParaRPr lang="en-US" sz="900" dirty="0"/>
          </a:p>
          <a:p>
            <a:pPr algn="ctr">
              <a:spcAft>
                <a:spcPts val="150"/>
              </a:spcAft>
            </a:pPr>
            <a:r>
              <a:rPr lang="en-US" sz="713" dirty="0">
                <a:solidFill>
                  <a:srgbClr val="222222"/>
                </a:solidFill>
                <a:latin typeface="Times New Roman" pitchFamily="34" charset="0"/>
                <a:ea typeface="Times New Roman" pitchFamily="34" charset="-122"/>
                <a:cs typeface="Times New Roman" pitchFamily="34" charset="-120"/>
              </a:rPr>
              <a:t>Kaggle · 67,118 images · 29 classes · 9 plant species</a:t>
            </a:r>
            <a:endParaRPr lang="en-US" sz="900" dirty="0"/>
          </a:p>
        </p:txBody>
      </p:sp>
      <p:sp>
        <p:nvSpPr>
          <p:cNvPr id="7" name="Shape 5"/>
          <p:cNvSpPr/>
          <p:nvPr/>
        </p:nvSpPr>
        <p:spPr>
          <a:xfrm>
            <a:off x="2532888" y="1645920"/>
            <a:ext cx="1885950" cy="685800"/>
          </a:xfrm>
          <a:prstGeom prst="roundRect">
            <a:avLst>
              <a:gd name="adj" fmla="val 8000"/>
            </a:avLst>
          </a:prstGeom>
          <a:solidFill>
            <a:srgbClr val="D9E2F3"/>
          </a:solidFill>
          <a:ln w="15875">
            <a:solidFill>
              <a:srgbClr val="1F3864"/>
            </a:solidFill>
            <a:prstDash val="solid"/>
          </a:ln>
        </p:spPr>
      </p:sp>
      <p:sp>
        <p:nvSpPr>
          <p:cNvPr id="8" name="Text 6"/>
          <p:cNvSpPr txBox="1"/>
          <p:nvPr/>
        </p:nvSpPr>
        <p:spPr>
          <a:xfrm>
            <a:off x="2574036" y="1645920"/>
            <a:ext cx="1803654" cy="685800"/>
          </a:xfrm>
          <a:prstGeom prst="rect">
            <a:avLst/>
          </a:prstGeom>
          <a:noFill/>
          <a:ln/>
        </p:spPr>
        <p:txBody>
          <a:bodyPr wrap="square" lIns="0" tIns="0" rIns="0" bIns="0" rtlCol="0" anchor="ctr"/>
          <a:lstStyle/>
          <a:p>
            <a:pPr algn="ctr">
              <a:spcAft>
                <a:spcPts val="150"/>
              </a:spcAft>
            </a:pPr>
            <a:r>
              <a:rPr lang="en-US" sz="900" b="1" dirty="0">
                <a:solidFill>
                  <a:srgbClr val="1F3864"/>
                </a:solidFill>
                <a:latin typeface="Times New Roman" pitchFamily="34" charset="0"/>
                <a:ea typeface="Times New Roman" pitchFamily="34" charset="-122"/>
                <a:cs typeface="Times New Roman" pitchFamily="34" charset="-120"/>
              </a:rPr>
              <a:t>Dataset Preparation</a:t>
            </a:r>
            <a:endParaRPr lang="en-US" sz="900" dirty="0"/>
          </a:p>
          <a:p>
            <a:pPr algn="ctr">
              <a:spcAft>
                <a:spcPts val="150"/>
              </a:spcAft>
            </a:pPr>
            <a:r>
              <a:rPr lang="en-US" sz="713" dirty="0">
                <a:solidFill>
                  <a:srgbClr val="222222"/>
                </a:solidFill>
                <a:latin typeface="Times New Roman" pitchFamily="34" charset="0"/>
                <a:ea typeface="Times New Roman" pitchFamily="34" charset="-122"/>
                <a:cs typeface="Times New Roman" pitchFamily="34" charset="-120"/>
              </a:rPr>
              <a:t>Inspection, label check, integrity validation; resize 224 × 224; tensor + normalization; training-only augmentation</a:t>
            </a:r>
            <a:endParaRPr lang="en-US" sz="900" dirty="0"/>
          </a:p>
        </p:txBody>
      </p:sp>
      <p:sp>
        <p:nvSpPr>
          <p:cNvPr id="9" name="Shape 7"/>
          <p:cNvSpPr/>
          <p:nvPr/>
        </p:nvSpPr>
        <p:spPr>
          <a:xfrm>
            <a:off x="4722876" y="1645920"/>
            <a:ext cx="1885950" cy="685800"/>
          </a:xfrm>
          <a:prstGeom prst="roundRect">
            <a:avLst>
              <a:gd name="adj" fmla="val 8000"/>
            </a:avLst>
          </a:prstGeom>
          <a:solidFill>
            <a:srgbClr val="D9E2F3"/>
          </a:solidFill>
          <a:ln w="15875">
            <a:solidFill>
              <a:srgbClr val="1F3864"/>
            </a:solidFill>
            <a:prstDash val="solid"/>
          </a:ln>
        </p:spPr>
      </p:sp>
      <p:sp>
        <p:nvSpPr>
          <p:cNvPr id="10" name="Text 8"/>
          <p:cNvSpPr txBox="1"/>
          <p:nvPr/>
        </p:nvSpPr>
        <p:spPr>
          <a:xfrm>
            <a:off x="4764024" y="1645920"/>
            <a:ext cx="1803654" cy="685800"/>
          </a:xfrm>
          <a:prstGeom prst="rect">
            <a:avLst/>
          </a:prstGeom>
          <a:noFill/>
          <a:ln/>
        </p:spPr>
        <p:txBody>
          <a:bodyPr wrap="square" lIns="0" tIns="0" rIns="0" bIns="0" rtlCol="0" anchor="ctr"/>
          <a:lstStyle/>
          <a:p>
            <a:pPr algn="ctr">
              <a:spcAft>
                <a:spcPts val="150"/>
              </a:spcAft>
            </a:pPr>
            <a:r>
              <a:rPr lang="en-US" sz="900" b="1" dirty="0">
                <a:solidFill>
                  <a:srgbClr val="1F3864"/>
                </a:solidFill>
                <a:latin typeface="Times New Roman" pitchFamily="34" charset="0"/>
                <a:ea typeface="Times New Roman" pitchFamily="34" charset="-122"/>
                <a:cs typeface="Times New Roman" pitchFamily="34" charset="-120"/>
              </a:rPr>
              <a:t>Candidate Architectures</a:t>
            </a:r>
            <a:endParaRPr lang="en-US" sz="900" dirty="0"/>
          </a:p>
          <a:p>
            <a:pPr algn="ctr">
              <a:spcAft>
                <a:spcPts val="150"/>
              </a:spcAft>
            </a:pPr>
            <a:r>
              <a:rPr lang="en-US" sz="713" dirty="0">
                <a:solidFill>
                  <a:srgbClr val="222222"/>
                </a:solidFill>
                <a:latin typeface="Times New Roman" pitchFamily="34" charset="0"/>
                <a:ea typeface="Times New Roman" pitchFamily="34" charset="-122"/>
                <a:cs typeface="Times New Roman" pitchFamily="34" charset="-120"/>
              </a:rPr>
              <a:t>ConvNeXt · EfficientNet · ResNet (candidate / comparative); transformer-based (candidate)</a:t>
            </a:r>
            <a:endParaRPr lang="en-US" sz="900" dirty="0"/>
          </a:p>
        </p:txBody>
      </p:sp>
      <p:sp>
        <p:nvSpPr>
          <p:cNvPr id="11" name="Shape 9"/>
          <p:cNvSpPr/>
          <p:nvPr/>
        </p:nvSpPr>
        <p:spPr>
          <a:xfrm>
            <a:off x="6912864" y="1645920"/>
            <a:ext cx="1885950" cy="685800"/>
          </a:xfrm>
          <a:prstGeom prst="roundRect">
            <a:avLst>
              <a:gd name="adj" fmla="val 8000"/>
            </a:avLst>
          </a:prstGeom>
          <a:solidFill>
            <a:srgbClr val="D9E2F3"/>
          </a:solidFill>
          <a:ln w="15875">
            <a:solidFill>
              <a:srgbClr val="1F3864"/>
            </a:solidFill>
            <a:prstDash val="dash"/>
          </a:ln>
        </p:spPr>
      </p:sp>
      <p:sp>
        <p:nvSpPr>
          <p:cNvPr id="12" name="Text 10"/>
          <p:cNvSpPr txBox="1"/>
          <p:nvPr/>
        </p:nvSpPr>
        <p:spPr>
          <a:xfrm>
            <a:off x="6954012" y="1645920"/>
            <a:ext cx="1803654" cy="685800"/>
          </a:xfrm>
          <a:prstGeom prst="rect">
            <a:avLst/>
          </a:prstGeom>
          <a:noFill/>
          <a:ln/>
        </p:spPr>
        <p:txBody>
          <a:bodyPr wrap="square" lIns="0" tIns="0" rIns="0" bIns="0" rtlCol="0" anchor="ctr"/>
          <a:lstStyle/>
          <a:p>
            <a:pPr algn="ctr">
              <a:spcAft>
                <a:spcPts val="150"/>
              </a:spcAft>
            </a:pPr>
            <a:r>
              <a:rPr lang="en-US" sz="900" b="1" dirty="0">
                <a:solidFill>
                  <a:srgbClr val="1F3864"/>
                </a:solidFill>
                <a:latin typeface="Times New Roman" pitchFamily="34" charset="0"/>
                <a:ea typeface="Times New Roman" pitchFamily="34" charset="-122"/>
                <a:cs typeface="Times New Roman" pitchFamily="34" charset="-120"/>
              </a:rPr>
              <a:t>Selected Trained Models</a:t>
            </a:r>
            <a:endParaRPr lang="en-US" sz="900" dirty="0"/>
          </a:p>
          <a:p>
            <a:pPr algn="ctr">
              <a:spcAft>
                <a:spcPts val="150"/>
              </a:spcAft>
            </a:pPr>
            <a:r>
              <a:rPr lang="en-US" sz="713" dirty="0">
                <a:solidFill>
                  <a:srgbClr val="222222"/>
                </a:solidFill>
                <a:latin typeface="Times New Roman" pitchFamily="34" charset="0"/>
                <a:ea typeface="Times New Roman" pitchFamily="34" charset="-122"/>
                <a:cs typeface="Times New Roman" pitchFamily="34" charset="-120"/>
              </a:rPr>
              <a:t>M1 … MK chosen after comparison (proposed ensemble members)</a:t>
            </a:r>
            <a:endParaRPr lang="en-US" sz="900" dirty="0"/>
          </a:p>
        </p:txBody>
      </p:sp>
      <p:sp>
        <p:nvSpPr>
          <p:cNvPr id="13" name="Shape 11"/>
          <p:cNvSpPr/>
          <p:nvPr/>
        </p:nvSpPr>
        <p:spPr>
          <a:xfrm>
            <a:off x="342900" y="2606040"/>
            <a:ext cx="1885950" cy="685800"/>
          </a:xfrm>
          <a:prstGeom prst="roundRect">
            <a:avLst>
              <a:gd name="adj" fmla="val 8000"/>
            </a:avLst>
          </a:prstGeom>
          <a:solidFill>
            <a:srgbClr val="1F8A8A"/>
          </a:solidFill>
          <a:ln w="15875">
            <a:solidFill>
              <a:srgbClr val="1F3864"/>
            </a:solidFill>
            <a:prstDash val="solid"/>
          </a:ln>
        </p:spPr>
      </p:sp>
      <p:sp>
        <p:nvSpPr>
          <p:cNvPr id="14" name="Text 12"/>
          <p:cNvSpPr txBox="1"/>
          <p:nvPr/>
        </p:nvSpPr>
        <p:spPr>
          <a:xfrm>
            <a:off x="384048" y="2606040"/>
            <a:ext cx="1803654" cy="685800"/>
          </a:xfrm>
          <a:prstGeom prst="rect">
            <a:avLst/>
          </a:prstGeom>
          <a:noFill/>
          <a:ln/>
        </p:spPr>
        <p:txBody>
          <a:bodyPr wrap="square" lIns="0" tIns="0" rIns="0" bIns="0" rtlCol="0" anchor="ctr"/>
          <a:lstStyle/>
          <a:p>
            <a:pPr algn="ctr">
              <a:spcAft>
                <a:spcPts val="150"/>
              </a:spcAft>
            </a:pPr>
            <a:r>
              <a:rPr lang="en-US" sz="900" b="1" dirty="0">
                <a:solidFill>
                  <a:srgbClr val="FFFFFF"/>
                </a:solidFill>
                <a:latin typeface="Times New Roman" pitchFamily="34" charset="0"/>
                <a:ea typeface="Times New Roman" pitchFamily="34" charset="-122"/>
                <a:cs typeface="Times New Roman" pitchFamily="34" charset="-120"/>
              </a:rPr>
              <a:t>INPUT: Leaf Image</a:t>
            </a:r>
            <a:endParaRPr lang="en-US" sz="900" dirty="0"/>
          </a:p>
          <a:p>
            <a:pPr algn="ctr">
              <a:spcAft>
                <a:spcPts val="150"/>
              </a:spcAft>
            </a:pPr>
            <a:r>
              <a:rPr lang="en-US" sz="713" dirty="0">
                <a:solidFill>
                  <a:srgbClr val="FFFFFF"/>
                </a:solidFill>
                <a:latin typeface="Times New Roman" pitchFamily="34" charset="0"/>
                <a:ea typeface="Times New Roman" pitchFamily="34" charset="-122"/>
                <a:cs typeface="Times New Roman" pitchFamily="34" charset="-120"/>
              </a:rPr>
              <a:t>User-provided plant leaf image</a:t>
            </a:r>
            <a:endParaRPr lang="en-US" sz="900" dirty="0"/>
          </a:p>
        </p:txBody>
      </p:sp>
      <p:sp>
        <p:nvSpPr>
          <p:cNvPr id="15" name="Shape 13"/>
          <p:cNvSpPr/>
          <p:nvPr/>
        </p:nvSpPr>
        <p:spPr>
          <a:xfrm>
            <a:off x="2532888" y="2606040"/>
            <a:ext cx="1885950" cy="685800"/>
          </a:xfrm>
          <a:prstGeom prst="roundRect">
            <a:avLst>
              <a:gd name="adj" fmla="val 8000"/>
            </a:avLst>
          </a:prstGeom>
          <a:solidFill>
            <a:srgbClr val="D9E2F3"/>
          </a:solidFill>
          <a:ln w="15875">
            <a:solidFill>
              <a:srgbClr val="1F3864"/>
            </a:solidFill>
            <a:prstDash val="solid"/>
          </a:ln>
        </p:spPr>
      </p:sp>
      <p:sp>
        <p:nvSpPr>
          <p:cNvPr id="16" name="Text 14"/>
          <p:cNvSpPr txBox="1"/>
          <p:nvPr/>
        </p:nvSpPr>
        <p:spPr>
          <a:xfrm>
            <a:off x="2574036" y="2606040"/>
            <a:ext cx="1803654" cy="685800"/>
          </a:xfrm>
          <a:prstGeom prst="rect">
            <a:avLst/>
          </a:prstGeom>
          <a:noFill/>
          <a:ln/>
        </p:spPr>
        <p:txBody>
          <a:bodyPr wrap="square" lIns="0" tIns="0" rIns="0" bIns="0" rtlCol="0" anchor="ctr"/>
          <a:lstStyle/>
          <a:p>
            <a:pPr algn="ctr">
              <a:spcAft>
                <a:spcPts val="150"/>
              </a:spcAft>
            </a:pPr>
            <a:r>
              <a:rPr lang="en-US" sz="900" b="1" dirty="0">
                <a:solidFill>
                  <a:srgbClr val="1F3864"/>
                </a:solidFill>
                <a:latin typeface="Times New Roman" pitchFamily="34" charset="0"/>
                <a:ea typeface="Times New Roman" pitchFamily="34" charset="-122"/>
                <a:cs typeface="Times New Roman" pitchFamily="34" charset="-120"/>
              </a:rPr>
              <a:t>Image Validation</a:t>
            </a:r>
            <a:endParaRPr lang="en-US" sz="900" dirty="0"/>
          </a:p>
          <a:p>
            <a:pPr algn="ctr">
              <a:spcAft>
                <a:spcPts val="150"/>
              </a:spcAft>
            </a:pPr>
            <a:r>
              <a:rPr lang="en-US" sz="713" dirty="0">
                <a:solidFill>
                  <a:srgbClr val="222222"/>
                </a:solidFill>
                <a:latin typeface="Times New Roman" pitchFamily="34" charset="0"/>
                <a:ea typeface="Times New Roman" pitchFamily="34" charset="-122"/>
                <a:cs typeface="Times New Roman" pitchFamily="34" charset="-120"/>
              </a:rPr>
              <a:t>Readable, supported image? Invalid → error / retry message</a:t>
            </a:r>
            <a:endParaRPr lang="en-US" sz="900" dirty="0"/>
          </a:p>
        </p:txBody>
      </p:sp>
      <p:sp>
        <p:nvSpPr>
          <p:cNvPr id="17" name="Shape 15"/>
          <p:cNvSpPr/>
          <p:nvPr/>
        </p:nvSpPr>
        <p:spPr>
          <a:xfrm>
            <a:off x="4722876" y="2606040"/>
            <a:ext cx="1885950" cy="685800"/>
          </a:xfrm>
          <a:prstGeom prst="roundRect">
            <a:avLst>
              <a:gd name="adj" fmla="val 8000"/>
            </a:avLst>
          </a:prstGeom>
          <a:solidFill>
            <a:srgbClr val="D9E2F3"/>
          </a:solidFill>
          <a:ln w="15875">
            <a:solidFill>
              <a:srgbClr val="1F3864"/>
            </a:solidFill>
            <a:prstDash val="solid"/>
          </a:ln>
        </p:spPr>
      </p:sp>
      <p:sp>
        <p:nvSpPr>
          <p:cNvPr id="18" name="Text 16"/>
          <p:cNvSpPr txBox="1"/>
          <p:nvPr/>
        </p:nvSpPr>
        <p:spPr>
          <a:xfrm>
            <a:off x="4764024" y="2606040"/>
            <a:ext cx="1803654" cy="685800"/>
          </a:xfrm>
          <a:prstGeom prst="rect">
            <a:avLst/>
          </a:prstGeom>
          <a:noFill/>
          <a:ln/>
        </p:spPr>
        <p:txBody>
          <a:bodyPr wrap="square" lIns="0" tIns="0" rIns="0" bIns="0" rtlCol="0" anchor="ctr"/>
          <a:lstStyle/>
          <a:p>
            <a:pPr algn="ctr">
              <a:spcAft>
                <a:spcPts val="150"/>
              </a:spcAft>
            </a:pPr>
            <a:r>
              <a:rPr lang="en-US" sz="900" b="1" dirty="0">
                <a:solidFill>
                  <a:srgbClr val="1F3864"/>
                </a:solidFill>
                <a:latin typeface="Times New Roman" pitchFamily="34" charset="0"/>
                <a:ea typeface="Times New Roman" pitchFamily="34" charset="-122"/>
                <a:cs typeface="Times New Roman" pitchFamily="34" charset="-120"/>
              </a:rPr>
              <a:t>Inference Preprocessing</a:t>
            </a:r>
            <a:endParaRPr lang="en-US" sz="900" dirty="0"/>
          </a:p>
          <a:p>
            <a:pPr algn="ctr">
              <a:spcAft>
                <a:spcPts val="150"/>
              </a:spcAft>
            </a:pPr>
            <a:r>
              <a:rPr lang="en-US" sz="713" dirty="0">
                <a:solidFill>
                  <a:srgbClr val="222222"/>
                </a:solidFill>
                <a:latin typeface="Times New Roman" pitchFamily="34" charset="0"/>
                <a:ea typeface="Times New Roman" pitchFamily="34" charset="-122"/>
                <a:cs typeface="Times New Roman" pitchFamily="34" charset="-120"/>
              </a:rPr>
              <a:t>Resize 224 × 224; tensor conversion; normalization (no augmentation)</a:t>
            </a:r>
            <a:endParaRPr lang="en-US" sz="900" dirty="0"/>
          </a:p>
        </p:txBody>
      </p:sp>
      <p:sp>
        <p:nvSpPr>
          <p:cNvPr id="19" name="Shape 17"/>
          <p:cNvSpPr/>
          <p:nvPr/>
        </p:nvSpPr>
        <p:spPr>
          <a:xfrm>
            <a:off x="6912864" y="2606040"/>
            <a:ext cx="1885950" cy="685800"/>
          </a:xfrm>
          <a:prstGeom prst="roundRect">
            <a:avLst>
              <a:gd name="adj" fmla="val 8000"/>
            </a:avLst>
          </a:prstGeom>
          <a:solidFill>
            <a:srgbClr val="D9E2F3"/>
          </a:solidFill>
          <a:ln w="15875">
            <a:solidFill>
              <a:srgbClr val="1F3864"/>
            </a:solidFill>
            <a:prstDash val="solid"/>
          </a:ln>
        </p:spPr>
      </p:sp>
      <p:sp>
        <p:nvSpPr>
          <p:cNvPr id="20" name="Text 18"/>
          <p:cNvSpPr txBox="1"/>
          <p:nvPr/>
        </p:nvSpPr>
        <p:spPr>
          <a:xfrm>
            <a:off x="6954012" y="2606040"/>
            <a:ext cx="1803654" cy="685800"/>
          </a:xfrm>
          <a:prstGeom prst="rect">
            <a:avLst/>
          </a:prstGeom>
          <a:noFill/>
          <a:ln/>
        </p:spPr>
        <p:txBody>
          <a:bodyPr wrap="square" lIns="0" tIns="0" rIns="0" bIns="0" rtlCol="0" anchor="ctr"/>
          <a:lstStyle/>
          <a:p>
            <a:pPr algn="ctr">
              <a:spcAft>
                <a:spcPts val="150"/>
              </a:spcAft>
            </a:pPr>
            <a:r>
              <a:rPr lang="en-US" sz="900" b="1" dirty="0">
                <a:solidFill>
                  <a:srgbClr val="1F3864"/>
                </a:solidFill>
                <a:latin typeface="Times New Roman" pitchFamily="34" charset="0"/>
                <a:ea typeface="Times New Roman" pitchFamily="34" charset="-122"/>
                <a:cs typeface="Times New Roman" pitchFamily="34" charset="-120"/>
              </a:rPr>
              <a:t>Model Inference</a:t>
            </a:r>
            <a:endParaRPr lang="en-US" sz="900" dirty="0"/>
          </a:p>
          <a:p>
            <a:pPr algn="ctr">
              <a:spcAft>
                <a:spcPts val="150"/>
              </a:spcAft>
            </a:pPr>
            <a:r>
              <a:rPr lang="en-US" sz="713" dirty="0">
                <a:solidFill>
                  <a:srgbClr val="222222"/>
                </a:solidFill>
                <a:latin typeface="Times New Roman" pitchFamily="34" charset="0"/>
                <a:ea typeface="Times New Roman" pitchFamily="34" charset="-122"/>
                <a:cs typeface="Times New Roman" pitchFamily="34" charset="-120"/>
              </a:rPr>
              <a:t>Selected trained models M1 … MK → class scores</a:t>
            </a:r>
            <a:endParaRPr lang="en-US" sz="900" dirty="0"/>
          </a:p>
        </p:txBody>
      </p:sp>
      <p:sp>
        <p:nvSpPr>
          <p:cNvPr id="21" name="Shape 19"/>
          <p:cNvSpPr/>
          <p:nvPr/>
        </p:nvSpPr>
        <p:spPr>
          <a:xfrm>
            <a:off x="6912864" y="3511296"/>
            <a:ext cx="1885950" cy="685800"/>
          </a:xfrm>
          <a:prstGeom prst="roundRect">
            <a:avLst>
              <a:gd name="adj" fmla="val 8000"/>
            </a:avLst>
          </a:prstGeom>
          <a:solidFill>
            <a:srgbClr val="D9E2F3"/>
          </a:solidFill>
          <a:ln w="15875">
            <a:solidFill>
              <a:srgbClr val="1F3864"/>
            </a:solidFill>
            <a:prstDash val="dash"/>
          </a:ln>
        </p:spPr>
      </p:sp>
      <p:sp>
        <p:nvSpPr>
          <p:cNvPr id="22" name="Text 20"/>
          <p:cNvSpPr txBox="1"/>
          <p:nvPr/>
        </p:nvSpPr>
        <p:spPr>
          <a:xfrm>
            <a:off x="6954012" y="3511296"/>
            <a:ext cx="1803654" cy="685800"/>
          </a:xfrm>
          <a:prstGeom prst="rect">
            <a:avLst/>
          </a:prstGeom>
          <a:noFill/>
          <a:ln/>
        </p:spPr>
        <p:txBody>
          <a:bodyPr wrap="square" lIns="0" tIns="0" rIns="0" bIns="0" rtlCol="0" anchor="ctr"/>
          <a:lstStyle/>
          <a:p>
            <a:pPr algn="ctr">
              <a:spcAft>
                <a:spcPts val="150"/>
              </a:spcAft>
            </a:pPr>
            <a:r>
              <a:rPr lang="en-US" sz="900" b="1" dirty="0">
                <a:solidFill>
                  <a:srgbClr val="1F3864"/>
                </a:solidFill>
                <a:latin typeface="Times New Roman" pitchFamily="34" charset="0"/>
                <a:ea typeface="Times New Roman" pitchFamily="34" charset="-122"/>
                <a:cs typeface="Times New Roman" pitchFamily="34" charset="-120"/>
              </a:rPr>
              <a:t>Ensemble Prediction</a:t>
            </a:r>
            <a:endParaRPr lang="en-US" sz="900" dirty="0"/>
          </a:p>
          <a:p>
            <a:pPr algn="ctr">
              <a:spcAft>
                <a:spcPts val="150"/>
              </a:spcAft>
            </a:pPr>
            <a:r>
              <a:rPr lang="en-US" sz="713" dirty="0">
                <a:solidFill>
                  <a:srgbClr val="222222"/>
                </a:solidFill>
                <a:latin typeface="Times New Roman" pitchFamily="34" charset="0"/>
                <a:ea typeface="Times New Roman" pitchFamily="34" charset="-122"/>
                <a:cs typeface="Times New Roman" pitchFamily="34" charset="-120"/>
              </a:rPr>
              <a:t>Combine model outputs (strategy: proposed)</a:t>
            </a:r>
            <a:endParaRPr lang="en-US" sz="900" dirty="0"/>
          </a:p>
        </p:txBody>
      </p:sp>
      <p:sp>
        <p:nvSpPr>
          <p:cNvPr id="23" name="Shape 21"/>
          <p:cNvSpPr/>
          <p:nvPr/>
        </p:nvSpPr>
        <p:spPr>
          <a:xfrm>
            <a:off x="4722876" y="3511296"/>
            <a:ext cx="1885950" cy="685800"/>
          </a:xfrm>
          <a:prstGeom prst="roundRect">
            <a:avLst>
              <a:gd name="adj" fmla="val 8000"/>
            </a:avLst>
          </a:prstGeom>
          <a:solidFill>
            <a:srgbClr val="D9E2F3"/>
          </a:solidFill>
          <a:ln w="15875">
            <a:solidFill>
              <a:srgbClr val="1F3864"/>
            </a:solidFill>
            <a:prstDash val="dash"/>
          </a:ln>
        </p:spPr>
      </p:sp>
      <p:sp>
        <p:nvSpPr>
          <p:cNvPr id="24" name="Text 22"/>
          <p:cNvSpPr txBox="1"/>
          <p:nvPr/>
        </p:nvSpPr>
        <p:spPr>
          <a:xfrm>
            <a:off x="4764024" y="3511296"/>
            <a:ext cx="1803654" cy="685800"/>
          </a:xfrm>
          <a:prstGeom prst="rect">
            <a:avLst/>
          </a:prstGeom>
          <a:noFill/>
          <a:ln/>
        </p:spPr>
        <p:txBody>
          <a:bodyPr wrap="square" lIns="0" tIns="0" rIns="0" bIns="0" rtlCol="0" anchor="ctr"/>
          <a:lstStyle/>
          <a:p>
            <a:pPr algn="ctr">
              <a:spcAft>
                <a:spcPts val="150"/>
              </a:spcAft>
            </a:pPr>
            <a:r>
              <a:rPr lang="en-US" sz="900" b="1" dirty="0">
                <a:solidFill>
                  <a:srgbClr val="1F3864"/>
                </a:solidFill>
                <a:latin typeface="Times New Roman" pitchFamily="34" charset="0"/>
                <a:ea typeface="Times New Roman" pitchFamily="34" charset="-122"/>
                <a:cs typeface="Times New Roman" pitchFamily="34" charset="-120"/>
              </a:rPr>
              <a:t>Reliability Assessment</a:t>
            </a:r>
            <a:endParaRPr lang="en-US" sz="900" dirty="0"/>
          </a:p>
          <a:p>
            <a:pPr algn="ctr">
              <a:spcAft>
                <a:spcPts val="150"/>
              </a:spcAft>
            </a:pPr>
            <a:r>
              <a:rPr lang="en-US" sz="713" dirty="0">
                <a:solidFill>
                  <a:srgbClr val="222222"/>
                </a:solidFill>
                <a:latin typeface="Times New Roman" pitchFamily="34" charset="0"/>
                <a:ea typeface="Times New Roman" pitchFamily="34" charset="-122"/>
                <a:cs typeface="Times New Roman" pitchFamily="34" charset="-120"/>
              </a:rPr>
              <a:t>Confidence, model agreement, uncertainty (proposed)</a:t>
            </a:r>
            <a:endParaRPr lang="en-US" sz="900" dirty="0"/>
          </a:p>
        </p:txBody>
      </p:sp>
      <p:sp>
        <p:nvSpPr>
          <p:cNvPr id="25" name="Shape 23"/>
          <p:cNvSpPr/>
          <p:nvPr/>
        </p:nvSpPr>
        <p:spPr>
          <a:xfrm>
            <a:off x="2793492" y="3497580"/>
            <a:ext cx="1371600" cy="713232"/>
          </a:xfrm>
          <a:prstGeom prst="diamond">
            <a:avLst/>
          </a:prstGeom>
          <a:solidFill>
            <a:srgbClr val="FFFFFF"/>
          </a:solidFill>
          <a:ln w="19050">
            <a:solidFill>
              <a:srgbClr val="1F3864"/>
            </a:solidFill>
            <a:prstDash val="solid"/>
          </a:ln>
        </p:spPr>
      </p:sp>
      <p:sp>
        <p:nvSpPr>
          <p:cNvPr id="26" name="Text 24"/>
          <p:cNvSpPr txBox="1"/>
          <p:nvPr/>
        </p:nvSpPr>
        <p:spPr>
          <a:xfrm>
            <a:off x="2793492" y="3497580"/>
            <a:ext cx="1371600" cy="713232"/>
          </a:xfrm>
          <a:prstGeom prst="rect">
            <a:avLst/>
          </a:prstGeom>
          <a:noFill/>
          <a:ln/>
        </p:spPr>
        <p:txBody>
          <a:bodyPr wrap="square" lIns="0" tIns="0" rIns="0" bIns="0" rtlCol="0" anchor="ctr"/>
          <a:lstStyle/>
          <a:p>
            <a:pPr algn="ctr"/>
            <a:r>
              <a:rPr lang="en-US" sz="825" b="1" dirty="0">
                <a:solidFill>
                  <a:srgbClr val="1F3864"/>
                </a:solidFill>
                <a:latin typeface="Times New Roman" pitchFamily="34" charset="0"/>
                <a:ea typeface="Times New Roman" pitchFamily="34" charset="-122"/>
                <a:cs typeface="Times New Roman" pitchFamily="34" charset="-120"/>
              </a:rPr>
              <a:t>Reliable?</a:t>
            </a:r>
            <a:endParaRPr lang="en-US" sz="825" dirty="0"/>
          </a:p>
        </p:txBody>
      </p:sp>
      <p:sp>
        <p:nvSpPr>
          <p:cNvPr id="27" name="Shape 25"/>
          <p:cNvSpPr/>
          <p:nvPr/>
        </p:nvSpPr>
        <p:spPr>
          <a:xfrm>
            <a:off x="342900" y="3511296"/>
            <a:ext cx="1885950" cy="685800"/>
          </a:xfrm>
          <a:prstGeom prst="roundRect">
            <a:avLst>
              <a:gd name="adj" fmla="val 8000"/>
            </a:avLst>
          </a:prstGeom>
          <a:solidFill>
            <a:srgbClr val="FCE4D6"/>
          </a:solidFill>
          <a:ln w="15875">
            <a:solidFill>
              <a:srgbClr val="1F3864"/>
            </a:solidFill>
            <a:prstDash val="solid"/>
          </a:ln>
        </p:spPr>
      </p:sp>
      <p:sp>
        <p:nvSpPr>
          <p:cNvPr id="28" name="Text 26"/>
          <p:cNvSpPr txBox="1"/>
          <p:nvPr/>
        </p:nvSpPr>
        <p:spPr>
          <a:xfrm>
            <a:off x="384048" y="3511296"/>
            <a:ext cx="1803654" cy="685800"/>
          </a:xfrm>
          <a:prstGeom prst="rect">
            <a:avLst/>
          </a:prstGeom>
          <a:noFill/>
          <a:ln/>
        </p:spPr>
        <p:txBody>
          <a:bodyPr wrap="square" lIns="0" tIns="0" rIns="0" bIns="0" rtlCol="0" anchor="ctr"/>
          <a:lstStyle/>
          <a:p>
            <a:pPr algn="ctr">
              <a:spcAft>
                <a:spcPts val="150"/>
              </a:spcAft>
            </a:pPr>
            <a:r>
              <a:rPr lang="en-US" sz="900" b="1" dirty="0">
                <a:solidFill>
                  <a:srgbClr val="1F3864"/>
                </a:solidFill>
                <a:latin typeface="Times New Roman" pitchFamily="34" charset="0"/>
                <a:ea typeface="Times New Roman" pitchFamily="34" charset="-122"/>
                <a:cs typeface="Times New Roman" pitchFamily="34" charset="-120"/>
              </a:rPr>
              <a:t>Abstention</a:t>
            </a:r>
            <a:endParaRPr lang="en-US" sz="900" dirty="0"/>
          </a:p>
          <a:p>
            <a:pPr algn="ctr">
              <a:spcAft>
                <a:spcPts val="150"/>
              </a:spcAft>
            </a:pPr>
            <a:r>
              <a:rPr lang="en-US" sz="713" dirty="0">
                <a:solidFill>
                  <a:srgbClr val="222222"/>
                </a:solidFill>
                <a:latin typeface="Times New Roman" pitchFamily="34" charset="0"/>
                <a:ea typeface="Times New Roman" pitchFamily="34" charset="-122"/>
                <a:cs typeface="Times New Roman" pitchFamily="34" charset="-120"/>
              </a:rPr>
              <a:t>No definitive disease label; uncertainty message</a:t>
            </a:r>
            <a:endParaRPr lang="en-US" sz="900" dirty="0"/>
          </a:p>
        </p:txBody>
      </p:sp>
      <p:sp>
        <p:nvSpPr>
          <p:cNvPr id="29" name="Shape 27"/>
          <p:cNvSpPr/>
          <p:nvPr/>
        </p:nvSpPr>
        <p:spPr>
          <a:xfrm>
            <a:off x="2532888" y="4423410"/>
            <a:ext cx="1885950" cy="685800"/>
          </a:xfrm>
          <a:prstGeom prst="roundRect">
            <a:avLst>
              <a:gd name="adj" fmla="val 8000"/>
            </a:avLst>
          </a:prstGeom>
          <a:solidFill>
            <a:srgbClr val="D9E2F3"/>
          </a:solidFill>
          <a:ln w="15875">
            <a:solidFill>
              <a:srgbClr val="1F3864"/>
            </a:solidFill>
            <a:prstDash val="dash"/>
          </a:ln>
        </p:spPr>
      </p:sp>
      <p:sp>
        <p:nvSpPr>
          <p:cNvPr id="30" name="Text 28"/>
          <p:cNvSpPr txBox="1"/>
          <p:nvPr/>
        </p:nvSpPr>
        <p:spPr>
          <a:xfrm>
            <a:off x="2574036" y="4423410"/>
            <a:ext cx="1803654" cy="685800"/>
          </a:xfrm>
          <a:prstGeom prst="rect">
            <a:avLst/>
          </a:prstGeom>
          <a:noFill/>
          <a:ln/>
        </p:spPr>
        <p:txBody>
          <a:bodyPr wrap="square" lIns="0" tIns="0" rIns="0" bIns="0" rtlCol="0" anchor="ctr"/>
          <a:lstStyle/>
          <a:p>
            <a:pPr algn="ctr">
              <a:spcAft>
                <a:spcPts val="150"/>
              </a:spcAft>
            </a:pPr>
            <a:r>
              <a:rPr lang="en-US" sz="900" b="1" dirty="0">
                <a:solidFill>
                  <a:srgbClr val="1F3864"/>
                </a:solidFill>
                <a:latin typeface="Times New Roman" pitchFamily="34" charset="0"/>
                <a:ea typeface="Times New Roman" pitchFamily="34" charset="-122"/>
                <a:cs typeface="Times New Roman" pitchFamily="34" charset="-120"/>
              </a:rPr>
              <a:t>Agentic Evidence Retrieval</a:t>
            </a:r>
            <a:endParaRPr lang="en-US" sz="900" dirty="0"/>
          </a:p>
          <a:p>
            <a:pPr algn="ctr">
              <a:spcAft>
                <a:spcPts val="150"/>
              </a:spcAft>
            </a:pPr>
            <a:r>
              <a:rPr lang="en-US" sz="713" dirty="0">
                <a:solidFill>
                  <a:srgbClr val="222222"/>
                </a:solidFill>
                <a:latin typeface="Times New Roman" pitchFamily="34" charset="0"/>
                <a:ea typeface="Times New Roman" pitchFamily="34" charset="-122"/>
                <a:cs typeface="Times New Roman" pitchFamily="34" charset="-120"/>
              </a:rPr>
              <a:t>Supporting disease information from configured evidence source (proposed)</a:t>
            </a:r>
            <a:endParaRPr lang="en-US" sz="900" dirty="0"/>
          </a:p>
        </p:txBody>
      </p:sp>
      <p:sp>
        <p:nvSpPr>
          <p:cNvPr id="31" name="Shape 29"/>
          <p:cNvSpPr/>
          <p:nvPr/>
        </p:nvSpPr>
        <p:spPr>
          <a:xfrm>
            <a:off x="342900" y="4423410"/>
            <a:ext cx="1885950" cy="685800"/>
          </a:xfrm>
          <a:prstGeom prst="roundRect">
            <a:avLst>
              <a:gd name="adj" fmla="val 8000"/>
            </a:avLst>
          </a:prstGeom>
          <a:solidFill>
            <a:srgbClr val="1F3864"/>
          </a:solidFill>
          <a:ln w="15875">
            <a:solidFill>
              <a:srgbClr val="1F3864"/>
            </a:solidFill>
            <a:prstDash val="solid"/>
          </a:ln>
        </p:spPr>
      </p:sp>
      <p:sp>
        <p:nvSpPr>
          <p:cNvPr id="32" name="Text 30"/>
          <p:cNvSpPr txBox="1"/>
          <p:nvPr/>
        </p:nvSpPr>
        <p:spPr>
          <a:xfrm>
            <a:off x="384048" y="4423410"/>
            <a:ext cx="1803654" cy="685800"/>
          </a:xfrm>
          <a:prstGeom prst="rect">
            <a:avLst/>
          </a:prstGeom>
          <a:noFill/>
          <a:ln/>
        </p:spPr>
        <p:txBody>
          <a:bodyPr wrap="square" lIns="0" tIns="0" rIns="0" bIns="0" rtlCol="0" anchor="ctr"/>
          <a:lstStyle/>
          <a:p>
            <a:pPr algn="ctr">
              <a:spcAft>
                <a:spcPts val="150"/>
              </a:spcAft>
            </a:pPr>
            <a:r>
              <a:rPr lang="en-US" sz="900" b="1" dirty="0">
                <a:solidFill>
                  <a:srgbClr val="FFFFFF"/>
                </a:solidFill>
                <a:latin typeface="Times New Roman" pitchFamily="34" charset="0"/>
                <a:ea typeface="Times New Roman" pitchFamily="34" charset="-122"/>
                <a:cs typeface="Times New Roman" pitchFamily="34" charset="-120"/>
              </a:rPr>
              <a:t>Final Output</a:t>
            </a:r>
            <a:endParaRPr lang="en-US" sz="900" dirty="0"/>
          </a:p>
          <a:p>
            <a:pPr algn="ctr">
              <a:spcAft>
                <a:spcPts val="150"/>
              </a:spcAft>
            </a:pPr>
            <a:r>
              <a:rPr lang="en-US" sz="713" dirty="0">
                <a:solidFill>
                  <a:srgbClr val="FFFFFF"/>
                </a:solidFill>
                <a:latin typeface="Times New Roman" pitchFamily="34" charset="0"/>
                <a:ea typeface="Times New Roman" pitchFamily="34" charset="-122"/>
                <a:cs typeface="Times New Roman" pitchFamily="34" charset="-120"/>
              </a:rPr>
              <a:t>Accepted prediction + reliability status + evidence, or abstention / uncertainty message</a:t>
            </a:r>
            <a:endParaRPr lang="en-US" sz="900" dirty="0"/>
          </a:p>
        </p:txBody>
      </p:sp>
      <p:sp>
        <p:nvSpPr>
          <p:cNvPr id="33" name="Shape 31"/>
          <p:cNvSpPr/>
          <p:nvPr/>
        </p:nvSpPr>
        <p:spPr>
          <a:xfrm>
            <a:off x="2228850" y="1988820"/>
            <a:ext cx="304038" cy="0"/>
          </a:xfrm>
          <a:prstGeom prst="line">
            <a:avLst/>
          </a:prstGeom>
          <a:noFill/>
          <a:ln w="22225">
            <a:solidFill>
              <a:srgbClr val="1F3864"/>
            </a:solidFill>
            <a:prstDash val="solid"/>
            <a:tailEnd type="triangle"/>
          </a:ln>
        </p:spPr>
      </p:sp>
      <p:sp>
        <p:nvSpPr>
          <p:cNvPr id="34" name="Shape 32"/>
          <p:cNvSpPr/>
          <p:nvPr/>
        </p:nvSpPr>
        <p:spPr>
          <a:xfrm>
            <a:off x="2228850" y="2948940"/>
            <a:ext cx="304038" cy="0"/>
          </a:xfrm>
          <a:prstGeom prst="line">
            <a:avLst/>
          </a:prstGeom>
          <a:noFill/>
          <a:ln w="22225">
            <a:solidFill>
              <a:srgbClr val="1F3864"/>
            </a:solidFill>
            <a:prstDash val="solid"/>
            <a:tailEnd type="triangle"/>
          </a:ln>
        </p:spPr>
      </p:sp>
      <p:sp>
        <p:nvSpPr>
          <p:cNvPr id="35" name="Shape 33"/>
          <p:cNvSpPr/>
          <p:nvPr/>
        </p:nvSpPr>
        <p:spPr>
          <a:xfrm>
            <a:off x="4418838" y="1988820"/>
            <a:ext cx="304038" cy="0"/>
          </a:xfrm>
          <a:prstGeom prst="line">
            <a:avLst/>
          </a:prstGeom>
          <a:noFill/>
          <a:ln w="22225">
            <a:solidFill>
              <a:srgbClr val="1F3864"/>
            </a:solidFill>
            <a:prstDash val="solid"/>
            <a:tailEnd type="triangle"/>
          </a:ln>
        </p:spPr>
      </p:sp>
      <p:sp>
        <p:nvSpPr>
          <p:cNvPr id="36" name="Shape 34"/>
          <p:cNvSpPr/>
          <p:nvPr/>
        </p:nvSpPr>
        <p:spPr>
          <a:xfrm>
            <a:off x="4418838" y="2948940"/>
            <a:ext cx="304038" cy="0"/>
          </a:xfrm>
          <a:prstGeom prst="line">
            <a:avLst/>
          </a:prstGeom>
          <a:noFill/>
          <a:ln w="22225">
            <a:solidFill>
              <a:srgbClr val="1F3864"/>
            </a:solidFill>
            <a:prstDash val="solid"/>
            <a:tailEnd type="triangle"/>
          </a:ln>
        </p:spPr>
      </p:sp>
      <p:sp>
        <p:nvSpPr>
          <p:cNvPr id="37" name="Shape 35"/>
          <p:cNvSpPr/>
          <p:nvPr/>
        </p:nvSpPr>
        <p:spPr>
          <a:xfrm>
            <a:off x="6608826" y="1988820"/>
            <a:ext cx="304038" cy="0"/>
          </a:xfrm>
          <a:prstGeom prst="line">
            <a:avLst/>
          </a:prstGeom>
          <a:noFill/>
          <a:ln w="22225">
            <a:solidFill>
              <a:srgbClr val="1F3864"/>
            </a:solidFill>
            <a:prstDash val="solid"/>
            <a:tailEnd type="triangle"/>
          </a:ln>
        </p:spPr>
      </p:sp>
      <p:sp>
        <p:nvSpPr>
          <p:cNvPr id="38" name="Shape 36"/>
          <p:cNvSpPr/>
          <p:nvPr/>
        </p:nvSpPr>
        <p:spPr>
          <a:xfrm>
            <a:off x="6608826" y="2948940"/>
            <a:ext cx="304038" cy="0"/>
          </a:xfrm>
          <a:prstGeom prst="line">
            <a:avLst/>
          </a:prstGeom>
          <a:noFill/>
          <a:ln w="22225">
            <a:solidFill>
              <a:srgbClr val="1F3864"/>
            </a:solidFill>
            <a:prstDash val="solid"/>
            <a:tailEnd type="triangle"/>
          </a:ln>
        </p:spPr>
      </p:sp>
      <p:sp>
        <p:nvSpPr>
          <p:cNvPr id="39" name="Shape 37"/>
          <p:cNvSpPr/>
          <p:nvPr/>
        </p:nvSpPr>
        <p:spPr>
          <a:xfrm>
            <a:off x="7855839" y="2331720"/>
            <a:ext cx="0" cy="274320"/>
          </a:xfrm>
          <a:prstGeom prst="line">
            <a:avLst/>
          </a:prstGeom>
          <a:noFill/>
          <a:ln w="22225">
            <a:solidFill>
              <a:srgbClr val="1F3864"/>
            </a:solidFill>
            <a:prstDash val="dash"/>
            <a:tailEnd type="triangle"/>
          </a:ln>
        </p:spPr>
      </p:sp>
      <p:sp>
        <p:nvSpPr>
          <p:cNvPr id="40" name="Text 38"/>
          <p:cNvSpPr txBox="1"/>
          <p:nvPr/>
        </p:nvSpPr>
        <p:spPr>
          <a:xfrm>
            <a:off x="7910703" y="2400300"/>
            <a:ext cx="891540" cy="150876"/>
          </a:xfrm>
          <a:prstGeom prst="rect">
            <a:avLst/>
          </a:prstGeom>
          <a:noFill/>
          <a:ln/>
        </p:spPr>
        <p:txBody>
          <a:bodyPr wrap="square" lIns="0" tIns="0" rIns="0" bIns="0" rtlCol="0" anchor="ctr"/>
          <a:lstStyle/>
          <a:p>
            <a:r>
              <a:rPr lang="en-US" sz="750" b="1" dirty="0">
                <a:solidFill>
                  <a:srgbClr val="1F8A8A"/>
                </a:solidFill>
                <a:latin typeface="Times New Roman" pitchFamily="34" charset="0"/>
                <a:ea typeface="Times New Roman" pitchFamily="34" charset="-122"/>
                <a:cs typeface="Times New Roman" pitchFamily="34" charset="-120"/>
              </a:rPr>
              <a:t>trained weights</a:t>
            </a:r>
            <a:endParaRPr lang="en-US" sz="750" dirty="0"/>
          </a:p>
        </p:txBody>
      </p:sp>
      <p:sp>
        <p:nvSpPr>
          <p:cNvPr id="41" name="Shape 39"/>
          <p:cNvSpPr/>
          <p:nvPr/>
        </p:nvSpPr>
        <p:spPr>
          <a:xfrm>
            <a:off x="7855839" y="3291840"/>
            <a:ext cx="0" cy="219456"/>
          </a:xfrm>
          <a:prstGeom prst="line">
            <a:avLst/>
          </a:prstGeom>
          <a:noFill/>
          <a:ln w="22225">
            <a:solidFill>
              <a:srgbClr val="1F3864"/>
            </a:solidFill>
            <a:prstDash val="solid"/>
            <a:tailEnd type="triangle"/>
          </a:ln>
        </p:spPr>
      </p:sp>
      <p:sp>
        <p:nvSpPr>
          <p:cNvPr id="42" name="Shape 40"/>
          <p:cNvSpPr/>
          <p:nvPr/>
        </p:nvSpPr>
        <p:spPr>
          <a:xfrm flipH="1">
            <a:off x="6608826" y="3854196"/>
            <a:ext cx="304038" cy="0"/>
          </a:xfrm>
          <a:prstGeom prst="line">
            <a:avLst/>
          </a:prstGeom>
          <a:noFill/>
          <a:ln w="22225">
            <a:solidFill>
              <a:srgbClr val="1F3864"/>
            </a:solidFill>
            <a:prstDash val="solid"/>
            <a:tailEnd type="triangle"/>
          </a:ln>
        </p:spPr>
      </p:sp>
      <p:sp>
        <p:nvSpPr>
          <p:cNvPr id="43" name="Shape 41"/>
          <p:cNvSpPr/>
          <p:nvPr/>
        </p:nvSpPr>
        <p:spPr>
          <a:xfrm flipH="1">
            <a:off x="4165092" y="3854196"/>
            <a:ext cx="557784" cy="0"/>
          </a:xfrm>
          <a:prstGeom prst="line">
            <a:avLst/>
          </a:prstGeom>
          <a:noFill/>
          <a:ln w="22225">
            <a:solidFill>
              <a:srgbClr val="1F3864"/>
            </a:solidFill>
            <a:prstDash val="solid"/>
            <a:tailEnd type="triangle"/>
          </a:ln>
        </p:spPr>
      </p:sp>
      <p:sp>
        <p:nvSpPr>
          <p:cNvPr id="44" name="Shape 42"/>
          <p:cNvSpPr/>
          <p:nvPr/>
        </p:nvSpPr>
        <p:spPr>
          <a:xfrm flipH="1">
            <a:off x="2228850" y="3854196"/>
            <a:ext cx="564642" cy="0"/>
          </a:xfrm>
          <a:prstGeom prst="line">
            <a:avLst/>
          </a:prstGeom>
          <a:noFill/>
          <a:ln w="22225">
            <a:solidFill>
              <a:srgbClr val="1F3864"/>
            </a:solidFill>
            <a:prstDash val="solid"/>
            <a:tailEnd type="triangle"/>
          </a:ln>
        </p:spPr>
      </p:sp>
      <p:sp>
        <p:nvSpPr>
          <p:cNvPr id="45" name="Text 43"/>
          <p:cNvSpPr txBox="1"/>
          <p:nvPr/>
        </p:nvSpPr>
        <p:spPr>
          <a:xfrm>
            <a:off x="2215134" y="3675888"/>
            <a:ext cx="582930" cy="150876"/>
          </a:xfrm>
          <a:prstGeom prst="rect">
            <a:avLst/>
          </a:prstGeom>
          <a:noFill/>
          <a:ln/>
        </p:spPr>
        <p:txBody>
          <a:bodyPr wrap="square" lIns="0" tIns="0" rIns="0" bIns="0" rtlCol="0" anchor="ctr"/>
          <a:lstStyle/>
          <a:p>
            <a:pPr algn="ctr"/>
            <a:r>
              <a:rPr lang="en-US" sz="750" b="1" dirty="0">
                <a:solidFill>
                  <a:srgbClr val="1F8A8A"/>
                </a:solidFill>
                <a:latin typeface="Times New Roman" pitchFamily="34" charset="0"/>
                <a:ea typeface="Times New Roman" pitchFamily="34" charset="-122"/>
                <a:cs typeface="Times New Roman" pitchFamily="34" charset="-120"/>
              </a:rPr>
              <a:t>unreliable</a:t>
            </a:r>
            <a:endParaRPr lang="en-US" sz="750" dirty="0"/>
          </a:p>
        </p:txBody>
      </p:sp>
      <p:sp>
        <p:nvSpPr>
          <p:cNvPr id="46" name="Shape 44"/>
          <p:cNvSpPr/>
          <p:nvPr/>
        </p:nvSpPr>
        <p:spPr>
          <a:xfrm>
            <a:off x="3475863" y="4197096"/>
            <a:ext cx="0" cy="226314"/>
          </a:xfrm>
          <a:prstGeom prst="line">
            <a:avLst/>
          </a:prstGeom>
          <a:noFill/>
          <a:ln w="22225">
            <a:solidFill>
              <a:srgbClr val="1F3864"/>
            </a:solidFill>
            <a:prstDash val="solid"/>
            <a:tailEnd type="triangle"/>
          </a:ln>
        </p:spPr>
      </p:sp>
      <p:sp>
        <p:nvSpPr>
          <p:cNvPr id="47" name="Text 45"/>
          <p:cNvSpPr txBox="1"/>
          <p:nvPr/>
        </p:nvSpPr>
        <p:spPr>
          <a:xfrm>
            <a:off x="3530727" y="4238244"/>
            <a:ext cx="548640" cy="150876"/>
          </a:xfrm>
          <a:prstGeom prst="rect">
            <a:avLst/>
          </a:prstGeom>
          <a:noFill/>
          <a:ln/>
        </p:spPr>
        <p:txBody>
          <a:bodyPr wrap="square" lIns="0" tIns="0" rIns="0" bIns="0" rtlCol="0" anchor="ctr"/>
          <a:lstStyle/>
          <a:p>
            <a:r>
              <a:rPr lang="en-US" sz="750" b="1" dirty="0">
                <a:solidFill>
                  <a:srgbClr val="1F8A8A"/>
                </a:solidFill>
                <a:latin typeface="Times New Roman" pitchFamily="34" charset="0"/>
                <a:ea typeface="Times New Roman" pitchFamily="34" charset="-122"/>
                <a:cs typeface="Times New Roman" pitchFamily="34" charset="-120"/>
              </a:rPr>
              <a:t>reliable</a:t>
            </a:r>
            <a:endParaRPr lang="en-US" sz="750" dirty="0"/>
          </a:p>
        </p:txBody>
      </p:sp>
      <p:sp>
        <p:nvSpPr>
          <p:cNvPr id="48" name="Shape 46"/>
          <p:cNvSpPr/>
          <p:nvPr/>
        </p:nvSpPr>
        <p:spPr>
          <a:xfrm>
            <a:off x="1285875" y="4197096"/>
            <a:ext cx="0" cy="226314"/>
          </a:xfrm>
          <a:prstGeom prst="line">
            <a:avLst/>
          </a:prstGeom>
          <a:noFill/>
          <a:ln w="22225">
            <a:solidFill>
              <a:srgbClr val="1F3864"/>
            </a:solidFill>
            <a:prstDash val="solid"/>
            <a:tailEnd type="triangle"/>
          </a:ln>
        </p:spPr>
      </p:sp>
      <p:sp>
        <p:nvSpPr>
          <p:cNvPr id="49" name="Shape 47"/>
          <p:cNvSpPr/>
          <p:nvPr/>
        </p:nvSpPr>
        <p:spPr>
          <a:xfrm flipH="1">
            <a:off x="2228850" y="4766310"/>
            <a:ext cx="304038" cy="0"/>
          </a:xfrm>
          <a:prstGeom prst="line">
            <a:avLst/>
          </a:prstGeom>
          <a:noFill/>
          <a:ln w="22225">
            <a:solidFill>
              <a:srgbClr val="1F3864"/>
            </a:solidFill>
            <a:prstDash val="solid"/>
            <a:tailEnd type="triangle"/>
          </a:ln>
        </p:spPr>
      </p:sp>
      <p:sp>
        <p:nvSpPr>
          <p:cNvPr id="50" name="Shape 48"/>
          <p:cNvSpPr/>
          <p:nvPr/>
        </p:nvSpPr>
        <p:spPr>
          <a:xfrm>
            <a:off x="4860036" y="4560570"/>
            <a:ext cx="1885950" cy="411480"/>
          </a:xfrm>
          <a:prstGeom prst="roundRect">
            <a:avLst>
              <a:gd name="adj" fmla="val 10000"/>
            </a:avLst>
          </a:prstGeom>
          <a:solidFill>
            <a:srgbClr val="FFFFFF"/>
          </a:solidFill>
          <a:ln w="15875">
            <a:solidFill>
              <a:srgbClr val="1F3864"/>
            </a:solidFill>
            <a:prstDash val="dash"/>
          </a:ln>
        </p:spPr>
      </p:sp>
      <p:sp>
        <p:nvSpPr>
          <p:cNvPr id="51" name="Text 49"/>
          <p:cNvSpPr txBox="1"/>
          <p:nvPr/>
        </p:nvSpPr>
        <p:spPr>
          <a:xfrm>
            <a:off x="4860036" y="4560570"/>
            <a:ext cx="1885950" cy="411480"/>
          </a:xfrm>
          <a:prstGeom prst="rect">
            <a:avLst/>
          </a:prstGeom>
          <a:noFill/>
          <a:ln/>
        </p:spPr>
        <p:txBody>
          <a:bodyPr wrap="square" lIns="0" tIns="0" rIns="0" bIns="0" rtlCol="0" anchor="ctr"/>
          <a:lstStyle/>
          <a:p>
            <a:pPr algn="ctr"/>
            <a:r>
              <a:rPr lang="en-US" sz="825" dirty="0">
                <a:solidFill>
                  <a:srgbClr val="1F3864"/>
                </a:solidFill>
                <a:latin typeface="Times New Roman" pitchFamily="34" charset="0"/>
                <a:ea typeface="Times New Roman" pitchFamily="34" charset="-122"/>
                <a:cs typeface="Times New Roman" pitchFamily="34" charset="-120"/>
              </a:rPr>
              <a:t>Dashed border = proposed component</a:t>
            </a:r>
            <a:endParaRPr lang="en-US" sz="825" dirty="0"/>
          </a:p>
        </p:txBody>
      </p:sp>
      <p:sp>
        <p:nvSpPr>
          <p:cNvPr id="52" name="Text 50"/>
          <p:cNvSpPr txBox="1"/>
          <p:nvPr/>
        </p:nvSpPr>
        <p:spPr>
          <a:xfrm>
            <a:off x="342900" y="5314950"/>
            <a:ext cx="8455914" cy="274320"/>
          </a:xfrm>
          <a:prstGeom prst="rect">
            <a:avLst/>
          </a:prstGeom>
          <a:noFill/>
          <a:ln/>
        </p:spPr>
        <p:txBody>
          <a:bodyPr wrap="square" lIns="0" tIns="0" rIns="0" bIns="0" rtlCol="0" anchor="ctr"/>
          <a:lstStyle/>
          <a:p>
            <a:pPr algn="ctr"/>
            <a:r>
              <a:rPr lang="en-US" sz="1200" dirty="0">
                <a:solidFill>
                  <a:srgbClr val="000000"/>
                </a:solidFill>
                <a:latin typeface="Times New Roman" pitchFamily="34" charset="0"/>
                <a:ea typeface="Times New Roman" pitchFamily="34" charset="-122"/>
                <a:cs typeface="Times New Roman" pitchFamily="34" charset="-120"/>
              </a:rPr>
              <a:t>Figure 3.5. Overall Architecture of the Proposed Plant Disease Recognition System.</a:t>
            </a:r>
            <a:endParaRPr lang="en-US" sz="120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txBox="1"/>
          <p:nvPr/>
        </p:nvSpPr>
        <p:spPr>
          <a:xfrm>
            <a:off x="342900" y="994410"/>
            <a:ext cx="8455914" cy="445770"/>
          </a:xfrm>
          <a:prstGeom prst="rect">
            <a:avLst/>
          </a:prstGeom>
          <a:noFill/>
          <a:ln/>
        </p:spPr>
        <p:txBody>
          <a:bodyPr wrap="square" lIns="0" tIns="0" rIns="0" bIns="0" rtlCol="0" anchor="ctr"/>
          <a:lstStyle/>
          <a:p>
            <a:r>
              <a:rPr lang="en-US" sz="2400" b="1" dirty="0">
                <a:solidFill>
                  <a:srgbClr val="8B4513"/>
                </a:solidFill>
                <a:latin typeface="Times New Roman" pitchFamily="34" charset="0"/>
                <a:ea typeface="Times New Roman" pitchFamily="34" charset="-122"/>
                <a:cs typeface="Times New Roman" pitchFamily="34" charset="-120"/>
              </a:rPr>
              <a:t>17.2. Different Modules</a:t>
            </a:r>
            <a:endParaRPr lang="en-US" sz="2400" dirty="0"/>
          </a:p>
        </p:txBody>
      </p:sp>
      <p:sp>
        <p:nvSpPr>
          <p:cNvPr id="3" name="Text 1"/>
          <p:cNvSpPr txBox="1"/>
          <p:nvPr/>
        </p:nvSpPr>
        <p:spPr>
          <a:xfrm>
            <a:off x="342900" y="1543050"/>
            <a:ext cx="8455914" cy="4183380"/>
          </a:xfrm>
          <a:prstGeom prst="rect">
            <a:avLst/>
          </a:prstGeom>
          <a:noFill/>
          <a:ln/>
        </p:spPr>
        <p:txBody>
          <a:bodyPr wrap="square" lIns="0" tIns="0" rIns="0" bIns="0" rtlCol="0" anchor="t"/>
          <a:lstStyle/>
          <a:p>
            <a:pPr>
              <a:spcAft>
                <a:spcPts val="225"/>
              </a:spcAft>
            </a:pPr>
            <a:r>
              <a:rPr lang="en-US" sz="1350" b="1" dirty="0">
                <a:solidFill>
                  <a:srgbClr val="8B4513"/>
                </a:solidFill>
                <a:latin typeface="Times New Roman" pitchFamily="34" charset="0"/>
                <a:ea typeface="Times New Roman" pitchFamily="34" charset="-122"/>
                <a:cs typeface="Times New Roman" pitchFamily="34" charset="-120"/>
              </a:rPr>
              <a:t>Module 1 Name: Dataset Preparation and Image Preprocessing</a:t>
            </a:r>
            <a:endParaRPr lang="en-US" sz="1350" dirty="0"/>
          </a:p>
          <a:p>
            <a:pPr>
              <a:spcAft>
                <a:spcPts val="225"/>
              </a:spcAft>
            </a:pPr>
            <a:r>
              <a:rPr lang="en-US" sz="1163" dirty="0">
                <a:solidFill>
                  <a:srgbClr val="000000"/>
                </a:solidFill>
                <a:latin typeface="Times New Roman" pitchFamily="34" charset="0"/>
                <a:ea typeface="Times New Roman" pitchFamily="34" charset="-122"/>
                <a:cs typeface="Times New Roman" pitchFamily="34" charset="-120"/>
              </a:rPr>
              <a:t>1. Dataset loading, class-label verification, image integrity checks, and verification of the training, validation, and testing splits.</a:t>
            </a:r>
            <a:endParaRPr lang="en-US" sz="1350" dirty="0"/>
          </a:p>
          <a:p>
            <a:pPr>
              <a:spcAft>
                <a:spcPts val="225"/>
              </a:spcAft>
            </a:pPr>
            <a:r>
              <a:rPr lang="en-US" sz="1163" dirty="0">
                <a:solidFill>
                  <a:srgbClr val="000000"/>
                </a:solidFill>
                <a:latin typeface="Times New Roman" pitchFamily="34" charset="0"/>
                <a:ea typeface="Times New Roman" pitchFamily="34" charset="-122"/>
                <a:cs typeface="Times New Roman" pitchFamily="34" charset="-120"/>
              </a:rPr>
              <a:t>2. Image resizing to 224 × 224 pixels, tensor conversion, model-compatible normalization, and training-only augmentation.</a:t>
            </a:r>
            <a:endParaRPr lang="en-US" sz="1350" dirty="0"/>
          </a:p>
          <a:p>
            <a:pPr>
              <a:spcBef>
                <a:spcPts val="600"/>
              </a:spcBef>
              <a:spcAft>
                <a:spcPts val="225"/>
              </a:spcAft>
            </a:pPr>
            <a:r>
              <a:rPr lang="en-US" sz="1350" b="1" dirty="0">
                <a:solidFill>
                  <a:srgbClr val="8B4513"/>
                </a:solidFill>
                <a:latin typeface="Times New Roman" pitchFamily="34" charset="0"/>
                <a:ea typeface="Times New Roman" pitchFamily="34" charset="-122"/>
                <a:cs typeface="Times New Roman" pitchFamily="34" charset="-120"/>
              </a:rPr>
              <a:t>Module 2 Name: Diverse Deep-Learning Model Training and Prediction</a:t>
            </a:r>
            <a:endParaRPr lang="en-US" sz="1350" dirty="0"/>
          </a:p>
          <a:p>
            <a:pPr>
              <a:spcAft>
                <a:spcPts val="225"/>
              </a:spcAft>
            </a:pPr>
            <a:r>
              <a:rPr lang="en-US" sz="1163" dirty="0">
                <a:solidFill>
                  <a:srgbClr val="000000"/>
                </a:solidFill>
                <a:latin typeface="Times New Roman" pitchFamily="34" charset="0"/>
                <a:ea typeface="Times New Roman" pitchFamily="34" charset="-122"/>
                <a:cs typeface="Times New Roman" pitchFamily="34" charset="-120"/>
              </a:rPr>
              <a:t>1. Train or evaluate the selected deep-learning architectures for plant disease classification using the prepared dataset.</a:t>
            </a:r>
            <a:endParaRPr lang="en-US" sz="1350" dirty="0"/>
          </a:p>
          <a:p>
            <a:pPr>
              <a:spcAft>
                <a:spcPts val="225"/>
              </a:spcAft>
            </a:pPr>
            <a:r>
              <a:rPr lang="en-US" sz="1163" dirty="0">
                <a:solidFill>
                  <a:srgbClr val="000000"/>
                </a:solidFill>
                <a:latin typeface="Times New Roman" pitchFamily="34" charset="0"/>
                <a:ea typeface="Times New Roman" pitchFamily="34" charset="-122"/>
                <a:cs typeface="Times New Roman" pitchFamily="34" charset="-120"/>
              </a:rPr>
              <a:t>2. Compare model predictions and classification performance before selecting the models or outputs used by the ensemble.</a:t>
            </a:r>
            <a:endParaRPr lang="en-US" sz="1350" dirty="0"/>
          </a:p>
          <a:p>
            <a:pPr>
              <a:spcBef>
                <a:spcPts val="600"/>
              </a:spcBef>
              <a:spcAft>
                <a:spcPts val="225"/>
              </a:spcAft>
            </a:pPr>
            <a:r>
              <a:rPr lang="en-US" sz="1350" b="1" dirty="0">
                <a:solidFill>
                  <a:srgbClr val="8B4513"/>
                </a:solidFill>
                <a:latin typeface="Times New Roman" pitchFamily="34" charset="0"/>
                <a:ea typeface="Times New Roman" pitchFamily="34" charset="-122"/>
                <a:cs typeface="Times New Roman" pitchFamily="34" charset="-120"/>
              </a:rPr>
              <a:t>Module 3 Name: Ensemble Reliability Assessment and Abstention</a:t>
            </a:r>
            <a:endParaRPr lang="en-US" sz="1350" dirty="0"/>
          </a:p>
          <a:p>
            <a:pPr>
              <a:spcAft>
                <a:spcPts val="225"/>
              </a:spcAft>
            </a:pPr>
            <a:r>
              <a:rPr lang="en-US" sz="1163" dirty="0">
                <a:solidFill>
                  <a:srgbClr val="000000"/>
                </a:solidFill>
                <a:latin typeface="Times New Roman" pitchFamily="34" charset="0"/>
                <a:ea typeface="Times New Roman" pitchFamily="34" charset="-122"/>
                <a:cs typeface="Times New Roman" pitchFamily="34" charset="-120"/>
              </a:rPr>
              <a:t>1. Combine the selected model predictions using the specified or proposed ensemble strategy and assess prediction reliability.</a:t>
            </a:r>
            <a:endParaRPr lang="en-US" sz="1350" dirty="0"/>
          </a:p>
          <a:p>
            <a:pPr>
              <a:spcAft>
                <a:spcPts val="225"/>
              </a:spcAft>
            </a:pPr>
            <a:r>
              <a:rPr lang="en-US" sz="1163" dirty="0">
                <a:solidFill>
                  <a:srgbClr val="000000"/>
                </a:solidFill>
                <a:latin typeface="Times New Roman" pitchFamily="34" charset="0"/>
                <a:ea typeface="Times New Roman" pitchFamily="34" charset="-122"/>
                <a:cs typeface="Times New Roman" pitchFamily="34" charset="-120"/>
              </a:rPr>
              <a:t>2. Apply the defined reliability policy to accept a prediction or abstain when evidence is insufficient.</a:t>
            </a:r>
            <a:endParaRPr lang="en-US" sz="1350" dirty="0"/>
          </a:p>
          <a:p>
            <a:pPr>
              <a:spcBef>
                <a:spcPts val="600"/>
              </a:spcBef>
              <a:spcAft>
                <a:spcPts val="225"/>
              </a:spcAft>
            </a:pPr>
            <a:r>
              <a:rPr lang="en-US" sz="1350" b="1" dirty="0">
                <a:solidFill>
                  <a:srgbClr val="8B4513"/>
                </a:solidFill>
                <a:latin typeface="Times New Roman" pitchFamily="34" charset="0"/>
                <a:ea typeface="Times New Roman" pitchFamily="34" charset="-122"/>
                <a:cs typeface="Times New Roman" pitchFamily="34" charset="-120"/>
              </a:rPr>
              <a:t>Module 4 Name: Agentic Evidence Retrieval and Result Presentation</a:t>
            </a:r>
            <a:endParaRPr lang="en-US" sz="1350" dirty="0"/>
          </a:p>
          <a:p>
            <a:pPr>
              <a:spcAft>
                <a:spcPts val="225"/>
              </a:spcAft>
            </a:pPr>
            <a:r>
              <a:rPr lang="en-US" sz="1163" dirty="0">
                <a:solidFill>
                  <a:srgbClr val="000000"/>
                </a:solidFill>
                <a:latin typeface="Times New Roman" pitchFamily="34" charset="0"/>
                <a:ea typeface="Times New Roman" pitchFamily="34" charset="-122"/>
                <a:cs typeface="Times New Roman" pitchFamily="34" charset="-120"/>
              </a:rPr>
              <a:t>1. Retrieve relevant plant-disease information through the evidence-retrieval component to support the presentation of an accepted prediction.</a:t>
            </a:r>
            <a:endParaRPr lang="en-US" sz="1350" dirty="0"/>
          </a:p>
          <a:p>
            <a:pPr>
              <a:spcAft>
                <a:spcPts val="225"/>
              </a:spcAft>
            </a:pPr>
            <a:r>
              <a:rPr lang="en-US" sz="1163" dirty="0">
                <a:solidFill>
                  <a:srgbClr val="000000"/>
                </a:solidFill>
                <a:latin typeface="Times New Roman" pitchFamily="34" charset="0"/>
                <a:ea typeface="Times New Roman" pitchFamily="34" charset="-122"/>
                <a:cs typeface="Times New Roman" pitchFamily="34" charset="-120"/>
              </a:rPr>
              <a:t>2. Present the disease prediction, available supporting evidence, and reliability or abstention status to the user.</a:t>
            </a:r>
            <a:endParaRPr lang="en-US" sz="135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txBox="1"/>
          <p:nvPr/>
        </p:nvSpPr>
        <p:spPr>
          <a:xfrm>
            <a:off x="342900" y="994410"/>
            <a:ext cx="8455914" cy="445770"/>
          </a:xfrm>
          <a:prstGeom prst="rect">
            <a:avLst/>
          </a:prstGeom>
          <a:noFill/>
          <a:ln/>
        </p:spPr>
        <p:txBody>
          <a:bodyPr wrap="square" lIns="0" tIns="0" rIns="0" bIns="0" rtlCol="0" anchor="ctr"/>
          <a:lstStyle/>
          <a:p>
            <a:r>
              <a:rPr lang="en-US" sz="2400" b="1" dirty="0">
                <a:solidFill>
                  <a:srgbClr val="8B4513"/>
                </a:solidFill>
                <a:latin typeface="Times New Roman" pitchFamily="34" charset="0"/>
                <a:ea typeface="Times New Roman" pitchFamily="34" charset="-122"/>
                <a:cs typeface="Times New Roman" pitchFamily="34" charset="-120"/>
              </a:rPr>
              <a:t>17.3. Proposed Model</a:t>
            </a:r>
            <a:endParaRPr lang="en-US" sz="2400" dirty="0"/>
          </a:p>
        </p:txBody>
      </p:sp>
      <p:sp>
        <p:nvSpPr>
          <p:cNvPr id="3" name="Shape 1"/>
          <p:cNvSpPr/>
          <p:nvPr/>
        </p:nvSpPr>
        <p:spPr>
          <a:xfrm>
            <a:off x="342900" y="1680210"/>
            <a:ext cx="1440180" cy="788670"/>
          </a:xfrm>
          <a:prstGeom prst="roundRect">
            <a:avLst>
              <a:gd name="adj" fmla="val 6957"/>
            </a:avLst>
          </a:prstGeom>
          <a:solidFill>
            <a:srgbClr val="1F8A8A"/>
          </a:solidFill>
          <a:ln w="15875">
            <a:solidFill>
              <a:srgbClr val="1F3864"/>
            </a:solidFill>
            <a:prstDash val="solid"/>
          </a:ln>
        </p:spPr>
      </p:sp>
      <p:sp>
        <p:nvSpPr>
          <p:cNvPr id="4" name="Text 2"/>
          <p:cNvSpPr txBox="1"/>
          <p:nvPr/>
        </p:nvSpPr>
        <p:spPr>
          <a:xfrm>
            <a:off x="384048" y="1680210"/>
            <a:ext cx="1357884" cy="788670"/>
          </a:xfrm>
          <a:prstGeom prst="rect">
            <a:avLst/>
          </a:prstGeom>
          <a:noFill/>
          <a:ln/>
        </p:spPr>
        <p:txBody>
          <a:bodyPr wrap="square" lIns="0" tIns="0" rIns="0" bIns="0" rtlCol="0" anchor="ctr"/>
          <a:lstStyle/>
          <a:p>
            <a:pPr algn="ctr">
              <a:spcAft>
                <a:spcPts val="150"/>
              </a:spcAft>
            </a:pPr>
            <a:r>
              <a:rPr lang="en-US" sz="900" b="1" dirty="0">
                <a:solidFill>
                  <a:srgbClr val="FFFFFF"/>
                </a:solidFill>
                <a:latin typeface="Times New Roman" pitchFamily="34" charset="0"/>
                <a:ea typeface="Times New Roman" pitchFamily="34" charset="-122"/>
                <a:cs typeface="Times New Roman" pitchFamily="34" charset="-120"/>
              </a:rPr>
              <a:t>1. Plant Leaf Image Input</a:t>
            </a:r>
            <a:endParaRPr lang="en-US" sz="900" dirty="0"/>
          </a:p>
          <a:p>
            <a:pPr algn="ctr">
              <a:spcAft>
                <a:spcPts val="150"/>
              </a:spcAft>
            </a:pPr>
            <a:r>
              <a:rPr lang="en-US" sz="713" dirty="0">
                <a:solidFill>
                  <a:srgbClr val="FFFFFF"/>
                </a:solidFill>
                <a:latin typeface="Times New Roman" pitchFamily="34" charset="0"/>
                <a:ea typeface="Times New Roman" pitchFamily="34" charset="-122"/>
                <a:cs typeface="Times New Roman" pitchFamily="34" charset="-120"/>
              </a:rPr>
              <a:t>Image supplied for prediction</a:t>
            </a:r>
            <a:endParaRPr lang="en-US" sz="900" dirty="0"/>
          </a:p>
        </p:txBody>
      </p:sp>
      <p:sp>
        <p:nvSpPr>
          <p:cNvPr id="5" name="Shape 3"/>
          <p:cNvSpPr/>
          <p:nvPr/>
        </p:nvSpPr>
        <p:spPr>
          <a:xfrm>
            <a:off x="2096834" y="1680210"/>
            <a:ext cx="1440180" cy="788670"/>
          </a:xfrm>
          <a:prstGeom prst="roundRect">
            <a:avLst>
              <a:gd name="adj" fmla="val 6957"/>
            </a:avLst>
          </a:prstGeom>
          <a:solidFill>
            <a:srgbClr val="D9E2F3"/>
          </a:solidFill>
          <a:ln w="15875">
            <a:solidFill>
              <a:srgbClr val="1F3864"/>
            </a:solidFill>
            <a:prstDash val="solid"/>
          </a:ln>
        </p:spPr>
      </p:sp>
      <p:sp>
        <p:nvSpPr>
          <p:cNvPr id="6" name="Text 4"/>
          <p:cNvSpPr txBox="1"/>
          <p:nvPr/>
        </p:nvSpPr>
        <p:spPr>
          <a:xfrm>
            <a:off x="2137982" y="1680210"/>
            <a:ext cx="1357884" cy="788670"/>
          </a:xfrm>
          <a:prstGeom prst="rect">
            <a:avLst/>
          </a:prstGeom>
          <a:noFill/>
          <a:ln/>
        </p:spPr>
        <p:txBody>
          <a:bodyPr wrap="square" lIns="0" tIns="0" rIns="0" bIns="0" rtlCol="0" anchor="ctr"/>
          <a:lstStyle/>
          <a:p>
            <a:pPr algn="ctr">
              <a:spcAft>
                <a:spcPts val="150"/>
              </a:spcAft>
            </a:pPr>
            <a:r>
              <a:rPr lang="en-US" sz="900" b="1" dirty="0">
                <a:solidFill>
                  <a:srgbClr val="1F3864"/>
                </a:solidFill>
                <a:latin typeface="Times New Roman" pitchFamily="34" charset="0"/>
                <a:ea typeface="Times New Roman" pitchFamily="34" charset="-122"/>
                <a:cs typeface="Times New Roman" pitchFamily="34" charset="-120"/>
              </a:rPr>
              <a:t>2. Image Validation</a:t>
            </a:r>
            <a:endParaRPr lang="en-US" sz="900" dirty="0"/>
          </a:p>
          <a:p>
            <a:pPr algn="ctr">
              <a:spcAft>
                <a:spcPts val="150"/>
              </a:spcAft>
            </a:pPr>
            <a:r>
              <a:rPr lang="en-US" sz="713" dirty="0">
                <a:solidFill>
                  <a:srgbClr val="222222"/>
                </a:solidFill>
                <a:latin typeface="Times New Roman" pitchFamily="34" charset="0"/>
                <a:ea typeface="Times New Roman" pitchFamily="34" charset="-122"/>
                <a:cs typeface="Times New Roman" pitchFamily="34" charset="-120"/>
              </a:rPr>
              <a:t>Readable and processable? Otherwise invalid-input message</a:t>
            </a:r>
            <a:endParaRPr lang="en-US" sz="900" dirty="0"/>
          </a:p>
        </p:txBody>
      </p:sp>
      <p:sp>
        <p:nvSpPr>
          <p:cNvPr id="7" name="Shape 5"/>
          <p:cNvSpPr/>
          <p:nvPr/>
        </p:nvSpPr>
        <p:spPr>
          <a:xfrm>
            <a:off x="3850767" y="1680210"/>
            <a:ext cx="1440180" cy="788670"/>
          </a:xfrm>
          <a:prstGeom prst="roundRect">
            <a:avLst>
              <a:gd name="adj" fmla="val 6957"/>
            </a:avLst>
          </a:prstGeom>
          <a:solidFill>
            <a:srgbClr val="D9E2F3"/>
          </a:solidFill>
          <a:ln w="15875">
            <a:solidFill>
              <a:srgbClr val="1F3864"/>
            </a:solidFill>
            <a:prstDash val="solid"/>
          </a:ln>
        </p:spPr>
      </p:sp>
      <p:sp>
        <p:nvSpPr>
          <p:cNvPr id="8" name="Text 6"/>
          <p:cNvSpPr txBox="1"/>
          <p:nvPr/>
        </p:nvSpPr>
        <p:spPr>
          <a:xfrm>
            <a:off x="3891915" y="1680210"/>
            <a:ext cx="1357884" cy="788670"/>
          </a:xfrm>
          <a:prstGeom prst="rect">
            <a:avLst/>
          </a:prstGeom>
          <a:noFill/>
          <a:ln/>
        </p:spPr>
        <p:txBody>
          <a:bodyPr wrap="square" lIns="0" tIns="0" rIns="0" bIns="0" rtlCol="0" anchor="ctr"/>
          <a:lstStyle/>
          <a:p>
            <a:pPr algn="ctr">
              <a:spcAft>
                <a:spcPts val="150"/>
              </a:spcAft>
            </a:pPr>
            <a:r>
              <a:rPr lang="en-US" sz="900" b="1" dirty="0">
                <a:solidFill>
                  <a:srgbClr val="1F3864"/>
                </a:solidFill>
                <a:latin typeface="Times New Roman" pitchFamily="34" charset="0"/>
                <a:ea typeface="Times New Roman" pitchFamily="34" charset="-122"/>
                <a:cs typeface="Times New Roman" pitchFamily="34" charset="-120"/>
              </a:rPr>
              <a:t>3. Image Preprocessing</a:t>
            </a:r>
            <a:endParaRPr lang="en-US" sz="900" dirty="0"/>
          </a:p>
          <a:p>
            <a:pPr algn="ctr">
              <a:spcAft>
                <a:spcPts val="150"/>
              </a:spcAft>
            </a:pPr>
            <a:r>
              <a:rPr lang="en-US" sz="713" dirty="0">
                <a:solidFill>
                  <a:srgbClr val="222222"/>
                </a:solidFill>
                <a:latin typeface="Times New Roman" pitchFamily="34" charset="0"/>
                <a:ea typeface="Times New Roman" pitchFamily="34" charset="-122"/>
                <a:cs typeface="Times New Roman" pitchFamily="34" charset="-120"/>
              </a:rPr>
              <a:t>Resize 224 × 224 → tensor → normalization</a:t>
            </a:r>
            <a:endParaRPr lang="en-US" sz="900" dirty="0"/>
          </a:p>
        </p:txBody>
      </p:sp>
      <p:sp>
        <p:nvSpPr>
          <p:cNvPr id="9" name="Shape 7"/>
          <p:cNvSpPr/>
          <p:nvPr/>
        </p:nvSpPr>
        <p:spPr>
          <a:xfrm>
            <a:off x="5604701" y="1680210"/>
            <a:ext cx="1440180" cy="788670"/>
          </a:xfrm>
          <a:prstGeom prst="roundRect">
            <a:avLst>
              <a:gd name="adj" fmla="val 6957"/>
            </a:avLst>
          </a:prstGeom>
          <a:solidFill>
            <a:srgbClr val="D9E2F3"/>
          </a:solidFill>
          <a:ln w="15875">
            <a:solidFill>
              <a:srgbClr val="1F3864"/>
            </a:solidFill>
            <a:prstDash val="solid"/>
          </a:ln>
        </p:spPr>
      </p:sp>
      <p:sp>
        <p:nvSpPr>
          <p:cNvPr id="10" name="Text 8"/>
          <p:cNvSpPr txBox="1"/>
          <p:nvPr/>
        </p:nvSpPr>
        <p:spPr>
          <a:xfrm>
            <a:off x="5645849" y="1680210"/>
            <a:ext cx="1357884" cy="788670"/>
          </a:xfrm>
          <a:prstGeom prst="rect">
            <a:avLst/>
          </a:prstGeom>
          <a:noFill/>
          <a:ln/>
        </p:spPr>
        <p:txBody>
          <a:bodyPr wrap="square" lIns="0" tIns="0" rIns="0" bIns="0" rtlCol="0" anchor="ctr"/>
          <a:lstStyle/>
          <a:p>
            <a:pPr algn="ctr">
              <a:spcAft>
                <a:spcPts val="150"/>
              </a:spcAft>
            </a:pPr>
            <a:r>
              <a:rPr lang="en-US" sz="900" b="1" dirty="0">
                <a:solidFill>
                  <a:srgbClr val="1F3864"/>
                </a:solidFill>
                <a:latin typeface="Times New Roman" pitchFamily="34" charset="0"/>
                <a:ea typeface="Times New Roman" pitchFamily="34" charset="-122"/>
                <a:cs typeface="Times New Roman" pitchFamily="34" charset="-120"/>
              </a:rPr>
              <a:t>4. Model Inference</a:t>
            </a:r>
            <a:endParaRPr lang="en-US" sz="900" dirty="0"/>
          </a:p>
          <a:p>
            <a:pPr algn="ctr">
              <a:spcAft>
                <a:spcPts val="150"/>
              </a:spcAft>
            </a:pPr>
            <a:r>
              <a:rPr lang="en-US" sz="713" dirty="0">
                <a:solidFill>
                  <a:srgbClr val="222222"/>
                </a:solidFill>
                <a:latin typeface="Times New Roman" pitchFamily="34" charset="0"/>
                <a:ea typeface="Times New Roman" pitchFamily="34" charset="-122"/>
                <a:cs typeface="Times New Roman" pitchFamily="34" charset="-120"/>
              </a:rPr>
              <a:t>Selected trained models → class probabilities / scores</a:t>
            </a:r>
            <a:endParaRPr lang="en-US" sz="900" dirty="0"/>
          </a:p>
        </p:txBody>
      </p:sp>
      <p:sp>
        <p:nvSpPr>
          <p:cNvPr id="11" name="Shape 9"/>
          <p:cNvSpPr/>
          <p:nvPr/>
        </p:nvSpPr>
        <p:spPr>
          <a:xfrm>
            <a:off x="7358634" y="1680210"/>
            <a:ext cx="1440180" cy="788670"/>
          </a:xfrm>
          <a:prstGeom prst="roundRect">
            <a:avLst>
              <a:gd name="adj" fmla="val 6957"/>
            </a:avLst>
          </a:prstGeom>
          <a:solidFill>
            <a:srgbClr val="D9E2F3"/>
          </a:solidFill>
          <a:ln w="15875">
            <a:solidFill>
              <a:srgbClr val="1F3864"/>
            </a:solidFill>
            <a:prstDash val="dash"/>
          </a:ln>
        </p:spPr>
      </p:sp>
      <p:sp>
        <p:nvSpPr>
          <p:cNvPr id="12" name="Text 10"/>
          <p:cNvSpPr txBox="1"/>
          <p:nvPr/>
        </p:nvSpPr>
        <p:spPr>
          <a:xfrm>
            <a:off x="7399782" y="1680210"/>
            <a:ext cx="1357884" cy="788670"/>
          </a:xfrm>
          <a:prstGeom prst="rect">
            <a:avLst/>
          </a:prstGeom>
          <a:noFill/>
          <a:ln/>
        </p:spPr>
        <p:txBody>
          <a:bodyPr wrap="square" lIns="0" tIns="0" rIns="0" bIns="0" rtlCol="0" anchor="ctr"/>
          <a:lstStyle/>
          <a:p>
            <a:pPr algn="ctr">
              <a:spcAft>
                <a:spcPts val="150"/>
              </a:spcAft>
            </a:pPr>
            <a:r>
              <a:rPr lang="en-US" sz="900" b="1" dirty="0">
                <a:solidFill>
                  <a:srgbClr val="1F3864"/>
                </a:solidFill>
                <a:latin typeface="Times New Roman" pitchFamily="34" charset="0"/>
                <a:ea typeface="Times New Roman" pitchFamily="34" charset="-122"/>
                <a:cs typeface="Times New Roman" pitchFamily="34" charset="-120"/>
              </a:rPr>
              <a:t>5. Ensemble Prediction</a:t>
            </a:r>
            <a:endParaRPr lang="en-US" sz="900" dirty="0"/>
          </a:p>
          <a:p>
            <a:pPr algn="ctr">
              <a:spcAft>
                <a:spcPts val="150"/>
              </a:spcAft>
            </a:pPr>
            <a:r>
              <a:rPr lang="en-US" sz="713" dirty="0">
                <a:solidFill>
                  <a:srgbClr val="222222"/>
                </a:solidFill>
                <a:latin typeface="Times New Roman" pitchFamily="34" charset="0"/>
                <a:ea typeface="Times New Roman" pitchFamily="34" charset="-122"/>
                <a:cs typeface="Times New Roman" pitchFamily="34" charset="-120"/>
              </a:rPr>
              <a:t>Combine model outputs (proposed strategy)</a:t>
            </a:r>
            <a:endParaRPr lang="en-US" sz="900" dirty="0"/>
          </a:p>
        </p:txBody>
      </p:sp>
      <p:sp>
        <p:nvSpPr>
          <p:cNvPr id="13" name="Shape 11"/>
          <p:cNvSpPr/>
          <p:nvPr/>
        </p:nvSpPr>
        <p:spPr>
          <a:xfrm>
            <a:off x="342900" y="3051810"/>
            <a:ext cx="1440180" cy="788670"/>
          </a:xfrm>
          <a:prstGeom prst="roundRect">
            <a:avLst>
              <a:gd name="adj" fmla="val 6957"/>
            </a:avLst>
          </a:prstGeom>
          <a:solidFill>
            <a:srgbClr val="D9E2F3"/>
          </a:solidFill>
          <a:ln w="15875">
            <a:solidFill>
              <a:srgbClr val="1F3864"/>
            </a:solidFill>
            <a:prstDash val="dash"/>
          </a:ln>
        </p:spPr>
      </p:sp>
      <p:sp>
        <p:nvSpPr>
          <p:cNvPr id="14" name="Text 12"/>
          <p:cNvSpPr txBox="1"/>
          <p:nvPr/>
        </p:nvSpPr>
        <p:spPr>
          <a:xfrm>
            <a:off x="384048" y="3051810"/>
            <a:ext cx="1357884" cy="788670"/>
          </a:xfrm>
          <a:prstGeom prst="rect">
            <a:avLst/>
          </a:prstGeom>
          <a:noFill/>
          <a:ln/>
        </p:spPr>
        <p:txBody>
          <a:bodyPr wrap="square" lIns="0" tIns="0" rIns="0" bIns="0" rtlCol="0" anchor="ctr"/>
          <a:lstStyle/>
          <a:p>
            <a:pPr algn="ctr">
              <a:spcAft>
                <a:spcPts val="150"/>
              </a:spcAft>
            </a:pPr>
            <a:r>
              <a:rPr lang="en-US" sz="900" b="1" dirty="0">
                <a:solidFill>
                  <a:srgbClr val="1F3864"/>
                </a:solidFill>
                <a:latin typeface="Times New Roman" pitchFamily="34" charset="0"/>
                <a:ea typeface="Times New Roman" pitchFamily="34" charset="-122"/>
                <a:cs typeface="Times New Roman" pitchFamily="34" charset="-120"/>
              </a:rPr>
              <a:t>6. Reliability Assessment</a:t>
            </a:r>
            <a:endParaRPr lang="en-US" sz="900" dirty="0"/>
          </a:p>
          <a:p>
            <a:pPr algn="ctr">
              <a:spcAft>
                <a:spcPts val="150"/>
              </a:spcAft>
            </a:pPr>
            <a:r>
              <a:rPr lang="en-US" sz="713" dirty="0">
                <a:solidFill>
                  <a:srgbClr val="222222"/>
                </a:solidFill>
                <a:latin typeface="Times New Roman" pitchFamily="34" charset="0"/>
                <a:ea typeface="Times New Roman" pitchFamily="34" charset="-122"/>
                <a:cs typeface="Times New Roman" pitchFamily="34" charset="-120"/>
              </a:rPr>
              <a:t>Confidence, agreement, uncertainty (where applicable)</a:t>
            </a:r>
            <a:endParaRPr lang="en-US" sz="900" dirty="0"/>
          </a:p>
        </p:txBody>
      </p:sp>
      <p:sp>
        <p:nvSpPr>
          <p:cNvPr id="15" name="Shape 13"/>
          <p:cNvSpPr/>
          <p:nvPr/>
        </p:nvSpPr>
        <p:spPr>
          <a:xfrm>
            <a:off x="2268284" y="3017520"/>
            <a:ext cx="1097280" cy="857250"/>
          </a:xfrm>
          <a:prstGeom prst="diamond">
            <a:avLst/>
          </a:prstGeom>
          <a:solidFill>
            <a:srgbClr val="FFFFFF"/>
          </a:solidFill>
          <a:ln w="19050">
            <a:solidFill>
              <a:srgbClr val="1F3864"/>
            </a:solidFill>
            <a:prstDash val="solid"/>
          </a:ln>
        </p:spPr>
      </p:sp>
      <p:sp>
        <p:nvSpPr>
          <p:cNvPr id="16" name="Text 14"/>
          <p:cNvSpPr txBox="1"/>
          <p:nvPr/>
        </p:nvSpPr>
        <p:spPr>
          <a:xfrm>
            <a:off x="2268284" y="3017520"/>
            <a:ext cx="1097280" cy="857250"/>
          </a:xfrm>
          <a:prstGeom prst="rect">
            <a:avLst/>
          </a:prstGeom>
          <a:noFill/>
          <a:ln/>
        </p:spPr>
        <p:txBody>
          <a:bodyPr wrap="square" lIns="0" tIns="0" rIns="0" bIns="0" rtlCol="0" anchor="ctr"/>
          <a:lstStyle/>
          <a:p>
            <a:pPr algn="ctr"/>
            <a:r>
              <a:rPr lang="en-US" sz="825" b="1" dirty="0">
                <a:solidFill>
                  <a:srgbClr val="1F3864"/>
                </a:solidFill>
                <a:latin typeface="Times New Roman" pitchFamily="34" charset="0"/>
                <a:ea typeface="Times New Roman" pitchFamily="34" charset="-122"/>
                <a:cs typeface="Times New Roman" pitchFamily="34" charset="-120"/>
              </a:rPr>
              <a:t>7. Decision</a:t>
            </a:r>
            <a:endParaRPr lang="en-US" sz="825" dirty="0"/>
          </a:p>
          <a:p>
            <a:pPr algn="ctr"/>
            <a:r>
              <a:rPr lang="en-US" sz="825" b="1" dirty="0">
                <a:solidFill>
                  <a:srgbClr val="1F3864"/>
                </a:solidFill>
                <a:latin typeface="Times New Roman" pitchFamily="34" charset="0"/>
                <a:ea typeface="Times New Roman" pitchFamily="34" charset="-122"/>
                <a:cs typeface="Times New Roman" pitchFamily="34" charset="-120"/>
              </a:rPr>
              <a:t>Gate</a:t>
            </a:r>
            <a:endParaRPr lang="en-US" sz="825" dirty="0"/>
          </a:p>
        </p:txBody>
      </p:sp>
      <p:sp>
        <p:nvSpPr>
          <p:cNvPr id="17" name="Shape 15"/>
          <p:cNvSpPr/>
          <p:nvPr/>
        </p:nvSpPr>
        <p:spPr>
          <a:xfrm>
            <a:off x="3850767" y="3051810"/>
            <a:ext cx="1440180" cy="788670"/>
          </a:xfrm>
          <a:prstGeom prst="roundRect">
            <a:avLst>
              <a:gd name="adj" fmla="val 6957"/>
            </a:avLst>
          </a:prstGeom>
          <a:solidFill>
            <a:srgbClr val="D9E2F3"/>
          </a:solidFill>
          <a:ln w="15875">
            <a:solidFill>
              <a:srgbClr val="1F3864"/>
            </a:solidFill>
            <a:prstDash val="solid"/>
          </a:ln>
        </p:spPr>
      </p:sp>
      <p:sp>
        <p:nvSpPr>
          <p:cNvPr id="18" name="Text 16"/>
          <p:cNvSpPr txBox="1"/>
          <p:nvPr/>
        </p:nvSpPr>
        <p:spPr>
          <a:xfrm>
            <a:off x="3891915" y="3051810"/>
            <a:ext cx="1357884" cy="788670"/>
          </a:xfrm>
          <a:prstGeom prst="rect">
            <a:avLst/>
          </a:prstGeom>
          <a:noFill/>
          <a:ln/>
        </p:spPr>
        <p:txBody>
          <a:bodyPr wrap="square" lIns="0" tIns="0" rIns="0" bIns="0" rtlCol="0" anchor="ctr"/>
          <a:lstStyle/>
          <a:p>
            <a:pPr algn="ctr">
              <a:spcAft>
                <a:spcPts val="150"/>
              </a:spcAft>
            </a:pPr>
            <a:r>
              <a:rPr lang="en-US" sz="900" b="1" dirty="0">
                <a:solidFill>
                  <a:srgbClr val="1F3864"/>
                </a:solidFill>
                <a:latin typeface="Times New Roman" pitchFamily="34" charset="0"/>
                <a:ea typeface="Times New Roman" pitchFamily="34" charset="-122"/>
                <a:cs typeface="Times New Roman" pitchFamily="34" charset="-120"/>
              </a:rPr>
              <a:t>8A. Accepted Prediction</a:t>
            </a:r>
            <a:endParaRPr lang="en-US" sz="900" dirty="0"/>
          </a:p>
          <a:p>
            <a:pPr algn="ctr">
              <a:spcAft>
                <a:spcPts val="150"/>
              </a:spcAft>
            </a:pPr>
            <a:r>
              <a:rPr lang="en-US" sz="713" dirty="0">
                <a:solidFill>
                  <a:srgbClr val="222222"/>
                </a:solidFill>
                <a:latin typeface="Times New Roman" pitchFamily="34" charset="0"/>
                <a:ea typeface="Times New Roman" pitchFamily="34" charset="-122"/>
                <a:cs typeface="Times New Roman" pitchFamily="34" charset="-120"/>
              </a:rPr>
              <a:t>Predicted plant disease identified</a:t>
            </a:r>
            <a:endParaRPr lang="en-US" sz="900" dirty="0"/>
          </a:p>
        </p:txBody>
      </p:sp>
      <p:sp>
        <p:nvSpPr>
          <p:cNvPr id="19" name="Shape 17"/>
          <p:cNvSpPr/>
          <p:nvPr/>
        </p:nvSpPr>
        <p:spPr>
          <a:xfrm>
            <a:off x="5604701" y="3051810"/>
            <a:ext cx="1440180" cy="788670"/>
          </a:xfrm>
          <a:prstGeom prst="roundRect">
            <a:avLst>
              <a:gd name="adj" fmla="val 6957"/>
            </a:avLst>
          </a:prstGeom>
          <a:solidFill>
            <a:srgbClr val="D9E2F3"/>
          </a:solidFill>
          <a:ln w="15875">
            <a:solidFill>
              <a:srgbClr val="1F3864"/>
            </a:solidFill>
            <a:prstDash val="dash"/>
          </a:ln>
        </p:spPr>
      </p:sp>
      <p:sp>
        <p:nvSpPr>
          <p:cNvPr id="20" name="Text 18"/>
          <p:cNvSpPr txBox="1"/>
          <p:nvPr/>
        </p:nvSpPr>
        <p:spPr>
          <a:xfrm>
            <a:off x="5645849" y="3051810"/>
            <a:ext cx="1357884" cy="788670"/>
          </a:xfrm>
          <a:prstGeom prst="rect">
            <a:avLst/>
          </a:prstGeom>
          <a:noFill/>
          <a:ln/>
        </p:spPr>
        <p:txBody>
          <a:bodyPr wrap="square" lIns="0" tIns="0" rIns="0" bIns="0" rtlCol="0" anchor="ctr"/>
          <a:lstStyle/>
          <a:p>
            <a:pPr algn="ctr">
              <a:spcAft>
                <a:spcPts val="150"/>
              </a:spcAft>
            </a:pPr>
            <a:r>
              <a:rPr lang="en-US" sz="900" b="1" dirty="0">
                <a:solidFill>
                  <a:srgbClr val="1F3864"/>
                </a:solidFill>
                <a:latin typeface="Times New Roman" pitchFamily="34" charset="0"/>
                <a:ea typeface="Times New Roman" pitchFamily="34" charset="-122"/>
                <a:cs typeface="Times New Roman" pitchFamily="34" charset="-120"/>
              </a:rPr>
              <a:t>9. Agentic Evidence Retrieval</a:t>
            </a:r>
            <a:endParaRPr lang="en-US" sz="900" dirty="0"/>
          </a:p>
          <a:p>
            <a:pPr algn="ctr">
              <a:spcAft>
                <a:spcPts val="150"/>
              </a:spcAft>
            </a:pPr>
            <a:r>
              <a:rPr lang="en-US" sz="713" dirty="0">
                <a:solidFill>
                  <a:srgbClr val="222222"/>
                </a:solidFill>
                <a:latin typeface="Times New Roman" pitchFamily="34" charset="0"/>
                <a:ea typeface="Times New Roman" pitchFamily="34" charset="-122"/>
                <a:cs typeface="Times New Roman" pitchFamily="34" charset="-120"/>
              </a:rPr>
              <a:t>Supporting disease information from configured source (proposed)</a:t>
            </a:r>
            <a:endParaRPr lang="en-US" sz="900" dirty="0"/>
          </a:p>
        </p:txBody>
      </p:sp>
      <p:sp>
        <p:nvSpPr>
          <p:cNvPr id="21" name="Shape 19"/>
          <p:cNvSpPr/>
          <p:nvPr/>
        </p:nvSpPr>
        <p:spPr>
          <a:xfrm>
            <a:off x="7358634" y="3051810"/>
            <a:ext cx="1440180" cy="788670"/>
          </a:xfrm>
          <a:prstGeom prst="roundRect">
            <a:avLst>
              <a:gd name="adj" fmla="val 6957"/>
            </a:avLst>
          </a:prstGeom>
          <a:solidFill>
            <a:srgbClr val="1F3864"/>
          </a:solidFill>
          <a:ln w="15875">
            <a:solidFill>
              <a:srgbClr val="1F3864"/>
            </a:solidFill>
            <a:prstDash val="solid"/>
          </a:ln>
        </p:spPr>
      </p:sp>
      <p:sp>
        <p:nvSpPr>
          <p:cNvPr id="22" name="Text 20"/>
          <p:cNvSpPr txBox="1"/>
          <p:nvPr/>
        </p:nvSpPr>
        <p:spPr>
          <a:xfrm>
            <a:off x="7399782" y="3051810"/>
            <a:ext cx="1357884" cy="788670"/>
          </a:xfrm>
          <a:prstGeom prst="rect">
            <a:avLst/>
          </a:prstGeom>
          <a:noFill/>
          <a:ln/>
        </p:spPr>
        <p:txBody>
          <a:bodyPr wrap="square" lIns="0" tIns="0" rIns="0" bIns="0" rtlCol="0" anchor="ctr"/>
          <a:lstStyle/>
          <a:p>
            <a:pPr algn="ctr">
              <a:spcAft>
                <a:spcPts val="150"/>
              </a:spcAft>
            </a:pPr>
            <a:r>
              <a:rPr lang="en-US" sz="900" b="1" dirty="0">
                <a:solidFill>
                  <a:srgbClr val="FFFFFF"/>
                </a:solidFill>
                <a:latin typeface="Times New Roman" pitchFamily="34" charset="0"/>
                <a:ea typeface="Times New Roman" pitchFamily="34" charset="-122"/>
                <a:cs typeface="Times New Roman" pitchFamily="34" charset="-120"/>
              </a:rPr>
              <a:t>10. Final Result</a:t>
            </a:r>
            <a:endParaRPr lang="en-US" sz="900" dirty="0"/>
          </a:p>
          <a:p>
            <a:pPr algn="ctr">
              <a:spcAft>
                <a:spcPts val="150"/>
              </a:spcAft>
            </a:pPr>
            <a:r>
              <a:rPr lang="en-US" sz="713" dirty="0">
                <a:solidFill>
                  <a:srgbClr val="FFFFFF"/>
                </a:solidFill>
                <a:latin typeface="Times New Roman" pitchFamily="34" charset="0"/>
                <a:ea typeface="Times New Roman" pitchFamily="34" charset="-122"/>
                <a:cs typeface="Times New Roman" pitchFamily="34" charset="-120"/>
              </a:rPr>
              <a:t>Prediction + reliability status + evidence, or uncertainty message</a:t>
            </a:r>
            <a:endParaRPr lang="en-US" sz="900" dirty="0"/>
          </a:p>
        </p:txBody>
      </p:sp>
      <p:sp>
        <p:nvSpPr>
          <p:cNvPr id="23" name="Shape 21"/>
          <p:cNvSpPr/>
          <p:nvPr/>
        </p:nvSpPr>
        <p:spPr>
          <a:xfrm>
            <a:off x="2131124" y="4320540"/>
            <a:ext cx="1371600" cy="651510"/>
          </a:xfrm>
          <a:prstGeom prst="roundRect">
            <a:avLst>
              <a:gd name="adj" fmla="val 8421"/>
            </a:avLst>
          </a:prstGeom>
          <a:solidFill>
            <a:srgbClr val="FCE4D6"/>
          </a:solidFill>
          <a:ln w="15875">
            <a:solidFill>
              <a:srgbClr val="1F3864"/>
            </a:solidFill>
            <a:prstDash val="solid"/>
          </a:ln>
        </p:spPr>
      </p:sp>
      <p:sp>
        <p:nvSpPr>
          <p:cNvPr id="24" name="Text 22"/>
          <p:cNvSpPr txBox="1"/>
          <p:nvPr/>
        </p:nvSpPr>
        <p:spPr>
          <a:xfrm>
            <a:off x="2172272" y="4320540"/>
            <a:ext cx="1289304" cy="651510"/>
          </a:xfrm>
          <a:prstGeom prst="rect">
            <a:avLst/>
          </a:prstGeom>
          <a:noFill/>
          <a:ln/>
        </p:spPr>
        <p:txBody>
          <a:bodyPr wrap="square" lIns="0" tIns="0" rIns="0" bIns="0" rtlCol="0" anchor="ctr"/>
          <a:lstStyle/>
          <a:p>
            <a:pPr algn="ctr">
              <a:spcAft>
                <a:spcPts val="150"/>
              </a:spcAft>
            </a:pPr>
            <a:r>
              <a:rPr lang="en-US" sz="900" b="1" dirty="0">
                <a:solidFill>
                  <a:srgbClr val="1F3864"/>
                </a:solidFill>
                <a:latin typeface="Times New Roman" pitchFamily="34" charset="0"/>
                <a:ea typeface="Times New Roman" pitchFamily="34" charset="-122"/>
                <a:cs typeface="Times New Roman" pitchFamily="34" charset="-120"/>
              </a:rPr>
              <a:t>8B. Abstention</a:t>
            </a:r>
            <a:endParaRPr lang="en-US" sz="900" dirty="0"/>
          </a:p>
          <a:p>
            <a:pPr algn="ctr">
              <a:spcAft>
                <a:spcPts val="150"/>
              </a:spcAft>
            </a:pPr>
            <a:r>
              <a:rPr lang="en-US" sz="713" dirty="0">
                <a:solidFill>
                  <a:srgbClr val="222222"/>
                </a:solidFill>
                <a:latin typeface="Times New Roman" pitchFamily="34" charset="0"/>
                <a:ea typeface="Times New Roman" pitchFamily="34" charset="-122"/>
                <a:cs typeface="Times New Roman" pitchFamily="34" charset="-120"/>
              </a:rPr>
              <a:t>No forced disease label</a:t>
            </a:r>
            <a:endParaRPr lang="en-US" sz="900" dirty="0"/>
          </a:p>
        </p:txBody>
      </p:sp>
      <p:sp>
        <p:nvSpPr>
          <p:cNvPr id="25" name="Shape 23"/>
          <p:cNvSpPr/>
          <p:nvPr/>
        </p:nvSpPr>
        <p:spPr>
          <a:xfrm>
            <a:off x="342900" y="4320540"/>
            <a:ext cx="1440180" cy="651510"/>
          </a:xfrm>
          <a:prstGeom prst="roundRect">
            <a:avLst>
              <a:gd name="adj" fmla="val 8421"/>
            </a:avLst>
          </a:prstGeom>
          <a:solidFill>
            <a:srgbClr val="FFFFFF"/>
          </a:solidFill>
          <a:ln w="15875">
            <a:solidFill>
              <a:srgbClr val="1F3864"/>
            </a:solidFill>
            <a:prstDash val="dash"/>
          </a:ln>
        </p:spPr>
      </p:sp>
      <p:sp>
        <p:nvSpPr>
          <p:cNvPr id="26" name="Text 24"/>
          <p:cNvSpPr txBox="1"/>
          <p:nvPr/>
        </p:nvSpPr>
        <p:spPr>
          <a:xfrm>
            <a:off x="384048" y="4320540"/>
            <a:ext cx="1357884" cy="651510"/>
          </a:xfrm>
          <a:prstGeom prst="rect">
            <a:avLst/>
          </a:prstGeom>
          <a:noFill/>
          <a:ln/>
        </p:spPr>
        <p:txBody>
          <a:bodyPr wrap="square" lIns="0" tIns="0" rIns="0" bIns="0" rtlCol="0" anchor="ctr"/>
          <a:lstStyle/>
          <a:p>
            <a:pPr algn="ctr">
              <a:spcAft>
                <a:spcPts val="150"/>
              </a:spcAft>
            </a:pPr>
            <a:r>
              <a:rPr lang="en-US" sz="825" b="1" dirty="0">
                <a:solidFill>
                  <a:srgbClr val="1F3864"/>
                </a:solidFill>
                <a:latin typeface="Times New Roman" pitchFamily="34" charset="0"/>
                <a:ea typeface="Times New Roman" pitchFamily="34" charset="-122"/>
                <a:cs typeface="Times New Roman" pitchFamily="34" charset="-120"/>
              </a:rPr>
              <a:t>Offline data roles</a:t>
            </a:r>
            <a:endParaRPr lang="en-US" sz="825" dirty="0"/>
          </a:p>
          <a:p>
            <a:pPr algn="ctr">
              <a:spcAft>
                <a:spcPts val="150"/>
              </a:spcAft>
            </a:pPr>
            <a:r>
              <a:rPr lang="en-US" sz="713" dirty="0">
                <a:solidFill>
                  <a:srgbClr val="222222"/>
                </a:solidFill>
                <a:latin typeface="Times New Roman" pitchFamily="34" charset="0"/>
                <a:ea typeface="Times New Roman" pitchFamily="34" charset="-122"/>
                <a:cs typeface="Times New Roman" pitchFamily="34" charset="-120"/>
              </a:rPr>
              <a:t>Train: fit parameters · Val: model selection · Test: final evaluation only</a:t>
            </a:r>
            <a:endParaRPr lang="en-US" sz="825" dirty="0"/>
          </a:p>
        </p:txBody>
      </p:sp>
      <p:sp>
        <p:nvSpPr>
          <p:cNvPr id="27" name="Shape 25"/>
          <p:cNvSpPr/>
          <p:nvPr/>
        </p:nvSpPr>
        <p:spPr>
          <a:xfrm>
            <a:off x="1783080" y="2074545"/>
            <a:ext cx="313754" cy="0"/>
          </a:xfrm>
          <a:prstGeom prst="line">
            <a:avLst/>
          </a:prstGeom>
          <a:noFill/>
          <a:ln w="22225">
            <a:solidFill>
              <a:srgbClr val="1F3864"/>
            </a:solidFill>
            <a:prstDash val="solid"/>
            <a:tailEnd type="triangle"/>
          </a:ln>
        </p:spPr>
      </p:sp>
      <p:sp>
        <p:nvSpPr>
          <p:cNvPr id="28" name="Shape 26"/>
          <p:cNvSpPr/>
          <p:nvPr/>
        </p:nvSpPr>
        <p:spPr>
          <a:xfrm>
            <a:off x="3537013" y="2074545"/>
            <a:ext cx="313754" cy="0"/>
          </a:xfrm>
          <a:prstGeom prst="line">
            <a:avLst/>
          </a:prstGeom>
          <a:noFill/>
          <a:ln w="22225">
            <a:solidFill>
              <a:srgbClr val="1F3864"/>
            </a:solidFill>
            <a:prstDash val="solid"/>
            <a:tailEnd type="triangle"/>
          </a:ln>
        </p:spPr>
      </p:sp>
      <p:sp>
        <p:nvSpPr>
          <p:cNvPr id="29" name="Shape 27"/>
          <p:cNvSpPr/>
          <p:nvPr/>
        </p:nvSpPr>
        <p:spPr>
          <a:xfrm>
            <a:off x="5290947" y="2074545"/>
            <a:ext cx="313754" cy="0"/>
          </a:xfrm>
          <a:prstGeom prst="line">
            <a:avLst/>
          </a:prstGeom>
          <a:noFill/>
          <a:ln w="22225">
            <a:solidFill>
              <a:srgbClr val="1F3864"/>
            </a:solidFill>
            <a:prstDash val="solid"/>
            <a:tailEnd type="triangle"/>
          </a:ln>
        </p:spPr>
      </p:sp>
      <p:sp>
        <p:nvSpPr>
          <p:cNvPr id="30" name="Shape 28"/>
          <p:cNvSpPr/>
          <p:nvPr/>
        </p:nvSpPr>
        <p:spPr>
          <a:xfrm>
            <a:off x="7044880" y="2074545"/>
            <a:ext cx="313754" cy="0"/>
          </a:xfrm>
          <a:prstGeom prst="line">
            <a:avLst/>
          </a:prstGeom>
          <a:noFill/>
          <a:ln w="22225">
            <a:solidFill>
              <a:srgbClr val="1F3864"/>
            </a:solidFill>
            <a:prstDash val="solid"/>
            <a:tailEnd type="triangle"/>
          </a:ln>
        </p:spPr>
      </p:sp>
      <p:sp>
        <p:nvSpPr>
          <p:cNvPr id="31" name="Shape 29"/>
          <p:cNvSpPr/>
          <p:nvPr/>
        </p:nvSpPr>
        <p:spPr>
          <a:xfrm>
            <a:off x="8078724" y="2468880"/>
            <a:ext cx="0" cy="291465"/>
          </a:xfrm>
          <a:prstGeom prst="line">
            <a:avLst/>
          </a:prstGeom>
          <a:noFill/>
          <a:ln w="22225">
            <a:solidFill>
              <a:srgbClr val="1F3864"/>
            </a:solidFill>
            <a:prstDash val="solid"/>
          </a:ln>
        </p:spPr>
      </p:sp>
      <p:sp>
        <p:nvSpPr>
          <p:cNvPr id="32" name="Shape 30"/>
          <p:cNvSpPr/>
          <p:nvPr/>
        </p:nvSpPr>
        <p:spPr>
          <a:xfrm flipH="1">
            <a:off x="1062990" y="2760345"/>
            <a:ext cx="7015734" cy="0"/>
          </a:xfrm>
          <a:prstGeom prst="line">
            <a:avLst/>
          </a:prstGeom>
          <a:noFill/>
          <a:ln w="22225">
            <a:solidFill>
              <a:srgbClr val="1F3864"/>
            </a:solidFill>
            <a:prstDash val="solid"/>
          </a:ln>
        </p:spPr>
      </p:sp>
      <p:sp>
        <p:nvSpPr>
          <p:cNvPr id="33" name="Shape 31"/>
          <p:cNvSpPr/>
          <p:nvPr/>
        </p:nvSpPr>
        <p:spPr>
          <a:xfrm>
            <a:off x="1062990" y="2760345"/>
            <a:ext cx="0" cy="291465"/>
          </a:xfrm>
          <a:prstGeom prst="line">
            <a:avLst/>
          </a:prstGeom>
          <a:noFill/>
          <a:ln w="22225">
            <a:solidFill>
              <a:srgbClr val="1F3864"/>
            </a:solidFill>
            <a:prstDash val="solid"/>
            <a:tailEnd type="triangle"/>
          </a:ln>
        </p:spPr>
      </p:sp>
      <p:sp>
        <p:nvSpPr>
          <p:cNvPr id="34" name="Shape 32"/>
          <p:cNvSpPr/>
          <p:nvPr/>
        </p:nvSpPr>
        <p:spPr>
          <a:xfrm>
            <a:off x="1783080" y="3446145"/>
            <a:ext cx="485204" cy="0"/>
          </a:xfrm>
          <a:prstGeom prst="line">
            <a:avLst/>
          </a:prstGeom>
          <a:noFill/>
          <a:ln w="22225">
            <a:solidFill>
              <a:srgbClr val="1F3864"/>
            </a:solidFill>
            <a:prstDash val="solid"/>
            <a:tailEnd type="triangle"/>
          </a:ln>
        </p:spPr>
      </p:sp>
      <p:sp>
        <p:nvSpPr>
          <p:cNvPr id="35" name="Shape 33"/>
          <p:cNvSpPr/>
          <p:nvPr/>
        </p:nvSpPr>
        <p:spPr>
          <a:xfrm>
            <a:off x="3365563" y="3446145"/>
            <a:ext cx="485204" cy="0"/>
          </a:xfrm>
          <a:prstGeom prst="line">
            <a:avLst/>
          </a:prstGeom>
          <a:noFill/>
          <a:ln w="22225">
            <a:solidFill>
              <a:srgbClr val="1F3864"/>
            </a:solidFill>
            <a:prstDash val="solid"/>
            <a:tailEnd type="triangle"/>
          </a:ln>
        </p:spPr>
      </p:sp>
      <p:sp>
        <p:nvSpPr>
          <p:cNvPr id="36" name="Text 34"/>
          <p:cNvSpPr txBox="1"/>
          <p:nvPr/>
        </p:nvSpPr>
        <p:spPr>
          <a:xfrm>
            <a:off x="3365564" y="3158109"/>
            <a:ext cx="425196" cy="246888"/>
          </a:xfrm>
          <a:prstGeom prst="rect">
            <a:avLst/>
          </a:prstGeom>
          <a:noFill/>
          <a:ln/>
        </p:spPr>
        <p:txBody>
          <a:bodyPr wrap="square" lIns="0" tIns="0" rIns="0" bIns="0" rtlCol="0" anchor="ctr"/>
          <a:lstStyle/>
          <a:p>
            <a:pPr algn="ctr"/>
            <a:r>
              <a:rPr lang="en-US" sz="750" b="1" dirty="0">
                <a:solidFill>
                  <a:srgbClr val="1F8A8A"/>
                </a:solidFill>
                <a:latin typeface="Times New Roman" pitchFamily="34" charset="0"/>
                <a:ea typeface="Times New Roman" pitchFamily="34" charset="-122"/>
                <a:cs typeface="Times New Roman" pitchFamily="34" charset="-120"/>
              </a:rPr>
              <a:t>Prediction</a:t>
            </a:r>
            <a:endParaRPr lang="en-US" sz="750" dirty="0"/>
          </a:p>
          <a:p>
            <a:pPr algn="ctr"/>
            <a:r>
              <a:rPr lang="en-US" sz="750" b="1" dirty="0">
                <a:solidFill>
                  <a:srgbClr val="1F8A8A"/>
                </a:solidFill>
                <a:latin typeface="Times New Roman" pitchFamily="34" charset="0"/>
                <a:ea typeface="Times New Roman" pitchFamily="34" charset="-122"/>
                <a:cs typeface="Times New Roman" pitchFamily="34" charset="-120"/>
              </a:rPr>
              <a:t>accepted</a:t>
            </a:r>
            <a:endParaRPr lang="en-US" sz="750" dirty="0"/>
          </a:p>
        </p:txBody>
      </p:sp>
      <p:sp>
        <p:nvSpPr>
          <p:cNvPr id="37" name="Shape 35"/>
          <p:cNvSpPr/>
          <p:nvPr/>
        </p:nvSpPr>
        <p:spPr>
          <a:xfrm>
            <a:off x="5290947" y="3446145"/>
            <a:ext cx="313754" cy="0"/>
          </a:xfrm>
          <a:prstGeom prst="line">
            <a:avLst/>
          </a:prstGeom>
          <a:noFill/>
          <a:ln w="22225">
            <a:solidFill>
              <a:srgbClr val="1F3864"/>
            </a:solidFill>
            <a:prstDash val="solid"/>
            <a:tailEnd type="triangle"/>
          </a:ln>
        </p:spPr>
      </p:sp>
      <p:sp>
        <p:nvSpPr>
          <p:cNvPr id="38" name="Shape 36"/>
          <p:cNvSpPr/>
          <p:nvPr/>
        </p:nvSpPr>
        <p:spPr>
          <a:xfrm>
            <a:off x="7044880" y="3446145"/>
            <a:ext cx="313754" cy="0"/>
          </a:xfrm>
          <a:prstGeom prst="line">
            <a:avLst/>
          </a:prstGeom>
          <a:noFill/>
          <a:ln w="22225">
            <a:solidFill>
              <a:srgbClr val="1F3864"/>
            </a:solidFill>
            <a:prstDash val="solid"/>
            <a:tailEnd type="triangle"/>
          </a:ln>
        </p:spPr>
      </p:sp>
      <p:sp>
        <p:nvSpPr>
          <p:cNvPr id="39" name="Shape 37"/>
          <p:cNvSpPr/>
          <p:nvPr/>
        </p:nvSpPr>
        <p:spPr>
          <a:xfrm>
            <a:off x="2816924" y="3874770"/>
            <a:ext cx="0" cy="445770"/>
          </a:xfrm>
          <a:prstGeom prst="line">
            <a:avLst/>
          </a:prstGeom>
          <a:noFill/>
          <a:ln w="22225">
            <a:solidFill>
              <a:srgbClr val="1F3864"/>
            </a:solidFill>
            <a:prstDash val="solid"/>
            <a:tailEnd type="triangle"/>
          </a:ln>
        </p:spPr>
      </p:sp>
      <p:sp>
        <p:nvSpPr>
          <p:cNvPr id="40" name="Text 38"/>
          <p:cNvSpPr txBox="1"/>
          <p:nvPr/>
        </p:nvSpPr>
        <p:spPr>
          <a:xfrm>
            <a:off x="2871788" y="3943350"/>
            <a:ext cx="480060" cy="150876"/>
          </a:xfrm>
          <a:prstGeom prst="rect">
            <a:avLst/>
          </a:prstGeom>
          <a:noFill/>
          <a:ln/>
        </p:spPr>
        <p:txBody>
          <a:bodyPr wrap="square" lIns="0" tIns="0" rIns="0" bIns="0" rtlCol="0" anchor="ctr"/>
          <a:lstStyle/>
          <a:p>
            <a:r>
              <a:rPr lang="en-US" sz="750" b="1" dirty="0">
                <a:solidFill>
                  <a:srgbClr val="1F8A8A"/>
                </a:solidFill>
                <a:latin typeface="Times New Roman" pitchFamily="34" charset="0"/>
                <a:ea typeface="Times New Roman" pitchFamily="34" charset="-122"/>
                <a:cs typeface="Times New Roman" pitchFamily="34" charset="-120"/>
              </a:rPr>
              <a:t>Abstain</a:t>
            </a:r>
            <a:endParaRPr lang="en-US" sz="750" dirty="0"/>
          </a:p>
        </p:txBody>
      </p:sp>
      <p:sp>
        <p:nvSpPr>
          <p:cNvPr id="41" name="Shape 39"/>
          <p:cNvSpPr/>
          <p:nvPr/>
        </p:nvSpPr>
        <p:spPr>
          <a:xfrm>
            <a:off x="3502723" y="4646295"/>
            <a:ext cx="4576001" cy="0"/>
          </a:xfrm>
          <a:prstGeom prst="line">
            <a:avLst/>
          </a:prstGeom>
          <a:noFill/>
          <a:ln w="22225">
            <a:solidFill>
              <a:srgbClr val="1F3864"/>
            </a:solidFill>
            <a:prstDash val="solid"/>
          </a:ln>
        </p:spPr>
      </p:sp>
      <p:sp>
        <p:nvSpPr>
          <p:cNvPr id="42" name="Shape 40"/>
          <p:cNvSpPr/>
          <p:nvPr/>
        </p:nvSpPr>
        <p:spPr>
          <a:xfrm flipV="1">
            <a:off x="8078724" y="3840480"/>
            <a:ext cx="0" cy="805815"/>
          </a:xfrm>
          <a:prstGeom prst="line">
            <a:avLst/>
          </a:prstGeom>
          <a:noFill/>
          <a:ln w="22225">
            <a:solidFill>
              <a:srgbClr val="1F3864"/>
            </a:solidFill>
            <a:prstDash val="solid"/>
            <a:tailEnd type="triangle"/>
          </a:ln>
        </p:spPr>
      </p:sp>
      <p:sp>
        <p:nvSpPr>
          <p:cNvPr id="43" name="Text 41"/>
          <p:cNvSpPr txBox="1"/>
          <p:nvPr/>
        </p:nvSpPr>
        <p:spPr>
          <a:xfrm>
            <a:off x="342900" y="5280660"/>
            <a:ext cx="8455914" cy="274320"/>
          </a:xfrm>
          <a:prstGeom prst="rect">
            <a:avLst/>
          </a:prstGeom>
          <a:noFill/>
          <a:ln/>
        </p:spPr>
        <p:txBody>
          <a:bodyPr wrap="square" lIns="0" tIns="0" rIns="0" bIns="0" rtlCol="0" anchor="ctr"/>
          <a:lstStyle/>
          <a:p>
            <a:pPr algn="ctr"/>
            <a:r>
              <a:rPr lang="en-US" sz="1200" dirty="0">
                <a:solidFill>
                  <a:srgbClr val="000000"/>
                </a:solidFill>
                <a:latin typeface="Times New Roman" pitchFamily="34" charset="0"/>
                <a:ea typeface="Times New Roman" pitchFamily="34" charset="-122"/>
                <a:cs typeface="Times New Roman" pitchFamily="34" charset="-120"/>
              </a:rPr>
              <a:t>Figure 3.6. Proposed Model Pipeline for Abstention-Aware Plant Disease Recognition.</a:t>
            </a:r>
            <a:endParaRPr lang="en-US" sz="120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txBox="1"/>
          <p:nvPr/>
        </p:nvSpPr>
        <p:spPr>
          <a:xfrm>
            <a:off x="342900" y="994410"/>
            <a:ext cx="8455914" cy="445770"/>
          </a:xfrm>
          <a:prstGeom prst="rect">
            <a:avLst/>
          </a:prstGeom>
          <a:noFill/>
          <a:ln/>
        </p:spPr>
        <p:txBody>
          <a:bodyPr wrap="square" lIns="0" tIns="0" rIns="0" bIns="0" rtlCol="0" anchor="ctr"/>
          <a:lstStyle/>
          <a:p>
            <a:r>
              <a:rPr lang="en-US" sz="2400" b="1" dirty="0">
                <a:solidFill>
                  <a:srgbClr val="8B4513"/>
                </a:solidFill>
                <a:latin typeface="Times New Roman" pitchFamily="34" charset="0"/>
                <a:ea typeface="Times New Roman" pitchFamily="34" charset="-122"/>
                <a:cs typeface="Times New Roman" pitchFamily="34" charset="-120"/>
              </a:rPr>
              <a:t>17.4. Algorithms/Pseudo Codes</a:t>
            </a:r>
            <a:endParaRPr lang="en-US" sz="2400" dirty="0"/>
          </a:p>
        </p:txBody>
      </p:sp>
      <p:sp>
        <p:nvSpPr>
          <p:cNvPr id="3" name="Shape 1"/>
          <p:cNvSpPr/>
          <p:nvPr/>
        </p:nvSpPr>
        <p:spPr>
          <a:xfrm>
            <a:off x="342900" y="1529334"/>
            <a:ext cx="8455914" cy="0"/>
          </a:xfrm>
          <a:prstGeom prst="line">
            <a:avLst/>
          </a:prstGeom>
          <a:noFill/>
          <a:ln w="25400">
            <a:solidFill>
              <a:srgbClr val="000000"/>
            </a:solidFill>
            <a:prstDash val="solid"/>
          </a:ln>
        </p:spPr>
      </p:sp>
      <p:sp>
        <p:nvSpPr>
          <p:cNvPr id="4" name="Text 2"/>
          <p:cNvSpPr txBox="1"/>
          <p:nvPr/>
        </p:nvSpPr>
        <p:spPr>
          <a:xfrm>
            <a:off x="342900" y="1543050"/>
            <a:ext cx="8455914" cy="274320"/>
          </a:xfrm>
          <a:prstGeom prst="rect">
            <a:avLst/>
          </a:prstGeom>
          <a:noFill/>
          <a:ln/>
        </p:spPr>
        <p:txBody>
          <a:bodyPr wrap="square" lIns="0" tIns="0" rIns="0" bIns="0" rtlCol="0" anchor="ctr"/>
          <a:lstStyle/>
          <a:p>
            <a:r>
              <a:rPr lang="en-US" sz="1275" b="1" dirty="0">
                <a:solidFill>
                  <a:srgbClr val="000000"/>
                </a:solidFill>
                <a:latin typeface="Times New Roman" pitchFamily="34" charset="0"/>
                <a:ea typeface="Times New Roman" pitchFamily="34" charset="-122"/>
                <a:cs typeface="Times New Roman" pitchFamily="34" charset="-120"/>
              </a:rPr>
              <a:t>Algorithm 1</a:t>
            </a:r>
            <a:r>
              <a:rPr lang="en-US" sz="1275" dirty="0">
                <a:solidFill>
                  <a:srgbClr val="000000"/>
                </a:solidFill>
                <a:latin typeface="Times New Roman" pitchFamily="34" charset="0"/>
                <a:ea typeface="Times New Roman" pitchFamily="34" charset="-122"/>
                <a:cs typeface="Times New Roman" pitchFamily="34" charset="-120"/>
              </a:rPr>
              <a:t>  Abstention-Aware Plant Disease Recognition with Agentic Evidence Retrieval</a:t>
            </a:r>
            <a:endParaRPr lang="en-US" sz="1275" dirty="0"/>
          </a:p>
        </p:txBody>
      </p:sp>
      <p:sp>
        <p:nvSpPr>
          <p:cNvPr id="5" name="Shape 3"/>
          <p:cNvSpPr/>
          <p:nvPr/>
        </p:nvSpPr>
        <p:spPr>
          <a:xfrm>
            <a:off x="342900" y="1831086"/>
            <a:ext cx="8455914" cy="0"/>
          </a:xfrm>
          <a:prstGeom prst="line">
            <a:avLst/>
          </a:prstGeom>
          <a:noFill/>
          <a:ln w="12700">
            <a:solidFill>
              <a:srgbClr val="000000"/>
            </a:solidFill>
            <a:prstDash val="solid"/>
          </a:ln>
        </p:spPr>
      </p:sp>
      <p:sp>
        <p:nvSpPr>
          <p:cNvPr id="6" name="Text 4"/>
          <p:cNvSpPr txBox="1"/>
          <p:nvPr/>
        </p:nvSpPr>
        <p:spPr>
          <a:xfrm>
            <a:off x="411480" y="1885950"/>
            <a:ext cx="8298180" cy="3120390"/>
          </a:xfrm>
          <a:prstGeom prst="rect">
            <a:avLst/>
          </a:prstGeom>
          <a:noFill/>
          <a:ln/>
        </p:spPr>
        <p:txBody>
          <a:bodyPr wrap="square" lIns="0" tIns="0" rIns="0" bIns="0" rtlCol="0" anchor="t"/>
          <a:lstStyle/>
          <a:p>
            <a:pPr>
              <a:spcAft>
                <a:spcPts val="113"/>
              </a:spcAft>
            </a:pPr>
            <a:r>
              <a:rPr lang="en-US" sz="938" b="1" dirty="0">
                <a:solidFill>
                  <a:srgbClr val="000000"/>
                </a:solidFill>
                <a:latin typeface="Times New Roman" pitchFamily="34" charset="0"/>
                <a:ea typeface="Times New Roman" pitchFamily="34" charset="-122"/>
                <a:cs typeface="Times New Roman" pitchFamily="34" charset="-120"/>
              </a:rPr>
              <a:t>Input:  </a:t>
            </a:r>
            <a:r>
              <a:rPr lang="en-US" sz="938" dirty="0">
                <a:solidFill>
                  <a:srgbClr val="000000"/>
                </a:solidFill>
                <a:latin typeface="Times New Roman" pitchFamily="34" charset="0"/>
                <a:ea typeface="Times New Roman" pitchFamily="34" charset="-122"/>
                <a:cs typeface="Times New Roman" pitchFamily="34" charset="-120"/>
              </a:rPr>
              <a:t>Plant leaf image </a:t>
            </a:r>
            <a:r>
              <a:rPr lang="en-US" sz="938" i="1" dirty="0">
                <a:solidFill>
                  <a:srgbClr val="000000"/>
                </a:solidFill>
                <a:latin typeface="Times New Roman" pitchFamily="34" charset="0"/>
                <a:ea typeface="Times New Roman" pitchFamily="34" charset="-122"/>
                <a:cs typeface="Times New Roman" pitchFamily="34" charset="-120"/>
              </a:rPr>
              <a:t>x</a:t>
            </a:r>
            <a:r>
              <a:rPr lang="en-US" sz="938" dirty="0">
                <a:solidFill>
                  <a:srgbClr val="000000"/>
                </a:solidFill>
                <a:latin typeface="Times New Roman" pitchFamily="34" charset="0"/>
                <a:ea typeface="Times New Roman" pitchFamily="34" charset="-122"/>
                <a:cs typeface="Times New Roman" pitchFamily="34" charset="-120"/>
              </a:rPr>
              <a:t>; selected trained models </a:t>
            </a:r>
            <a:r>
              <a:rPr lang="en-US" sz="938" i="1" dirty="0">
                <a:solidFill>
                  <a:srgbClr val="000000"/>
                </a:solidFill>
                <a:latin typeface="Times New Roman" pitchFamily="34" charset="0"/>
                <a:ea typeface="Times New Roman" pitchFamily="34" charset="-122"/>
                <a:cs typeface="Times New Roman" pitchFamily="34" charset="-120"/>
              </a:rPr>
              <a:t>M</a:t>
            </a:r>
            <a:r>
              <a:rPr lang="en-US" sz="938" baseline="-40000" dirty="0">
                <a:solidFill>
                  <a:srgbClr val="000000"/>
                </a:solidFill>
                <a:latin typeface="Times New Roman" pitchFamily="34" charset="0"/>
                <a:ea typeface="Times New Roman" pitchFamily="34" charset="-122"/>
                <a:cs typeface="Times New Roman" pitchFamily="34" charset="-120"/>
              </a:rPr>
              <a:t>1</a:t>
            </a:r>
            <a:r>
              <a:rPr lang="en-US" sz="938" dirty="0">
                <a:solidFill>
                  <a:srgbClr val="000000"/>
                </a:solidFill>
                <a:latin typeface="Times New Roman" pitchFamily="34" charset="0"/>
                <a:ea typeface="Times New Roman" pitchFamily="34" charset="-122"/>
                <a:cs typeface="Times New Roman" pitchFamily="34" charset="-120"/>
              </a:rPr>
              <a:t>, …, </a:t>
            </a:r>
            <a:r>
              <a:rPr lang="en-US" sz="938" i="1" dirty="0">
                <a:solidFill>
                  <a:srgbClr val="000000"/>
                </a:solidFill>
                <a:latin typeface="Times New Roman" pitchFamily="34" charset="0"/>
                <a:ea typeface="Times New Roman" pitchFamily="34" charset="-122"/>
                <a:cs typeface="Times New Roman" pitchFamily="34" charset="-120"/>
              </a:rPr>
              <a:t>M</a:t>
            </a:r>
            <a:r>
              <a:rPr lang="en-US" sz="938" baseline="-40000" dirty="0">
                <a:solidFill>
                  <a:srgbClr val="000000"/>
                </a:solidFill>
                <a:latin typeface="Times New Roman" pitchFamily="34" charset="0"/>
                <a:ea typeface="Times New Roman" pitchFamily="34" charset="-122"/>
                <a:cs typeface="Times New Roman" pitchFamily="34" charset="-120"/>
              </a:rPr>
              <a:t>K</a:t>
            </a:r>
            <a:r>
              <a:rPr lang="en-US" sz="938" dirty="0">
                <a:solidFill>
                  <a:srgbClr val="000000"/>
                </a:solidFill>
                <a:latin typeface="Times New Roman" pitchFamily="34" charset="0"/>
                <a:ea typeface="Times New Roman" pitchFamily="34" charset="-122"/>
                <a:cs typeface="Times New Roman" pitchFamily="34" charset="-120"/>
              </a:rPr>
              <a:t>; ensemble strategy </a:t>
            </a:r>
            <a:r>
              <a:rPr lang="en-US" sz="938" i="1" dirty="0">
                <a:solidFill>
                  <a:srgbClr val="000000"/>
                </a:solidFill>
                <a:latin typeface="Times New Roman" pitchFamily="34" charset="0"/>
                <a:ea typeface="Times New Roman" pitchFamily="34" charset="-122"/>
                <a:cs typeface="Times New Roman" pitchFamily="34" charset="-120"/>
              </a:rPr>
              <a:t>F</a:t>
            </a:r>
            <a:r>
              <a:rPr lang="en-US" sz="938" dirty="0">
                <a:solidFill>
                  <a:srgbClr val="000000"/>
                </a:solidFill>
                <a:latin typeface="Times New Roman" pitchFamily="34" charset="0"/>
                <a:ea typeface="Times New Roman" pitchFamily="34" charset="-122"/>
                <a:cs typeface="Times New Roman" pitchFamily="34" charset="-120"/>
              </a:rPr>
              <a:t>; reliability function </a:t>
            </a:r>
            <a:r>
              <a:rPr lang="en-US" sz="938" i="1" dirty="0">
                <a:solidFill>
                  <a:srgbClr val="000000"/>
                </a:solidFill>
                <a:latin typeface="Times New Roman" pitchFamily="34" charset="0"/>
                <a:ea typeface="Times New Roman" pitchFamily="34" charset="-122"/>
                <a:cs typeface="Times New Roman" pitchFamily="34" charset="-120"/>
              </a:rPr>
              <a:t>R</a:t>
            </a:r>
            <a:r>
              <a:rPr lang="en-US" sz="938" dirty="0">
                <a:solidFill>
                  <a:srgbClr val="000000"/>
                </a:solidFill>
                <a:latin typeface="Times New Roman" pitchFamily="34" charset="0"/>
                <a:ea typeface="Times New Roman" pitchFamily="34" charset="-122"/>
                <a:cs typeface="Times New Roman" pitchFamily="34" charset="-120"/>
              </a:rPr>
              <a:t>; acceptance policy </a:t>
            </a:r>
            <a:r>
              <a:rPr lang="en-US" sz="938" i="1" dirty="0">
                <a:solidFill>
                  <a:srgbClr val="000000"/>
                </a:solidFill>
                <a:latin typeface="Times New Roman" pitchFamily="34" charset="0"/>
                <a:ea typeface="Times New Roman" pitchFamily="34" charset="-122"/>
                <a:cs typeface="Times New Roman" pitchFamily="34" charset="-120"/>
              </a:rPr>
              <a:t>τ</a:t>
            </a:r>
            <a:r>
              <a:rPr lang="en-US" sz="938" dirty="0">
                <a:solidFill>
                  <a:srgbClr val="000000"/>
                </a:solidFill>
                <a:latin typeface="Times New Roman" pitchFamily="34" charset="0"/>
                <a:ea typeface="Times New Roman" pitchFamily="34" charset="-122"/>
                <a:cs typeface="Times New Roman" pitchFamily="34" charset="-120"/>
              </a:rPr>
              <a:t> (only if threshold-based); evidence retrieval component </a:t>
            </a:r>
            <a:r>
              <a:rPr lang="en-US" sz="938" i="1" dirty="0">
                <a:solidFill>
                  <a:srgbClr val="000000"/>
                </a:solidFill>
                <a:latin typeface="Times New Roman" pitchFamily="34" charset="0"/>
                <a:ea typeface="Times New Roman" pitchFamily="34" charset="-122"/>
                <a:cs typeface="Times New Roman" pitchFamily="34" charset="-120"/>
              </a:rPr>
              <a:t>E</a:t>
            </a:r>
            <a:endParaRPr lang="en-US" sz="938" dirty="0"/>
          </a:p>
          <a:p>
            <a:pPr>
              <a:spcAft>
                <a:spcPts val="113"/>
              </a:spcAft>
            </a:pPr>
            <a:r>
              <a:rPr lang="en-US" sz="938" b="1" dirty="0">
                <a:solidFill>
                  <a:srgbClr val="000000"/>
                </a:solidFill>
                <a:latin typeface="Times New Roman" pitchFamily="34" charset="0"/>
                <a:ea typeface="Times New Roman" pitchFamily="34" charset="-122"/>
                <a:cs typeface="Times New Roman" pitchFamily="34" charset="-120"/>
              </a:rPr>
              <a:t>Output:  </a:t>
            </a:r>
            <a:r>
              <a:rPr lang="en-US" sz="938" dirty="0">
                <a:solidFill>
                  <a:srgbClr val="000000"/>
                </a:solidFill>
                <a:latin typeface="Times New Roman" pitchFamily="34" charset="0"/>
                <a:ea typeface="Times New Roman" pitchFamily="34" charset="-122"/>
                <a:cs typeface="Times New Roman" pitchFamily="34" charset="-120"/>
              </a:rPr>
              <a:t>Accepted disease prediction </a:t>
            </a:r>
            <a:r>
              <a:rPr lang="en-US" sz="938" i="1" dirty="0">
                <a:solidFill>
                  <a:srgbClr val="000000"/>
                </a:solidFill>
                <a:latin typeface="Times New Roman" pitchFamily="34" charset="0"/>
                <a:ea typeface="Times New Roman" pitchFamily="34" charset="-122"/>
                <a:cs typeface="Times New Roman" pitchFamily="34" charset="-120"/>
              </a:rPr>
              <a:t>ŷ</a:t>
            </a:r>
            <a:r>
              <a:rPr lang="en-US" sz="938" dirty="0">
                <a:solidFill>
                  <a:srgbClr val="000000"/>
                </a:solidFill>
                <a:latin typeface="Times New Roman" pitchFamily="34" charset="0"/>
                <a:ea typeface="Times New Roman" pitchFamily="34" charset="-122"/>
                <a:cs typeface="Times New Roman" pitchFamily="34" charset="-120"/>
              </a:rPr>
              <a:t> with reliability status and supporting evidence, or an abstention result</a:t>
            </a:r>
            <a:endParaRPr lang="en-US" sz="938" dirty="0"/>
          </a:p>
          <a:p>
            <a:pPr>
              <a:spcAft>
                <a:spcPts val="113"/>
              </a:spcAft>
            </a:pPr>
            <a:r>
              <a:rPr lang="en-US" sz="938" dirty="0">
                <a:solidFill>
                  <a:srgbClr val="000000"/>
                </a:solidFill>
                <a:latin typeface="Times New Roman" pitchFamily="34" charset="0"/>
                <a:ea typeface="Times New Roman" pitchFamily="34" charset="-122"/>
                <a:cs typeface="Times New Roman" pitchFamily="34" charset="-120"/>
              </a:rPr>
              <a:t> 1:  Receive plant leaf image </a:t>
            </a:r>
            <a:r>
              <a:rPr lang="en-US" sz="938" i="1" dirty="0">
                <a:solidFill>
                  <a:srgbClr val="000000"/>
                </a:solidFill>
                <a:latin typeface="Times New Roman" pitchFamily="34" charset="0"/>
                <a:ea typeface="Times New Roman" pitchFamily="34" charset="-122"/>
                <a:cs typeface="Times New Roman" pitchFamily="34" charset="-120"/>
              </a:rPr>
              <a:t>x</a:t>
            </a:r>
            <a:endParaRPr lang="en-US" sz="938" dirty="0"/>
          </a:p>
          <a:p>
            <a:pPr>
              <a:spcAft>
                <a:spcPts val="113"/>
              </a:spcAft>
            </a:pPr>
            <a:r>
              <a:rPr lang="en-US" sz="938" dirty="0">
                <a:solidFill>
                  <a:srgbClr val="000000"/>
                </a:solidFill>
                <a:latin typeface="Times New Roman" pitchFamily="34" charset="0"/>
                <a:ea typeface="Times New Roman" pitchFamily="34" charset="-122"/>
                <a:cs typeface="Times New Roman" pitchFamily="34" charset="-120"/>
              </a:rPr>
              <a:t> 2:  if </a:t>
            </a:r>
            <a:r>
              <a:rPr lang="en-US" sz="938" i="1" dirty="0">
                <a:solidFill>
                  <a:srgbClr val="000000"/>
                </a:solidFill>
                <a:latin typeface="Times New Roman" pitchFamily="34" charset="0"/>
                <a:ea typeface="Times New Roman" pitchFamily="34" charset="-122"/>
                <a:cs typeface="Times New Roman" pitchFamily="34" charset="-120"/>
              </a:rPr>
              <a:t>x</a:t>
            </a:r>
            <a:r>
              <a:rPr lang="en-US" sz="938" dirty="0">
                <a:solidFill>
                  <a:srgbClr val="000000"/>
                </a:solidFill>
                <a:latin typeface="Times New Roman" pitchFamily="34" charset="0"/>
                <a:ea typeface="Times New Roman" pitchFamily="34" charset="-122"/>
                <a:cs typeface="Times New Roman" pitchFamily="34" charset="-120"/>
              </a:rPr>
              <a:t> is not readable or not suitable for processing then</a:t>
            </a:r>
            <a:endParaRPr lang="en-US" sz="938" dirty="0"/>
          </a:p>
          <a:p>
            <a:pPr>
              <a:spcAft>
                <a:spcPts val="113"/>
              </a:spcAft>
            </a:pPr>
            <a:r>
              <a:rPr lang="en-US" sz="938" dirty="0">
                <a:solidFill>
                  <a:srgbClr val="000000"/>
                </a:solidFill>
                <a:latin typeface="Times New Roman" pitchFamily="34" charset="0"/>
                <a:ea typeface="Times New Roman" pitchFamily="34" charset="-122"/>
                <a:cs typeface="Times New Roman" pitchFamily="34" charset="-120"/>
              </a:rPr>
              <a:t> 3:        return invalid-input message</a:t>
            </a:r>
            <a:endParaRPr lang="en-US" sz="938" dirty="0"/>
          </a:p>
          <a:p>
            <a:pPr>
              <a:spcAft>
                <a:spcPts val="113"/>
              </a:spcAft>
            </a:pPr>
            <a:r>
              <a:rPr lang="en-US" sz="938" dirty="0">
                <a:solidFill>
                  <a:srgbClr val="000000"/>
                </a:solidFill>
                <a:latin typeface="Times New Roman" pitchFamily="34" charset="0"/>
                <a:ea typeface="Times New Roman" pitchFamily="34" charset="-122"/>
                <a:cs typeface="Times New Roman" pitchFamily="34" charset="-120"/>
              </a:rPr>
              <a:t> 4:  </a:t>
            </a:r>
            <a:r>
              <a:rPr lang="en-US" sz="938" i="1" dirty="0">
                <a:solidFill>
                  <a:srgbClr val="000000"/>
                </a:solidFill>
                <a:latin typeface="Times New Roman" pitchFamily="34" charset="0"/>
                <a:ea typeface="Times New Roman" pitchFamily="34" charset="-122"/>
                <a:cs typeface="Times New Roman" pitchFamily="34" charset="-120"/>
              </a:rPr>
              <a:t>x′</a:t>
            </a:r>
            <a:r>
              <a:rPr lang="en-US" sz="938" dirty="0">
                <a:solidFill>
                  <a:srgbClr val="000000"/>
                </a:solidFill>
                <a:latin typeface="Times New Roman" pitchFamily="34" charset="0"/>
                <a:ea typeface="Times New Roman" pitchFamily="34" charset="-122"/>
                <a:cs typeface="Times New Roman" pitchFamily="34" charset="-120"/>
              </a:rPr>
              <a:t> ← Resize(</a:t>
            </a:r>
            <a:r>
              <a:rPr lang="en-US" sz="938" i="1" dirty="0">
                <a:solidFill>
                  <a:srgbClr val="000000"/>
                </a:solidFill>
                <a:latin typeface="Times New Roman" pitchFamily="34" charset="0"/>
                <a:ea typeface="Times New Roman" pitchFamily="34" charset="-122"/>
                <a:cs typeface="Times New Roman" pitchFamily="34" charset="-120"/>
              </a:rPr>
              <a:t>x</a:t>
            </a:r>
            <a:r>
              <a:rPr lang="en-US" sz="938" dirty="0">
                <a:solidFill>
                  <a:srgbClr val="000000"/>
                </a:solidFill>
                <a:latin typeface="Times New Roman" pitchFamily="34" charset="0"/>
                <a:ea typeface="Times New Roman" pitchFamily="34" charset="-122"/>
                <a:cs typeface="Times New Roman" pitchFamily="34" charset="-120"/>
              </a:rPr>
              <a:t>, 224 × 224)</a:t>
            </a:r>
            <a:endParaRPr lang="en-US" sz="938" dirty="0"/>
          </a:p>
          <a:p>
            <a:pPr>
              <a:spcAft>
                <a:spcPts val="113"/>
              </a:spcAft>
            </a:pPr>
            <a:r>
              <a:rPr lang="en-US" sz="938" dirty="0">
                <a:solidFill>
                  <a:srgbClr val="000000"/>
                </a:solidFill>
                <a:latin typeface="Times New Roman" pitchFamily="34" charset="0"/>
                <a:ea typeface="Times New Roman" pitchFamily="34" charset="-122"/>
                <a:cs typeface="Times New Roman" pitchFamily="34" charset="-120"/>
              </a:rPr>
              <a:t> 5:  </a:t>
            </a:r>
            <a:r>
              <a:rPr lang="en-US" sz="938" i="1" dirty="0">
                <a:solidFill>
                  <a:srgbClr val="000000"/>
                </a:solidFill>
                <a:latin typeface="Times New Roman" pitchFamily="34" charset="0"/>
                <a:ea typeface="Times New Roman" pitchFamily="34" charset="-122"/>
                <a:cs typeface="Times New Roman" pitchFamily="34" charset="-120"/>
              </a:rPr>
              <a:t>x′</a:t>
            </a:r>
            <a:r>
              <a:rPr lang="en-US" sz="938" dirty="0">
                <a:solidFill>
                  <a:srgbClr val="000000"/>
                </a:solidFill>
                <a:latin typeface="Times New Roman" pitchFamily="34" charset="0"/>
                <a:ea typeface="Times New Roman" pitchFamily="34" charset="-122"/>
                <a:cs typeface="Times New Roman" pitchFamily="34" charset="-120"/>
              </a:rPr>
              <a:t> ← Normalize(ToTensor(</a:t>
            </a:r>
            <a:r>
              <a:rPr lang="en-US" sz="938" i="1" dirty="0">
                <a:solidFill>
                  <a:srgbClr val="000000"/>
                </a:solidFill>
                <a:latin typeface="Times New Roman" pitchFamily="34" charset="0"/>
                <a:ea typeface="Times New Roman" pitchFamily="34" charset="-122"/>
                <a:cs typeface="Times New Roman" pitchFamily="34" charset="-120"/>
              </a:rPr>
              <a:t>x′</a:t>
            </a:r>
            <a:r>
              <a:rPr lang="en-US" sz="938" dirty="0">
                <a:solidFill>
                  <a:srgbClr val="000000"/>
                </a:solidFill>
                <a:latin typeface="Times New Roman" pitchFamily="34" charset="0"/>
                <a:ea typeface="Times New Roman" pitchFamily="34" charset="-122"/>
                <a:cs typeface="Times New Roman" pitchFamily="34" charset="-120"/>
              </a:rPr>
              <a:t>))   ▷ model-compatible normalization</a:t>
            </a:r>
            <a:endParaRPr lang="en-US" sz="938" dirty="0"/>
          </a:p>
          <a:p>
            <a:pPr>
              <a:spcAft>
                <a:spcPts val="113"/>
              </a:spcAft>
            </a:pPr>
            <a:r>
              <a:rPr lang="en-US" sz="938" dirty="0">
                <a:solidFill>
                  <a:srgbClr val="000000"/>
                </a:solidFill>
                <a:latin typeface="Times New Roman" pitchFamily="34" charset="0"/>
                <a:ea typeface="Times New Roman" pitchFamily="34" charset="-122"/>
                <a:cs typeface="Times New Roman" pitchFamily="34" charset="-120"/>
              </a:rPr>
              <a:t> 6:  for </a:t>
            </a:r>
            <a:r>
              <a:rPr lang="en-US" sz="938" i="1" dirty="0">
                <a:solidFill>
                  <a:srgbClr val="000000"/>
                </a:solidFill>
                <a:latin typeface="Times New Roman" pitchFamily="34" charset="0"/>
                <a:ea typeface="Times New Roman" pitchFamily="34" charset="-122"/>
                <a:cs typeface="Times New Roman" pitchFamily="34" charset="-120"/>
              </a:rPr>
              <a:t>k</a:t>
            </a:r>
            <a:r>
              <a:rPr lang="en-US" sz="938" dirty="0">
                <a:solidFill>
                  <a:srgbClr val="000000"/>
                </a:solidFill>
                <a:latin typeface="Times New Roman" pitchFamily="34" charset="0"/>
                <a:ea typeface="Times New Roman" pitchFamily="34" charset="-122"/>
                <a:cs typeface="Times New Roman" pitchFamily="34" charset="-120"/>
              </a:rPr>
              <a:t> = 1 to </a:t>
            </a:r>
            <a:r>
              <a:rPr lang="en-US" sz="938" i="1" dirty="0">
                <a:solidFill>
                  <a:srgbClr val="000000"/>
                </a:solidFill>
                <a:latin typeface="Times New Roman" pitchFamily="34" charset="0"/>
                <a:ea typeface="Times New Roman" pitchFamily="34" charset="-122"/>
                <a:cs typeface="Times New Roman" pitchFamily="34" charset="-120"/>
              </a:rPr>
              <a:t>K</a:t>
            </a:r>
            <a:r>
              <a:rPr lang="en-US" sz="938" dirty="0">
                <a:solidFill>
                  <a:srgbClr val="000000"/>
                </a:solidFill>
                <a:latin typeface="Times New Roman" pitchFamily="34" charset="0"/>
                <a:ea typeface="Times New Roman" pitchFamily="34" charset="-122"/>
                <a:cs typeface="Times New Roman" pitchFamily="34" charset="-120"/>
              </a:rPr>
              <a:t> do  </a:t>
            </a:r>
            <a:r>
              <a:rPr lang="en-US" sz="938" i="1" dirty="0">
                <a:solidFill>
                  <a:srgbClr val="000000"/>
                </a:solidFill>
                <a:latin typeface="Times New Roman" pitchFamily="34" charset="0"/>
                <a:ea typeface="Times New Roman" pitchFamily="34" charset="-122"/>
                <a:cs typeface="Times New Roman" pitchFamily="34" charset="-120"/>
              </a:rPr>
              <a:t>p</a:t>
            </a:r>
            <a:r>
              <a:rPr lang="en-US" sz="938" baseline="-40000" dirty="0">
                <a:solidFill>
                  <a:srgbClr val="000000"/>
                </a:solidFill>
                <a:latin typeface="Times New Roman" pitchFamily="34" charset="0"/>
                <a:ea typeface="Times New Roman" pitchFamily="34" charset="-122"/>
                <a:cs typeface="Times New Roman" pitchFamily="34" charset="-120"/>
              </a:rPr>
              <a:t>k</a:t>
            </a:r>
            <a:r>
              <a:rPr lang="en-US" sz="938" dirty="0">
                <a:solidFill>
                  <a:srgbClr val="000000"/>
                </a:solidFill>
                <a:latin typeface="Times New Roman" pitchFamily="34" charset="0"/>
                <a:ea typeface="Times New Roman" pitchFamily="34" charset="-122"/>
                <a:cs typeface="Times New Roman" pitchFamily="34" charset="-120"/>
              </a:rPr>
              <a:t> ← </a:t>
            </a:r>
            <a:r>
              <a:rPr lang="en-US" sz="938" i="1" dirty="0">
                <a:solidFill>
                  <a:srgbClr val="000000"/>
                </a:solidFill>
                <a:latin typeface="Times New Roman" pitchFamily="34" charset="0"/>
                <a:ea typeface="Times New Roman" pitchFamily="34" charset="-122"/>
                <a:cs typeface="Times New Roman" pitchFamily="34" charset="-120"/>
              </a:rPr>
              <a:t>M</a:t>
            </a:r>
            <a:r>
              <a:rPr lang="en-US" sz="938" baseline="-40000" dirty="0">
                <a:solidFill>
                  <a:srgbClr val="000000"/>
                </a:solidFill>
                <a:latin typeface="Times New Roman" pitchFamily="34" charset="0"/>
                <a:ea typeface="Times New Roman" pitchFamily="34" charset="-122"/>
                <a:cs typeface="Times New Roman" pitchFamily="34" charset="-120"/>
              </a:rPr>
              <a:t>k</a:t>
            </a:r>
            <a:r>
              <a:rPr lang="en-US" sz="938" dirty="0">
                <a:solidFill>
                  <a:srgbClr val="000000"/>
                </a:solidFill>
                <a:latin typeface="Times New Roman" pitchFamily="34" charset="0"/>
                <a:ea typeface="Times New Roman" pitchFamily="34" charset="-122"/>
                <a:cs typeface="Times New Roman" pitchFamily="34" charset="-120"/>
              </a:rPr>
              <a:t>(</a:t>
            </a:r>
            <a:r>
              <a:rPr lang="en-US" sz="938" i="1" dirty="0">
                <a:solidFill>
                  <a:srgbClr val="000000"/>
                </a:solidFill>
                <a:latin typeface="Times New Roman" pitchFamily="34" charset="0"/>
                <a:ea typeface="Times New Roman" pitchFamily="34" charset="-122"/>
                <a:cs typeface="Times New Roman" pitchFamily="34" charset="-120"/>
              </a:rPr>
              <a:t>x′</a:t>
            </a:r>
            <a:r>
              <a:rPr lang="en-US" sz="938" dirty="0">
                <a:solidFill>
                  <a:srgbClr val="000000"/>
                </a:solidFill>
                <a:latin typeface="Times New Roman" pitchFamily="34" charset="0"/>
                <a:ea typeface="Times New Roman" pitchFamily="34" charset="-122"/>
                <a:cs typeface="Times New Roman" pitchFamily="34" charset="-120"/>
              </a:rPr>
              <a:t>)</a:t>
            </a:r>
            <a:endParaRPr lang="en-US" sz="938" dirty="0"/>
          </a:p>
          <a:p>
            <a:pPr>
              <a:spcAft>
                <a:spcPts val="113"/>
              </a:spcAft>
            </a:pPr>
            <a:r>
              <a:rPr lang="en-US" sz="938" dirty="0">
                <a:solidFill>
                  <a:srgbClr val="000000"/>
                </a:solidFill>
                <a:latin typeface="Times New Roman" pitchFamily="34" charset="0"/>
                <a:ea typeface="Times New Roman" pitchFamily="34" charset="-122"/>
                <a:cs typeface="Times New Roman" pitchFamily="34" charset="-120"/>
              </a:rPr>
              <a:t> 7:  </a:t>
            </a:r>
            <a:r>
              <a:rPr lang="en-US" sz="938" i="1" dirty="0">
                <a:solidFill>
                  <a:srgbClr val="000000"/>
                </a:solidFill>
                <a:latin typeface="Times New Roman" pitchFamily="34" charset="0"/>
                <a:ea typeface="Times New Roman" pitchFamily="34" charset="-122"/>
                <a:cs typeface="Times New Roman" pitchFamily="34" charset="-120"/>
              </a:rPr>
              <a:t>p</a:t>
            </a:r>
            <a:r>
              <a:rPr lang="en-US" sz="938" dirty="0">
                <a:solidFill>
                  <a:srgbClr val="000000"/>
                </a:solidFill>
                <a:latin typeface="Times New Roman" pitchFamily="34" charset="0"/>
                <a:ea typeface="Times New Roman" pitchFamily="34" charset="-122"/>
                <a:cs typeface="Times New Roman" pitchFamily="34" charset="-120"/>
              </a:rPr>
              <a:t> ← </a:t>
            </a:r>
            <a:r>
              <a:rPr lang="en-US" sz="938" i="1" dirty="0">
                <a:solidFill>
                  <a:srgbClr val="000000"/>
                </a:solidFill>
                <a:latin typeface="Times New Roman" pitchFamily="34" charset="0"/>
                <a:ea typeface="Times New Roman" pitchFamily="34" charset="-122"/>
                <a:cs typeface="Times New Roman" pitchFamily="34" charset="-120"/>
              </a:rPr>
              <a:t>F</a:t>
            </a:r>
            <a:r>
              <a:rPr lang="en-US" sz="938" dirty="0">
                <a:solidFill>
                  <a:srgbClr val="000000"/>
                </a:solidFill>
                <a:latin typeface="Times New Roman" pitchFamily="34" charset="0"/>
                <a:ea typeface="Times New Roman" pitchFamily="34" charset="-122"/>
                <a:cs typeface="Times New Roman" pitchFamily="34" charset="-120"/>
              </a:rPr>
              <a:t>(</a:t>
            </a:r>
            <a:r>
              <a:rPr lang="en-US" sz="938" i="1" dirty="0">
                <a:solidFill>
                  <a:srgbClr val="000000"/>
                </a:solidFill>
                <a:latin typeface="Times New Roman" pitchFamily="34" charset="0"/>
                <a:ea typeface="Times New Roman" pitchFamily="34" charset="-122"/>
                <a:cs typeface="Times New Roman" pitchFamily="34" charset="-120"/>
              </a:rPr>
              <a:t>p</a:t>
            </a:r>
            <a:r>
              <a:rPr lang="en-US" sz="938" baseline="-40000" dirty="0">
                <a:solidFill>
                  <a:srgbClr val="000000"/>
                </a:solidFill>
                <a:latin typeface="Times New Roman" pitchFamily="34" charset="0"/>
                <a:ea typeface="Times New Roman" pitchFamily="34" charset="-122"/>
                <a:cs typeface="Times New Roman" pitchFamily="34" charset="-120"/>
              </a:rPr>
              <a:t>1</a:t>
            </a:r>
            <a:r>
              <a:rPr lang="en-US" sz="938" dirty="0">
                <a:solidFill>
                  <a:srgbClr val="000000"/>
                </a:solidFill>
                <a:latin typeface="Times New Roman" pitchFamily="34" charset="0"/>
                <a:ea typeface="Times New Roman" pitchFamily="34" charset="-122"/>
                <a:cs typeface="Times New Roman" pitchFamily="34" charset="-120"/>
              </a:rPr>
              <a:t>, </a:t>
            </a:r>
            <a:r>
              <a:rPr lang="en-US" sz="938" i="1" dirty="0">
                <a:solidFill>
                  <a:srgbClr val="000000"/>
                </a:solidFill>
                <a:latin typeface="Times New Roman" pitchFamily="34" charset="0"/>
                <a:ea typeface="Times New Roman" pitchFamily="34" charset="-122"/>
                <a:cs typeface="Times New Roman" pitchFamily="34" charset="-120"/>
              </a:rPr>
              <a:t>p</a:t>
            </a:r>
            <a:r>
              <a:rPr lang="en-US" sz="938" baseline="-40000" dirty="0">
                <a:solidFill>
                  <a:srgbClr val="000000"/>
                </a:solidFill>
                <a:latin typeface="Times New Roman" pitchFamily="34" charset="0"/>
                <a:ea typeface="Times New Roman" pitchFamily="34" charset="-122"/>
                <a:cs typeface="Times New Roman" pitchFamily="34" charset="-120"/>
              </a:rPr>
              <a:t>2</a:t>
            </a:r>
            <a:r>
              <a:rPr lang="en-US" sz="938" dirty="0">
                <a:solidFill>
                  <a:srgbClr val="000000"/>
                </a:solidFill>
                <a:latin typeface="Times New Roman" pitchFamily="34" charset="0"/>
                <a:ea typeface="Times New Roman" pitchFamily="34" charset="-122"/>
                <a:cs typeface="Times New Roman" pitchFamily="34" charset="-120"/>
              </a:rPr>
              <a:t>, …, </a:t>
            </a:r>
            <a:r>
              <a:rPr lang="en-US" sz="938" i="1" dirty="0">
                <a:solidFill>
                  <a:srgbClr val="000000"/>
                </a:solidFill>
                <a:latin typeface="Times New Roman" pitchFamily="34" charset="0"/>
                <a:ea typeface="Times New Roman" pitchFamily="34" charset="-122"/>
                <a:cs typeface="Times New Roman" pitchFamily="34" charset="-120"/>
              </a:rPr>
              <a:t>p</a:t>
            </a:r>
            <a:r>
              <a:rPr lang="en-US" sz="938" baseline="-40000" dirty="0">
                <a:solidFill>
                  <a:srgbClr val="000000"/>
                </a:solidFill>
                <a:latin typeface="Times New Roman" pitchFamily="34" charset="0"/>
                <a:ea typeface="Times New Roman" pitchFamily="34" charset="-122"/>
                <a:cs typeface="Times New Roman" pitchFamily="34" charset="-120"/>
              </a:rPr>
              <a:t>K</a:t>
            </a:r>
            <a:r>
              <a:rPr lang="en-US" sz="938" dirty="0">
                <a:solidFill>
                  <a:srgbClr val="000000"/>
                </a:solidFill>
                <a:latin typeface="Times New Roman" pitchFamily="34" charset="0"/>
                <a:ea typeface="Times New Roman" pitchFamily="34" charset="-122"/>
                <a:cs typeface="Times New Roman" pitchFamily="34" charset="-120"/>
              </a:rPr>
              <a:t>)</a:t>
            </a:r>
            <a:endParaRPr lang="en-US" sz="938" dirty="0"/>
          </a:p>
          <a:p>
            <a:pPr>
              <a:spcAft>
                <a:spcPts val="113"/>
              </a:spcAft>
            </a:pPr>
            <a:r>
              <a:rPr lang="en-US" sz="938" dirty="0">
                <a:solidFill>
                  <a:srgbClr val="000000"/>
                </a:solidFill>
                <a:latin typeface="Times New Roman" pitchFamily="34" charset="0"/>
                <a:ea typeface="Times New Roman" pitchFamily="34" charset="-122"/>
                <a:cs typeface="Times New Roman" pitchFamily="34" charset="-120"/>
              </a:rPr>
              <a:t> 8:  </a:t>
            </a:r>
            <a:r>
              <a:rPr lang="en-US" sz="938" i="1" dirty="0">
                <a:solidFill>
                  <a:srgbClr val="000000"/>
                </a:solidFill>
                <a:latin typeface="Times New Roman" pitchFamily="34" charset="0"/>
                <a:ea typeface="Times New Roman" pitchFamily="34" charset="-122"/>
                <a:cs typeface="Times New Roman" pitchFamily="34" charset="-120"/>
              </a:rPr>
              <a:t>ŷ</a:t>
            </a:r>
            <a:r>
              <a:rPr lang="en-US" sz="938" dirty="0">
                <a:solidFill>
                  <a:srgbClr val="000000"/>
                </a:solidFill>
                <a:latin typeface="Times New Roman" pitchFamily="34" charset="0"/>
                <a:ea typeface="Times New Roman" pitchFamily="34" charset="-122"/>
                <a:cs typeface="Times New Roman" pitchFamily="34" charset="-120"/>
              </a:rPr>
              <a:t> ← argmax</a:t>
            </a:r>
            <a:r>
              <a:rPr lang="en-US" sz="938" baseline="-40000" dirty="0">
                <a:solidFill>
                  <a:srgbClr val="000000"/>
                </a:solidFill>
                <a:latin typeface="Times New Roman" pitchFamily="34" charset="0"/>
                <a:ea typeface="Times New Roman" pitchFamily="34" charset="-122"/>
                <a:cs typeface="Times New Roman" pitchFamily="34" charset="-120"/>
              </a:rPr>
              <a:t>c</a:t>
            </a:r>
            <a:r>
              <a:rPr lang="en-US" sz="938" dirty="0">
                <a:solidFill>
                  <a:srgbClr val="000000"/>
                </a:solidFill>
                <a:latin typeface="Times New Roman" pitchFamily="34" charset="0"/>
                <a:ea typeface="Times New Roman" pitchFamily="34" charset="-122"/>
                <a:cs typeface="Times New Roman" pitchFamily="34" charset="-120"/>
              </a:rPr>
              <a:t> </a:t>
            </a:r>
            <a:r>
              <a:rPr lang="en-US" sz="938" i="1" dirty="0">
                <a:solidFill>
                  <a:srgbClr val="000000"/>
                </a:solidFill>
                <a:latin typeface="Times New Roman" pitchFamily="34" charset="0"/>
                <a:ea typeface="Times New Roman" pitchFamily="34" charset="-122"/>
                <a:cs typeface="Times New Roman" pitchFamily="34" charset="-120"/>
              </a:rPr>
              <a:t>p</a:t>
            </a:r>
            <a:r>
              <a:rPr lang="en-US" sz="938" baseline="-40000" dirty="0">
                <a:solidFill>
                  <a:srgbClr val="000000"/>
                </a:solidFill>
                <a:latin typeface="Times New Roman" pitchFamily="34" charset="0"/>
                <a:ea typeface="Times New Roman" pitchFamily="34" charset="-122"/>
                <a:cs typeface="Times New Roman" pitchFamily="34" charset="-120"/>
              </a:rPr>
              <a:t>c</a:t>
            </a:r>
            <a:r>
              <a:rPr lang="en-US" sz="938" dirty="0">
                <a:solidFill>
                  <a:srgbClr val="000000"/>
                </a:solidFill>
                <a:latin typeface="Times New Roman" pitchFamily="34" charset="0"/>
                <a:ea typeface="Times New Roman" pitchFamily="34" charset="-122"/>
                <a:cs typeface="Times New Roman" pitchFamily="34" charset="-120"/>
              </a:rPr>
              <a:t>   ▷ valid when </a:t>
            </a:r>
            <a:r>
              <a:rPr lang="en-US" sz="938" i="1" dirty="0">
                <a:solidFill>
                  <a:srgbClr val="000000"/>
                </a:solidFill>
                <a:latin typeface="Times New Roman" pitchFamily="34" charset="0"/>
                <a:ea typeface="Times New Roman" pitchFamily="34" charset="-122"/>
                <a:cs typeface="Times New Roman" pitchFamily="34" charset="-120"/>
              </a:rPr>
              <a:t>p</a:t>
            </a:r>
            <a:r>
              <a:rPr lang="en-US" sz="938" dirty="0">
                <a:solidFill>
                  <a:srgbClr val="000000"/>
                </a:solidFill>
                <a:latin typeface="Times New Roman" pitchFamily="34" charset="0"/>
                <a:ea typeface="Times New Roman" pitchFamily="34" charset="-122"/>
                <a:cs typeface="Times New Roman" pitchFamily="34" charset="-120"/>
              </a:rPr>
              <a:t> holds class probabilities or comparable scores</a:t>
            </a:r>
            <a:endParaRPr lang="en-US" sz="938" dirty="0"/>
          </a:p>
          <a:p>
            <a:pPr>
              <a:spcAft>
                <a:spcPts val="113"/>
              </a:spcAft>
            </a:pPr>
            <a:r>
              <a:rPr lang="en-US" sz="938" dirty="0">
                <a:solidFill>
                  <a:srgbClr val="000000"/>
                </a:solidFill>
                <a:latin typeface="Times New Roman" pitchFamily="34" charset="0"/>
                <a:ea typeface="Times New Roman" pitchFamily="34" charset="-122"/>
                <a:cs typeface="Times New Roman" pitchFamily="34" charset="-120"/>
              </a:rPr>
              <a:t> 9:  </a:t>
            </a:r>
            <a:r>
              <a:rPr lang="en-US" sz="938" i="1" dirty="0">
                <a:solidFill>
                  <a:srgbClr val="000000"/>
                </a:solidFill>
                <a:latin typeface="Times New Roman" pitchFamily="34" charset="0"/>
                <a:ea typeface="Times New Roman" pitchFamily="34" charset="-122"/>
                <a:cs typeface="Times New Roman" pitchFamily="34" charset="-120"/>
              </a:rPr>
              <a:t>r</a:t>
            </a:r>
            <a:r>
              <a:rPr lang="en-US" sz="938" dirty="0">
                <a:solidFill>
                  <a:srgbClr val="000000"/>
                </a:solidFill>
                <a:latin typeface="Times New Roman" pitchFamily="34" charset="0"/>
                <a:ea typeface="Times New Roman" pitchFamily="34" charset="-122"/>
                <a:cs typeface="Times New Roman" pitchFamily="34" charset="-120"/>
              </a:rPr>
              <a:t> ← </a:t>
            </a:r>
            <a:r>
              <a:rPr lang="en-US" sz="938" i="1" dirty="0">
                <a:solidFill>
                  <a:srgbClr val="000000"/>
                </a:solidFill>
                <a:latin typeface="Times New Roman" pitchFamily="34" charset="0"/>
                <a:ea typeface="Times New Roman" pitchFamily="34" charset="-122"/>
                <a:cs typeface="Times New Roman" pitchFamily="34" charset="-120"/>
              </a:rPr>
              <a:t>R</a:t>
            </a:r>
            <a:r>
              <a:rPr lang="en-US" sz="938" dirty="0">
                <a:solidFill>
                  <a:srgbClr val="000000"/>
                </a:solidFill>
                <a:latin typeface="Times New Roman" pitchFamily="34" charset="0"/>
                <a:ea typeface="Times New Roman" pitchFamily="34" charset="-122"/>
                <a:cs typeface="Times New Roman" pitchFamily="34" charset="-120"/>
              </a:rPr>
              <a:t>(</a:t>
            </a:r>
            <a:r>
              <a:rPr lang="en-US" sz="938" i="1" dirty="0">
                <a:solidFill>
                  <a:srgbClr val="000000"/>
                </a:solidFill>
                <a:latin typeface="Times New Roman" pitchFamily="34" charset="0"/>
                <a:ea typeface="Times New Roman" pitchFamily="34" charset="-122"/>
                <a:cs typeface="Times New Roman" pitchFamily="34" charset="-120"/>
              </a:rPr>
              <a:t>p</a:t>
            </a:r>
            <a:r>
              <a:rPr lang="en-US" sz="938" baseline="-40000" dirty="0">
                <a:solidFill>
                  <a:srgbClr val="000000"/>
                </a:solidFill>
                <a:latin typeface="Times New Roman" pitchFamily="34" charset="0"/>
                <a:ea typeface="Times New Roman" pitchFamily="34" charset="-122"/>
                <a:cs typeface="Times New Roman" pitchFamily="34" charset="-120"/>
              </a:rPr>
              <a:t>1</a:t>
            </a:r>
            <a:r>
              <a:rPr lang="en-US" sz="938" dirty="0">
                <a:solidFill>
                  <a:srgbClr val="000000"/>
                </a:solidFill>
                <a:latin typeface="Times New Roman" pitchFamily="34" charset="0"/>
                <a:ea typeface="Times New Roman" pitchFamily="34" charset="-122"/>
                <a:cs typeface="Times New Roman" pitchFamily="34" charset="-120"/>
              </a:rPr>
              <a:t>, …, </a:t>
            </a:r>
            <a:r>
              <a:rPr lang="en-US" sz="938" i="1" dirty="0">
                <a:solidFill>
                  <a:srgbClr val="000000"/>
                </a:solidFill>
                <a:latin typeface="Times New Roman" pitchFamily="34" charset="0"/>
                <a:ea typeface="Times New Roman" pitchFamily="34" charset="-122"/>
                <a:cs typeface="Times New Roman" pitchFamily="34" charset="-120"/>
              </a:rPr>
              <a:t>p</a:t>
            </a:r>
            <a:r>
              <a:rPr lang="en-US" sz="938" baseline="-40000" dirty="0">
                <a:solidFill>
                  <a:srgbClr val="000000"/>
                </a:solidFill>
                <a:latin typeface="Times New Roman" pitchFamily="34" charset="0"/>
                <a:ea typeface="Times New Roman" pitchFamily="34" charset="-122"/>
                <a:cs typeface="Times New Roman" pitchFamily="34" charset="-120"/>
              </a:rPr>
              <a:t>K</a:t>
            </a:r>
            <a:r>
              <a:rPr lang="en-US" sz="938" dirty="0">
                <a:solidFill>
                  <a:srgbClr val="000000"/>
                </a:solidFill>
                <a:latin typeface="Times New Roman" pitchFamily="34" charset="0"/>
                <a:ea typeface="Times New Roman" pitchFamily="34" charset="-122"/>
                <a:cs typeface="Times New Roman" pitchFamily="34" charset="-120"/>
              </a:rPr>
              <a:t>, </a:t>
            </a:r>
            <a:r>
              <a:rPr lang="en-US" sz="938" i="1" dirty="0">
                <a:solidFill>
                  <a:srgbClr val="000000"/>
                </a:solidFill>
                <a:latin typeface="Times New Roman" pitchFamily="34" charset="0"/>
                <a:ea typeface="Times New Roman" pitchFamily="34" charset="-122"/>
                <a:cs typeface="Times New Roman" pitchFamily="34" charset="-120"/>
              </a:rPr>
              <a:t>p</a:t>
            </a:r>
            <a:r>
              <a:rPr lang="en-US" sz="938" dirty="0">
                <a:solidFill>
                  <a:srgbClr val="000000"/>
                </a:solidFill>
                <a:latin typeface="Times New Roman" pitchFamily="34" charset="0"/>
                <a:ea typeface="Times New Roman" pitchFamily="34" charset="-122"/>
                <a:cs typeface="Times New Roman" pitchFamily="34" charset="-120"/>
              </a:rPr>
              <a:t>)   ▷ reliability from the adopted indicators</a:t>
            </a:r>
            <a:endParaRPr lang="en-US" sz="938" dirty="0"/>
          </a:p>
          <a:p>
            <a:pPr>
              <a:spcAft>
                <a:spcPts val="113"/>
              </a:spcAft>
            </a:pPr>
            <a:r>
              <a:rPr lang="en-US" sz="938" dirty="0">
                <a:solidFill>
                  <a:srgbClr val="000000"/>
                </a:solidFill>
                <a:latin typeface="Times New Roman" pitchFamily="34" charset="0"/>
                <a:ea typeface="Times New Roman" pitchFamily="34" charset="-122"/>
                <a:cs typeface="Times New Roman" pitchFamily="34" charset="-120"/>
              </a:rPr>
              <a:t>10:  Apply the acceptance policy to </a:t>
            </a:r>
            <a:r>
              <a:rPr lang="en-US" sz="938" i="1" dirty="0">
                <a:solidFill>
                  <a:srgbClr val="000000"/>
                </a:solidFill>
                <a:latin typeface="Times New Roman" pitchFamily="34" charset="0"/>
                <a:ea typeface="Times New Roman" pitchFamily="34" charset="-122"/>
                <a:cs typeface="Times New Roman" pitchFamily="34" charset="-120"/>
              </a:rPr>
              <a:t>r</a:t>
            </a:r>
            <a:r>
              <a:rPr lang="en-US" sz="938" dirty="0">
                <a:solidFill>
                  <a:srgbClr val="000000"/>
                </a:solidFill>
                <a:latin typeface="Times New Roman" pitchFamily="34" charset="0"/>
                <a:ea typeface="Times New Roman" pitchFamily="34" charset="-122"/>
                <a:cs typeface="Times New Roman" pitchFamily="34" charset="-120"/>
              </a:rPr>
              <a:t> (using </a:t>
            </a:r>
            <a:r>
              <a:rPr lang="en-US" sz="938" i="1" dirty="0">
                <a:solidFill>
                  <a:srgbClr val="000000"/>
                </a:solidFill>
                <a:latin typeface="Times New Roman" pitchFamily="34" charset="0"/>
                <a:ea typeface="Times New Roman" pitchFamily="34" charset="-122"/>
                <a:cs typeface="Times New Roman" pitchFamily="34" charset="-120"/>
              </a:rPr>
              <a:t>τ</a:t>
            </a:r>
            <a:r>
              <a:rPr lang="en-US" sz="938" dirty="0">
                <a:solidFill>
                  <a:srgbClr val="000000"/>
                </a:solidFill>
                <a:latin typeface="Times New Roman" pitchFamily="34" charset="0"/>
                <a:ea typeface="Times New Roman" pitchFamily="34" charset="-122"/>
                <a:cs typeface="Times New Roman" pitchFamily="34" charset="-120"/>
              </a:rPr>
              <a:t>, if applicable)</a:t>
            </a:r>
            <a:endParaRPr lang="en-US" sz="938" dirty="0"/>
          </a:p>
          <a:p>
            <a:pPr>
              <a:spcAft>
                <a:spcPts val="113"/>
              </a:spcAft>
            </a:pPr>
            <a:r>
              <a:rPr lang="en-US" sz="938" dirty="0">
                <a:solidFill>
                  <a:srgbClr val="000000"/>
                </a:solidFill>
                <a:latin typeface="Times New Roman" pitchFamily="34" charset="0"/>
                <a:ea typeface="Times New Roman" pitchFamily="34" charset="-122"/>
                <a:cs typeface="Times New Roman" pitchFamily="34" charset="-120"/>
              </a:rPr>
              <a:t>11:  if the prediction is accepted then</a:t>
            </a:r>
            <a:endParaRPr lang="en-US" sz="938" dirty="0"/>
          </a:p>
          <a:p>
            <a:pPr>
              <a:spcAft>
                <a:spcPts val="113"/>
              </a:spcAft>
            </a:pPr>
            <a:r>
              <a:rPr lang="en-US" sz="938" dirty="0">
                <a:solidFill>
                  <a:srgbClr val="000000"/>
                </a:solidFill>
                <a:latin typeface="Times New Roman" pitchFamily="34" charset="0"/>
                <a:ea typeface="Times New Roman" pitchFamily="34" charset="-122"/>
                <a:cs typeface="Times New Roman" pitchFamily="34" charset="-120"/>
              </a:rPr>
              <a:t>12:        </a:t>
            </a:r>
            <a:r>
              <a:rPr lang="en-US" sz="938" i="1" dirty="0">
                <a:solidFill>
                  <a:srgbClr val="000000"/>
                </a:solidFill>
                <a:latin typeface="Times New Roman" pitchFamily="34" charset="0"/>
                <a:ea typeface="Times New Roman" pitchFamily="34" charset="-122"/>
                <a:cs typeface="Times New Roman" pitchFamily="34" charset="-120"/>
              </a:rPr>
              <a:t>ev</a:t>
            </a:r>
            <a:r>
              <a:rPr lang="en-US" sz="938" dirty="0">
                <a:solidFill>
                  <a:srgbClr val="000000"/>
                </a:solidFill>
                <a:latin typeface="Times New Roman" pitchFamily="34" charset="0"/>
                <a:ea typeface="Times New Roman" pitchFamily="34" charset="-122"/>
                <a:cs typeface="Times New Roman" pitchFamily="34" charset="-120"/>
              </a:rPr>
              <a:t> ← </a:t>
            </a:r>
            <a:r>
              <a:rPr lang="en-US" sz="938" i="1" dirty="0">
                <a:solidFill>
                  <a:srgbClr val="000000"/>
                </a:solidFill>
                <a:latin typeface="Times New Roman" pitchFamily="34" charset="0"/>
                <a:ea typeface="Times New Roman" pitchFamily="34" charset="-122"/>
                <a:cs typeface="Times New Roman" pitchFamily="34" charset="-120"/>
              </a:rPr>
              <a:t>E</a:t>
            </a:r>
            <a:r>
              <a:rPr lang="en-US" sz="938" dirty="0">
                <a:solidFill>
                  <a:srgbClr val="000000"/>
                </a:solidFill>
                <a:latin typeface="Times New Roman" pitchFamily="34" charset="0"/>
                <a:ea typeface="Times New Roman" pitchFamily="34" charset="-122"/>
                <a:cs typeface="Times New Roman" pitchFamily="34" charset="-120"/>
              </a:rPr>
              <a:t>(</a:t>
            </a:r>
            <a:r>
              <a:rPr lang="en-US" sz="938" i="1" dirty="0">
                <a:solidFill>
                  <a:srgbClr val="000000"/>
                </a:solidFill>
                <a:latin typeface="Times New Roman" pitchFamily="34" charset="0"/>
                <a:ea typeface="Times New Roman" pitchFamily="34" charset="-122"/>
                <a:cs typeface="Times New Roman" pitchFamily="34" charset="-120"/>
              </a:rPr>
              <a:t>ŷ</a:t>
            </a:r>
            <a:r>
              <a:rPr lang="en-US" sz="938" dirty="0">
                <a:solidFill>
                  <a:srgbClr val="000000"/>
                </a:solidFill>
                <a:latin typeface="Times New Roman" pitchFamily="34" charset="0"/>
                <a:ea typeface="Times New Roman" pitchFamily="34" charset="-122"/>
                <a:cs typeface="Times New Roman" pitchFamily="34" charset="-120"/>
              </a:rPr>
              <a:t>)   ▷ if the evidence component is configured</a:t>
            </a:r>
            <a:endParaRPr lang="en-US" sz="938" dirty="0"/>
          </a:p>
          <a:p>
            <a:pPr>
              <a:spcAft>
                <a:spcPts val="113"/>
              </a:spcAft>
            </a:pPr>
            <a:r>
              <a:rPr lang="en-US" sz="938" dirty="0">
                <a:solidFill>
                  <a:srgbClr val="000000"/>
                </a:solidFill>
                <a:latin typeface="Times New Roman" pitchFamily="34" charset="0"/>
                <a:ea typeface="Times New Roman" pitchFamily="34" charset="-122"/>
                <a:cs typeface="Times New Roman" pitchFamily="34" charset="-120"/>
              </a:rPr>
              <a:t>13:        return </a:t>
            </a:r>
            <a:r>
              <a:rPr lang="en-US" sz="938" i="1" dirty="0">
                <a:solidFill>
                  <a:srgbClr val="000000"/>
                </a:solidFill>
                <a:latin typeface="Times New Roman" pitchFamily="34" charset="0"/>
                <a:ea typeface="Times New Roman" pitchFamily="34" charset="-122"/>
                <a:cs typeface="Times New Roman" pitchFamily="34" charset="-120"/>
              </a:rPr>
              <a:t>ŷ</a:t>
            </a:r>
            <a:r>
              <a:rPr lang="en-US" sz="938" dirty="0">
                <a:solidFill>
                  <a:srgbClr val="000000"/>
                </a:solidFill>
                <a:latin typeface="Times New Roman" pitchFamily="34" charset="0"/>
                <a:ea typeface="Times New Roman" pitchFamily="34" charset="-122"/>
                <a:cs typeface="Times New Roman" pitchFamily="34" charset="-120"/>
              </a:rPr>
              <a:t>, reliability status, </a:t>
            </a:r>
            <a:r>
              <a:rPr lang="en-US" sz="938" i="1" dirty="0">
                <a:solidFill>
                  <a:srgbClr val="000000"/>
                </a:solidFill>
                <a:latin typeface="Times New Roman" pitchFamily="34" charset="0"/>
                <a:ea typeface="Times New Roman" pitchFamily="34" charset="-122"/>
                <a:cs typeface="Times New Roman" pitchFamily="34" charset="-120"/>
              </a:rPr>
              <a:t>ev</a:t>
            </a:r>
            <a:endParaRPr lang="en-US" sz="938" dirty="0"/>
          </a:p>
          <a:p>
            <a:pPr>
              <a:spcAft>
                <a:spcPts val="113"/>
              </a:spcAft>
            </a:pPr>
            <a:r>
              <a:rPr lang="en-US" sz="938" dirty="0">
                <a:solidFill>
                  <a:srgbClr val="000000"/>
                </a:solidFill>
                <a:latin typeface="Times New Roman" pitchFamily="34" charset="0"/>
                <a:ea typeface="Times New Roman" pitchFamily="34" charset="-122"/>
                <a:cs typeface="Times New Roman" pitchFamily="34" charset="-120"/>
              </a:rPr>
              <a:t>14:  else</a:t>
            </a:r>
            <a:endParaRPr lang="en-US" sz="938" dirty="0"/>
          </a:p>
          <a:p>
            <a:pPr>
              <a:spcAft>
                <a:spcPts val="113"/>
              </a:spcAft>
            </a:pPr>
            <a:r>
              <a:rPr lang="en-US" sz="938" dirty="0">
                <a:solidFill>
                  <a:srgbClr val="000000"/>
                </a:solidFill>
                <a:latin typeface="Times New Roman" pitchFamily="34" charset="0"/>
                <a:ea typeface="Times New Roman" pitchFamily="34" charset="-122"/>
                <a:cs typeface="Times New Roman" pitchFamily="34" charset="-120"/>
              </a:rPr>
              <a:t>15:        return abstention status: no sufficiently reliable prediction obtained</a:t>
            </a:r>
            <a:endParaRPr lang="en-US" sz="938" dirty="0"/>
          </a:p>
          <a:p>
            <a:pPr>
              <a:spcAft>
                <a:spcPts val="113"/>
              </a:spcAft>
            </a:pPr>
            <a:r>
              <a:rPr lang="en-US" sz="938" dirty="0">
                <a:solidFill>
                  <a:srgbClr val="000000"/>
                </a:solidFill>
                <a:latin typeface="Times New Roman" pitchFamily="34" charset="0"/>
                <a:ea typeface="Times New Roman" pitchFamily="34" charset="-122"/>
                <a:cs typeface="Times New Roman" pitchFamily="34" charset="-120"/>
              </a:rPr>
              <a:t>16:  end if</a:t>
            </a:r>
            <a:endParaRPr lang="en-US" sz="938" dirty="0"/>
          </a:p>
        </p:txBody>
      </p:sp>
      <p:sp>
        <p:nvSpPr>
          <p:cNvPr id="7" name="Shape 5"/>
          <p:cNvSpPr/>
          <p:nvPr/>
        </p:nvSpPr>
        <p:spPr>
          <a:xfrm>
            <a:off x="342900" y="5040630"/>
            <a:ext cx="8455914" cy="0"/>
          </a:xfrm>
          <a:prstGeom prst="line">
            <a:avLst/>
          </a:prstGeom>
          <a:noFill/>
          <a:ln w="12700">
            <a:solidFill>
              <a:srgbClr val="000000"/>
            </a:solidFill>
            <a:prstDash val="solid"/>
          </a:ln>
        </p:spPr>
      </p:sp>
      <p:sp>
        <p:nvSpPr>
          <p:cNvPr id="8" name="Text 6"/>
          <p:cNvSpPr txBox="1"/>
          <p:nvPr/>
        </p:nvSpPr>
        <p:spPr>
          <a:xfrm>
            <a:off x="411480" y="5074920"/>
            <a:ext cx="8298180" cy="548640"/>
          </a:xfrm>
          <a:prstGeom prst="rect">
            <a:avLst/>
          </a:prstGeom>
          <a:noFill/>
          <a:ln/>
        </p:spPr>
        <p:txBody>
          <a:bodyPr wrap="square" lIns="0" tIns="0" rIns="0" bIns="0" rtlCol="0" anchor="t"/>
          <a:lstStyle/>
          <a:p>
            <a:r>
              <a:rPr lang="en-US" sz="825" i="1" dirty="0">
                <a:solidFill>
                  <a:srgbClr val="000000"/>
                </a:solidFill>
                <a:latin typeface="Times New Roman" pitchFamily="34" charset="0"/>
                <a:ea typeface="Times New Roman" pitchFamily="34" charset="-122"/>
                <a:cs typeface="Times New Roman" pitchFamily="34" charset="-120"/>
              </a:rPr>
              <a:t>x</a:t>
            </a:r>
            <a:r>
              <a:rPr lang="en-US" sz="825" dirty="0">
                <a:solidFill>
                  <a:srgbClr val="000000"/>
                </a:solidFill>
                <a:latin typeface="Times New Roman" pitchFamily="34" charset="0"/>
                <a:ea typeface="Times New Roman" pitchFamily="34" charset="-122"/>
                <a:cs typeface="Times New Roman" pitchFamily="34" charset="-120"/>
              </a:rPr>
              <a:t>: input image · </a:t>
            </a:r>
            <a:r>
              <a:rPr lang="en-US" sz="825" i="1" dirty="0">
                <a:solidFill>
                  <a:srgbClr val="000000"/>
                </a:solidFill>
                <a:latin typeface="Times New Roman" pitchFamily="34" charset="0"/>
                <a:ea typeface="Times New Roman" pitchFamily="34" charset="-122"/>
                <a:cs typeface="Times New Roman" pitchFamily="34" charset="-120"/>
              </a:rPr>
              <a:t>x′</a:t>
            </a:r>
            <a:r>
              <a:rPr lang="en-US" sz="825" dirty="0">
                <a:solidFill>
                  <a:srgbClr val="000000"/>
                </a:solidFill>
                <a:latin typeface="Times New Roman" pitchFamily="34" charset="0"/>
                <a:ea typeface="Times New Roman" pitchFamily="34" charset="-122"/>
                <a:cs typeface="Times New Roman" pitchFamily="34" charset="-120"/>
              </a:rPr>
              <a:t>: preprocessed image · </a:t>
            </a:r>
            <a:r>
              <a:rPr lang="en-US" sz="825" i="1" dirty="0">
                <a:solidFill>
                  <a:srgbClr val="000000"/>
                </a:solidFill>
                <a:latin typeface="Times New Roman" pitchFamily="34" charset="0"/>
                <a:ea typeface="Times New Roman" pitchFamily="34" charset="-122"/>
                <a:cs typeface="Times New Roman" pitchFamily="34" charset="-120"/>
              </a:rPr>
              <a:t>M</a:t>
            </a:r>
            <a:r>
              <a:rPr lang="en-US" sz="825" baseline="-40000" dirty="0">
                <a:solidFill>
                  <a:srgbClr val="000000"/>
                </a:solidFill>
                <a:latin typeface="Times New Roman" pitchFamily="34" charset="0"/>
                <a:ea typeface="Times New Roman" pitchFamily="34" charset="-122"/>
                <a:cs typeface="Times New Roman" pitchFamily="34" charset="-120"/>
              </a:rPr>
              <a:t>k</a:t>
            </a:r>
            <a:r>
              <a:rPr lang="en-US" sz="825" dirty="0">
                <a:solidFill>
                  <a:srgbClr val="000000"/>
                </a:solidFill>
                <a:latin typeface="Times New Roman" pitchFamily="34" charset="0"/>
                <a:ea typeface="Times New Roman" pitchFamily="34" charset="-122"/>
                <a:cs typeface="Times New Roman" pitchFamily="34" charset="-120"/>
              </a:rPr>
              <a:t>: </a:t>
            </a:r>
            <a:r>
              <a:rPr lang="en-US" sz="825" i="1" dirty="0">
                <a:solidFill>
                  <a:srgbClr val="000000"/>
                </a:solidFill>
                <a:latin typeface="Times New Roman" pitchFamily="34" charset="0"/>
                <a:ea typeface="Times New Roman" pitchFamily="34" charset="-122"/>
                <a:cs typeface="Times New Roman" pitchFamily="34" charset="-120"/>
              </a:rPr>
              <a:t>k</a:t>
            </a:r>
            <a:r>
              <a:rPr lang="en-US" sz="825" dirty="0">
                <a:solidFill>
                  <a:srgbClr val="000000"/>
                </a:solidFill>
                <a:latin typeface="Times New Roman" pitchFamily="34" charset="0"/>
                <a:ea typeface="Times New Roman" pitchFamily="34" charset="-122"/>
                <a:cs typeface="Times New Roman" pitchFamily="34" charset="-120"/>
              </a:rPr>
              <a:t>-th selected model · </a:t>
            </a:r>
            <a:r>
              <a:rPr lang="en-US" sz="825" i="1" dirty="0">
                <a:solidFill>
                  <a:srgbClr val="000000"/>
                </a:solidFill>
                <a:latin typeface="Times New Roman" pitchFamily="34" charset="0"/>
                <a:ea typeface="Times New Roman" pitchFamily="34" charset="-122"/>
                <a:cs typeface="Times New Roman" pitchFamily="34" charset="-120"/>
              </a:rPr>
              <a:t>K</a:t>
            </a:r>
            <a:r>
              <a:rPr lang="en-US" sz="825" dirty="0">
                <a:solidFill>
                  <a:srgbClr val="000000"/>
                </a:solidFill>
                <a:latin typeface="Times New Roman" pitchFamily="34" charset="0"/>
                <a:ea typeface="Times New Roman" pitchFamily="34" charset="-122"/>
                <a:cs typeface="Times New Roman" pitchFamily="34" charset="-120"/>
              </a:rPr>
              <a:t>: number of selected models · </a:t>
            </a:r>
            <a:r>
              <a:rPr lang="en-US" sz="825" i="1" dirty="0">
                <a:solidFill>
                  <a:srgbClr val="000000"/>
                </a:solidFill>
                <a:latin typeface="Times New Roman" pitchFamily="34" charset="0"/>
                <a:ea typeface="Times New Roman" pitchFamily="34" charset="-122"/>
                <a:cs typeface="Times New Roman" pitchFamily="34" charset="-120"/>
              </a:rPr>
              <a:t>p</a:t>
            </a:r>
            <a:r>
              <a:rPr lang="en-US" sz="825" baseline="-40000" dirty="0">
                <a:solidFill>
                  <a:srgbClr val="000000"/>
                </a:solidFill>
                <a:latin typeface="Times New Roman" pitchFamily="34" charset="0"/>
                <a:ea typeface="Times New Roman" pitchFamily="34" charset="-122"/>
                <a:cs typeface="Times New Roman" pitchFamily="34" charset="-120"/>
              </a:rPr>
              <a:t>k</a:t>
            </a:r>
            <a:r>
              <a:rPr lang="en-US" sz="825" dirty="0">
                <a:solidFill>
                  <a:srgbClr val="000000"/>
                </a:solidFill>
                <a:latin typeface="Times New Roman" pitchFamily="34" charset="0"/>
                <a:ea typeface="Times New Roman" pitchFamily="34" charset="-122"/>
                <a:cs typeface="Times New Roman" pitchFamily="34" charset="-120"/>
              </a:rPr>
              <a:t>: output of </a:t>
            </a:r>
            <a:r>
              <a:rPr lang="en-US" sz="825" i="1" dirty="0">
                <a:solidFill>
                  <a:srgbClr val="000000"/>
                </a:solidFill>
                <a:latin typeface="Times New Roman" pitchFamily="34" charset="0"/>
                <a:ea typeface="Times New Roman" pitchFamily="34" charset="-122"/>
                <a:cs typeface="Times New Roman" pitchFamily="34" charset="-120"/>
              </a:rPr>
              <a:t>M</a:t>
            </a:r>
            <a:r>
              <a:rPr lang="en-US" sz="825" baseline="-40000" dirty="0">
                <a:solidFill>
                  <a:srgbClr val="000000"/>
                </a:solidFill>
                <a:latin typeface="Times New Roman" pitchFamily="34" charset="0"/>
                <a:ea typeface="Times New Roman" pitchFamily="34" charset="-122"/>
                <a:cs typeface="Times New Roman" pitchFamily="34" charset="-120"/>
              </a:rPr>
              <a:t>k</a:t>
            </a:r>
            <a:r>
              <a:rPr lang="en-US" sz="825" dirty="0">
                <a:solidFill>
                  <a:srgbClr val="000000"/>
                </a:solidFill>
                <a:latin typeface="Times New Roman" pitchFamily="34" charset="0"/>
                <a:ea typeface="Times New Roman" pitchFamily="34" charset="-122"/>
                <a:cs typeface="Times New Roman" pitchFamily="34" charset="-120"/>
              </a:rPr>
              <a:t> · </a:t>
            </a:r>
            <a:r>
              <a:rPr lang="en-US" sz="825" i="1" dirty="0">
                <a:solidFill>
                  <a:srgbClr val="000000"/>
                </a:solidFill>
                <a:latin typeface="Times New Roman" pitchFamily="34" charset="0"/>
                <a:ea typeface="Times New Roman" pitchFamily="34" charset="-122"/>
                <a:cs typeface="Times New Roman" pitchFamily="34" charset="-120"/>
              </a:rPr>
              <a:t>F</a:t>
            </a:r>
            <a:r>
              <a:rPr lang="en-US" sz="825" dirty="0">
                <a:solidFill>
                  <a:srgbClr val="000000"/>
                </a:solidFill>
                <a:latin typeface="Times New Roman" pitchFamily="34" charset="0"/>
                <a:ea typeface="Times New Roman" pitchFamily="34" charset="-122"/>
                <a:cs typeface="Times New Roman" pitchFamily="34" charset="-120"/>
              </a:rPr>
              <a:t>: ensemble operation · </a:t>
            </a:r>
            <a:r>
              <a:rPr lang="en-US" sz="825" i="1" dirty="0">
                <a:solidFill>
                  <a:srgbClr val="000000"/>
                </a:solidFill>
                <a:latin typeface="Times New Roman" pitchFamily="34" charset="0"/>
                <a:ea typeface="Times New Roman" pitchFamily="34" charset="-122"/>
                <a:cs typeface="Times New Roman" pitchFamily="34" charset="-120"/>
              </a:rPr>
              <a:t>p</a:t>
            </a:r>
            <a:r>
              <a:rPr lang="en-US" sz="825" dirty="0">
                <a:solidFill>
                  <a:srgbClr val="000000"/>
                </a:solidFill>
                <a:latin typeface="Times New Roman" pitchFamily="34" charset="0"/>
                <a:ea typeface="Times New Roman" pitchFamily="34" charset="-122"/>
                <a:cs typeface="Times New Roman" pitchFamily="34" charset="-120"/>
              </a:rPr>
              <a:t>: combined output · </a:t>
            </a:r>
            <a:r>
              <a:rPr lang="en-US" sz="825" i="1" dirty="0">
                <a:solidFill>
                  <a:srgbClr val="000000"/>
                </a:solidFill>
                <a:latin typeface="Times New Roman" pitchFamily="34" charset="0"/>
                <a:ea typeface="Times New Roman" pitchFamily="34" charset="-122"/>
                <a:cs typeface="Times New Roman" pitchFamily="34" charset="-120"/>
              </a:rPr>
              <a:t>c</a:t>
            </a:r>
            <a:r>
              <a:rPr lang="en-US" sz="825" dirty="0">
                <a:solidFill>
                  <a:srgbClr val="000000"/>
                </a:solidFill>
                <a:latin typeface="Times New Roman" pitchFamily="34" charset="0"/>
                <a:ea typeface="Times New Roman" pitchFamily="34" charset="-122"/>
                <a:cs typeface="Times New Roman" pitchFamily="34" charset="-120"/>
              </a:rPr>
              <a:t>: class index · </a:t>
            </a:r>
            <a:r>
              <a:rPr lang="en-US" sz="825" i="1" dirty="0">
                <a:solidFill>
                  <a:srgbClr val="000000"/>
                </a:solidFill>
                <a:latin typeface="Times New Roman" pitchFamily="34" charset="0"/>
                <a:ea typeface="Times New Roman" pitchFamily="34" charset="-122"/>
                <a:cs typeface="Times New Roman" pitchFamily="34" charset="-120"/>
              </a:rPr>
              <a:t>ŷ</a:t>
            </a:r>
            <a:r>
              <a:rPr lang="en-US" sz="825" dirty="0">
                <a:solidFill>
                  <a:srgbClr val="000000"/>
                </a:solidFill>
                <a:latin typeface="Times New Roman" pitchFamily="34" charset="0"/>
                <a:ea typeface="Times New Roman" pitchFamily="34" charset="-122"/>
                <a:cs typeface="Times New Roman" pitchFamily="34" charset="-120"/>
              </a:rPr>
              <a:t>: candidate class · </a:t>
            </a:r>
            <a:r>
              <a:rPr lang="en-US" sz="825" i="1" dirty="0">
                <a:solidFill>
                  <a:srgbClr val="000000"/>
                </a:solidFill>
                <a:latin typeface="Times New Roman" pitchFamily="34" charset="0"/>
                <a:ea typeface="Times New Roman" pitchFamily="34" charset="-122"/>
                <a:cs typeface="Times New Roman" pitchFamily="34" charset="-120"/>
              </a:rPr>
              <a:t>R</a:t>
            </a:r>
            <a:r>
              <a:rPr lang="en-US" sz="825" dirty="0">
                <a:solidFill>
                  <a:srgbClr val="000000"/>
                </a:solidFill>
                <a:latin typeface="Times New Roman" pitchFamily="34" charset="0"/>
                <a:ea typeface="Times New Roman" pitchFamily="34" charset="-122"/>
                <a:cs typeface="Times New Roman" pitchFamily="34" charset="-120"/>
              </a:rPr>
              <a:t>: reliability assessment · </a:t>
            </a:r>
            <a:r>
              <a:rPr lang="en-US" sz="825" i="1" dirty="0">
                <a:solidFill>
                  <a:srgbClr val="000000"/>
                </a:solidFill>
                <a:latin typeface="Times New Roman" pitchFamily="34" charset="0"/>
                <a:ea typeface="Times New Roman" pitchFamily="34" charset="-122"/>
                <a:cs typeface="Times New Roman" pitchFamily="34" charset="-120"/>
              </a:rPr>
              <a:t>r</a:t>
            </a:r>
            <a:r>
              <a:rPr lang="en-US" sz="825" dirty="0">
                <a:solidFill>
                  <a:srgbClr val="000000"/>
                </a:solidFill>
                <a:latin typeface="Times New Roman" pitchFamily="34" charset="0"/>
                <a:ea typeface="Times New Roman" pitchFamily="34" charset="-122"/>
                <a:cs typeface="Times New Roman" pitchFamily="34" charset="-120"/>
              </a:rPr>
              <a:t>: reliability indicator(s) · </a:t>
            </a:r>
            <a:r>
              <a:rPr lang="en-US" sz="825" i="1" dirty="0">
                <a:solidFill>
                  <a:srgbClr val="000000"/>
                </a:solidFill>
                <a:latin typeface="Times New Roman" pitchFamily="34" charset="0"/>
                <a:ea typeface="Times New Roman" pitchFamily="34" charset="-122"/>
                <a:cs typeface="Times New Roman" pitchFamily="34" charset="-120"/>
              </a:rPr>
              <a:t>τ</a:t>
            </a:r>
            <a:r>
              <a:rPr lang="en-US" sz="825" dirty="0">
                <a:solidFill>
                  <a:srgbClr val="000000"/>
                </a:solidFill>
                <a:latin typeface="Times New Roman" pitchFamily="34" charset="0"/>
                <a:ea typeface="Times New Roman" pitchFamily="34" charset="-122"/>
                <a:cs typeface="Times New Roman" pitchFamily="34" charset="-120"/>
              </a:rPr>
              <a:t>: policy parameter (only if used) · </a:t>
            </a:r>
            <a:r>
              <a:rPr lang="en-US" sz="825" i="1" dirty="0">
                <a:solidFill>
                  <a:srgbClr val="000000"/>
                </a:solidFill>
                <a:latin typeface="Times New Roman" pitchFamily="34" charset="0"/>
                <a:ea typeface="Times New Roman" pitchFamily="34" charset="-122"/>
                <a:cs typeface="Times New Roman" pitchFamily="34" charset="-120"/>
              </a:rPr>
              <a:t>E</a:t>
            </a:r>
            <a:r>
              <a:rPr lang="en-US" sz="825" dirty="0">
                <a:solidFill>
                  <a:srgbClr val="000000"/>
                </a:solidFill>
                <a:latin typeface="Times New Roman" pitchFamily="34" charset="0"/>
                <a:ea typeface="Times New Roman" pitchFamily="34" charset="-122"/>
                <a:cs typeface="Times New Roman" pitchFamily="34" charset="-120"/>
              </a:rPr>
              <a:t>: evidence retrieval · </a:t>
            </a:r>
            <a:r>
              <a:rPr lang="en-US" sz="825" i="1" dirty="0">
                <a:solidFill>
                  <a:srgbClr val="000000"/>
                </a:solidFill>
                <a:latin typeface="Times New Roman" pitchFamily="34" charset="0"/>
                <a:ea typeface="Times New Roman" pitchFamily="34" charset="-122"/>
                <a:cs typeface="Times New Roman" pitchFamily="34" charset="-120"/>
              </a:rPr>
              <a:t>ev</a:t>
            </a:r>
            <a:r>
              <a:rPr lang="en-US" sz="825" dirty="0">
                <a:solidFill>
                  <a:srgbClr val="000000"/>
                </a:solidFill>
                <a:latin typeface="Times New Roman" pitchFamily="34" charset="0"/>
                <a:ea typeface="Times New Roman" pitchFamily="34" charset="-122"/>
                <a:cs typeface="Times New Roman" pitchFamily="34" charset="-120"/>
              </a:rPr>
              <a:t>: retrieved evidence</a:t>
            </a:r>
            <a:endParaRPr lang="en-US" sz="825" dirty="0"/>
          </a:p>
        </p:txBody>
      </p:sp>
      <p:sp>
        <p:nvSpPr>
          <p:cNvPr id="9" name="Shape 7"/>
          <p:cNvSpPr/>
          <p:nvPr/>
        </p:nvSpPr>
        <p:spPr>
          <a:xfrm>
            <a:off x="342900" y="5657850"/>
            <a:ext cx="8455914" cy="0"/>
          </a:xfrm>
          <a:prstGeom prst="line">
            <a:avLst/>
          </a:prstGeom>
          <a:noFill/>
          <a:ln w="25400">
            <a:solidFill>
              <a:srgbClr val="000000"/>
            </a:solidFill>
            <a:prstDash val="solid"/>
          </a:ln>
        </p:spPr>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txBox="1"/>
          <p:nvPr/>
        </p:nvSpPr>
        <p:spPr>
          <a:xfrm>
            <a:off x="342900" y="994410"/>
            <a:ext cx="8455914" cy="445770"/>
          </a:xfrm>
          <a:prstGeom prst="rect">
            <a:avLst/>
          </a:prstGeom>
          <a:noFill/>
          <a:ln/>
        </p:spPr>
        <p:txBody>
          <a:bodyPr wrap="square" lIns="0" tIns="0" rIns="0" bIns="0" rtlCol="0" anchor="ctr"/>
          <a:lstStyle/>
          <a:p>
            <a:r>
              <a:rPr lang="en-US" sz="2400" b="1" dirty="0">
                <a:solidFill>
                  <a:srgbClr val="8B4513"/>
                </a:solidFill>
                <a:latin typeface="Times New Roman" pitchFamily="34" charset="0"/>
                <a:ea typeface="Times New Roman" pitchFamily="34" charset="-122"/>
                <a:cs typeface="Times New Roman" pitchFamily="34" charset="-120"/>
              </a:rPr>
              <a:t>18.1. Experimental Setup</a:t>
            </a:r>
            <a:endParaRPr lang="en-US" sz="2400" dirty="0"/>
          </a:p>
        </p:txBody>
      </p:sp>
      <p:sp>
        <p:nvSpPr>
          <p:cNvPr id="3" name="Text 1"/>
          <p:cNvSpPr txBox="1"/>
          <p:nvPr/>
        </p:nvSpPr>
        <p:spPr>
          <a:xfrm>
            <a:off x="342900" y="1543050"/>
            <a:ext cx="4149090" cy="192024"/>
          </a:xfrm>
          <a:prstGeom prst="rect">
            <a:avLst/>
          </a:prstGeom>
          <a:noFill/>
          <a:ln/>
        </p:spPr>
        <p:txBody>
          <a:bodyPr wrap="square" lIns="0" tIns="0" rIns="0" bIns="0" rtlCol="0" anchor="ctr"/>
          <a:lstStyle/>
          <a:p>
            <a:pPr algn="ctr"/>
            <a:r>
              <a:rPr lang="en-US" sz="900" dirty="0">
                <a:solidFill>
                  <a:srgbClr val="000000"/>
                </a:solidFill>
                <a:latin typeface="Times New Roman" pitchFamily="34" charset="0"/>
                <a:ea typeface="Times New Roman" pitchFamily="34" charset="-122"/>
                <a:cs typeface="Times New Roman" pitchFamily="34" charset="-120"/>
              </a:rPr>
              <a:t>Table 1. Dataset and Preprocessing Configuration</a:t>
            </a:r>
            <a:endParaRPr lang="en-US" sz="900" dirty="0"/>
          </a:p>
        </p:txBody>
      </p:sp>
      <p:graphicFrame>
        <p:nvGraphicFramePr>
          <p:cNvPr id="6" name="Table 0"/>
          <p:cNvGraphicFramePr>
            <a:graphicFrameLocks noGrp="1"/>
          </p:cNvGraphicFramePr>
          <p:nvPr/>
        </p:nvGraphicFramePr>
        <p:xfrm>
          <a:off x="342900" y="1748790"/>
          <a:ext cx="4149090" cy="1714500"/>
        </p:xfrm>
        <a:graphic>
          <a:graphicData uri="http://schemas.openxmlformats.org/drawingml/2006/table">
            <a:tbl>
              <a:tblPr/>
              <a:tblGrid>
                <a:gridCol w="1303020">
                  <a:extLst>
                    <a:ext uri="{9D8B030D-6E8A-4147-A177-3AD203B41FA5}">
                      <a16:colId xmlns:a16="http://schemas.microsoft.com/office/drawing/2014/main" val="20000"/>
                    </a:ext>
                  </a:extLst>
                </a:gridCol>
                <a:gridCol w="2846070">
                  <a:extLst>
                    <a:ext uri="{9D8B030D-6E8A-4147-A177-3AD203B41FA5}">
                      <a16:colId xmlns:a16="http://schemas.microsoft.com/office/drawing/2014/main" val="20001"/>
                    </a:ext>
                  </a:extLst>
                </a:gridCol>
              </a:tblGrid>
              <a:tr h="171450">
                <a:tc>
                  <a:txBody>
                    <a:bodyPr/>
                    <a:lstStyle/>
                    <a:p>
                      <a:pPr marL="0" indent="0" algn="ctr">
                        <a:buNone/>
                      </a:pPr>
                      <a:r>
                        <a:rPr lang="en-US" sz="800" b="1" dirty="0">
                          <a:solidFill>
                            <a:srgbClr val="1A1A1A"/>
                          </a:solidFill>
                          <a:latin typeface="Times New Roman" pitchFamily="34" charset="0"/>
                          <a:ea typeface="Times New Roman" pitchFamily="34" charset="-122"/>
                          <a:cs typeface="Times New Roman" pitchFamily="34" charset="-120"/>
                        </a:rPr>
                        <a:t>Parameter</a:t>
                      </a:r>
                      <a:endParaRPr lang="en-US" sz="800" dirty="0">
                        <a:latin typeface="Times New Roman" charset="0"/>
                        <a:ea typeface="Times New Roman" charset="0"/>
                        <a:cs typeface="Times New Roman" charset="0"/>
                      </a:endParaRPr>
                    </a:p>
                  </a:txBody>
                  <a:tcPr marL="34290" marR="34290" marT="13716" marB="13716"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D9E2F3"/>
                    </a:solidFill>
                  </a:tcPr>
                </a:tc>
                <a:tc>
                  <a:txBody>
                    <a:bodyPr/>
                    <a:lstStyle/>
                    <a:p>
                      <a:pPr marL="0" indent="0" algn="ctr">
                        <a:buNone/>
                      </a:pPr>
                      <a:r>
                        <a:rPr lang="en-US" sz="800" b="1" dirty="0">
                          <a:solidFill>
                            <a:srgbClr val="1A1A1A"/>
                          </a:solidFill>
                          <a:latin typeface="Times New Roman" pitchFamily="34" charset="0"/>
                          <a:ea typeface="Times New Roman" pitchFamily="34" charset="-122"/>
                          <a:cs typeface="Times New Roman" pitchFamily="34" charset="-120"/>
                        </a:rPr>
                        <a:t>Configuration</a:t>
                      </a:r>
                      <a:endParaRPr lang="en-US" sz="800" dirty="0">
                        <a:latin typeface="Times New Roman" charset="0"/>
                        <a:ea typeface="Times New Roman" charset="0"/>
                        <a:cs typeface="Times New Roman" charset="0"/>
                      </a:endParaRPr>
                    </a:p>
                  </a:txBody>
                  <a:tcPr marL="34290" marR="34290" marT="13716" marB="13716"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D9E2F3"/>
                    </a:solidFill>
                  </a:tcPr>
                </a:tc>
                <a:extLst>
                  <a:ext uri="{0D108BD9-81ED-4DB2-BD59-A6C34878D82A}">
                    <a16:rowId xmlns:a16="http://schemas.microsoft.com/office/drawing/2014/main" val="10000"/>
                  </a:ext>
                </a:extLst>
              </a:tr>
              <a:tr h="171450">
                <a:tc>
                  <a:txBody>
                    <a:bodyPr/>
                    <a:lstStyle/>
                    <a:p>
                      <a:pPr marL="0" indent="0">
                        <a:buNone/>
                      </a:pPr>
                      <a:r>
                        <a:rPr lang="en-US" sz="700" b="1" dirty="0">
                          <a:solidFill>
                            <a:srgbClr val="000000"/>
                          </a:solidFill>
                          <a:latin typeface="Times New Roman" pitchFamily="34" charset="0"/>
                          <a:ea typeface="Times New Roman" pitchFamily="34" charset="-122"/>
                          <a:cs typeface="Times New Roman" pitchFamily="34" charset="-120"/>
                        </a:rPr>
                        <a:t>Dataset</a:t>
                      </a:r>
                      <a:endParaRPr lang="en-US" sz="700" dirty="0">
                        <a:latin typeface="Times New Roman" charset="0"/>
                        <a:ea typeface="Times New Roman" charset="0"/>
                        <a:cs typeface="Times New Roman" charset="0"/>
                      </a:endParaRPr>
                    </a:p>
                  </a:txBody>
                  <a:tcPr marL="41148" marR="41148" marT="13716" marB="13716"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marL="0" indent="0">
                        <a:buNone/>
                      </a:pPr>
                      <a:r>
                        <a:rPr lang="en-US" sz="700" dirty="0">
                          <a:solidFill>
                            <a:srgbClr val="000000"/>
                          </a:solidFill>
                          <a:latin typeface="Times New Roman" pitchFamily="34" charset="0"/>
                          <a:ea typeface="Times New Roman" pitchFamily="34" charset="-122"/>
                          <a:cs typeface="Times New Roman" pitchFamily="34" charset="-120"/>
                        </a:rPr>
                        <a:t>PlantVillage (Kaggle: tushar5harma/plant-village-dataset-updated)</a:t>
                      </a:r>
                      <a:endParaRPr lang="en-US" sz="700" dirty="0">
                        <a:latin typeface="Times New Roman" charset="0"/>
                        <a:ea typeface="Times New Roman" charset="0"/>
                        <a:cs typeface="Times New Roman" charset="0"/>
                      </a:endParaRPr>
                    </a:p>
                  </a:txBody>
                  <a:tcPr marL="41148" marR="41148" marT="13716" marB="13716"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1"/>
                  </a:ext>
                </a:extLst>
              </a:tr>
              <a:tr h="171450">
                <a:tc>
                  <a:txBody>
                    <a:bodyPr/>
                    <a:lstStyle/>
                    <a:p>
                      <a:pPr marL="0" indent="0">
                        <a:buNone/>
                      </a:pPr>
                      <a:r>
                        <a:rPr lang="en-US" sz="700" b="1" dirty="0">
                          <a:solidFill>
                            <a:srgbClr val="000000"/>
                          </a:solidFill>
                          <a:latin typeface="Times New Roman" pitchFamily="34" charset="0"/>
                          <a:ea typeface="Times New Roman" pitchFamily="34" charset="-122"/>
                          <a:cs typeface="Times New Roman" pitchFamily="34" charset="-120"/>
                        </a:rPr>
                        <a:t>Total images</a:t>
                      </a:r>
                      <a:endParaRPr lang="en-US" sz="700" dirty="0">
                        <a:latin typeface="Times New Roman" charset="0"/>
                        <a:ea typeface="Times New Roman" charset="0"/>
                        <a:cs typeface="Times New Roman" charset="0"/>
                      </a:endParaRPr>
                    </a:p>
                  </a:txBody>
                  <a:tcPr marL="41148" marR="41148" marT="13716" marB="13716"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marL="0" indent="0">
                        <a:buNone/>
                      </a:pPr>
                      <a:r>
                        <a:rPr lang="en-US" sz="700" dirty="0">
                          <a:solidFill>
                            <a:srgbClr val="000000"/>
                          </a:solidFill>
                          <a:latin typeface="Times New Roman" pitchFamily="34" charset="0"/>
                          <a:ea typeface="Times New Roman" pitchFamily="34" charset="-122"/>
                          <a:cs typeface="Times New Roman" pitchFamily="34" charset="-120"/>
                        </a:rPr>
                        <a:t>67,118</a:t>
                      </a:r>
                      <a:endParaRPr lang="en-US" sz="700" dirty="0">
                        <a:latin typeface="Times New Roman" charset="0"/>
                        <a:ea typeface="Times New Roman" charset="0"/>
                        <a:cs typeface="Times New Roman" charset="0"/>
                      </a:endParaRPr>
                    </a:p>
                  </a:txBody>
                  <a:tcPr marL="41148" marR="41148" marT="13716" marB="13716"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2"/>
                  </a:ext>
                </a:extLst>
              </a:tr>
              <a:tr h="171450">
                <a:tc>
                  <a:txBody>
                    <a:bodyPr/>
                    <a:lstStyle/>
                    <a:p>
                      <a:pPr marL="0" indent="0">
                        <a:buNone/>
                      </a:pPr>
                      <a:r>
                        <a:rPr lang="en-US" sz="700" b="1" dirty="0">
                          <a:solidFill>
                            <a:srgbClr val="000000"/>
                          </a:solidFill>
                          <a:latin typeface="Times New Roman" pitchFamily="34" charset="0"/>
                          <a:ea typeface="Times New Roman" pitchFamily="34" charset="-122"/>
                          <a:cs typeface="Times New Roman" pitchFamily="34" charset="-120"/>
                        </a:rPr>
                        <a:t>Classes / species</a:t>
                      </a:r>
                      <a:endParaRPr lang="en-US" sz="700" dirty="0">
                        <a:latin typeface="Times New Roman" charset="0"/>
                        <a:ea typeface="Times New Roman" charset="0"/>
                        <a:cs typeface="Times New Roman" charset="0"/>
                      </a:endParaRPr>
                    </a:p>
                  </a:txBody>
                  <a:tcPr marL="41148" marR="41148" marT="13716" marB="13716"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marL="0" indent="0">
                        <a:buNone/>
                      </a:pPr>
                      <a:r>
                        <a:rPr lang="en-US" sz="700" dirty="0">
                          <a:solidFill>
                            <a:srgbClr val="000000"/>
                          </a:solidFill>
                          <a:latin typeface="Times New Roman" pitchFamily="34" charset="0"/>
                          <a:ea typeface="Times New Roman" pitchFamily="34" charset="-122"/>
                          <a:cs typeface="Times New Roman" pitchFamily="34" charset="-120"/>
                        </a:rPr>
                        <a:t>29 classes / 9 plant species</a:t>
                      </a:r>
                      <a:endParaRPr lang="en-US" sz="700" dirty="0">
                        <a:latin typeface="Times New Roman" charset="0"/>
                        <a:ea typeface="Times New Roman" charset="0"/>
                        <a:cs typeface="Times New Roman" charset="0"/>
                      </a:endParaRPr>
                    </a:p>
                  </a:txBody>
                  <a:tcPr marL="41148" marR="41148" marT="13716" marB="13716"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3"/>
                  </a:ext>
                </a:extLst>
              </a:tr>
              <a:tr h="171450">
                <a:tc>
                  <a:txBody>
                    <a:bodyPr/>
                    <a:lstStyle/>
                    <a:p>
                      <a:pPr marL="0" indent="0">
                        <a:buNone/>
                      </a:pPr>
                      <a:r>
                        <a:rPr lang="en-US" sz="700" b="1" dirty="0">
                          <a:solidFill>
                            <a:srgbClr val="000000"/>
                          </a:solidFill>
                          <a:latin typeface="Times New Roman" pitchFamily="34" charset="0"/>
                          <a:ea typeface="Times New Roman" pitchFamily="34" charset="-122"/>
                          <a:cs typeface="Times New Roman" pitchFamily="34" charset="-120"/>
                        </a:rPr>
                        <a:t>Training images</a:t>
                      </a:r>
                      <a:endParaRPr lang="en-US" sz="700" dirty="0">
                        <a:latin typeface="Times New Roman" charset="0"/>
                        <a:ea typeface="Times New Roman" charset="0"/>
                        <a:cs typeface="Times New Roman" charset="0"/>
                      </a:endParaRPr>
                    </a:p>
                  </a:txBody>
                  <a:tcPr marL="41148" marR="41148" marT="13716" marB="13716"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marL="0" indent="0">
                        <a:buNone/>
                      </a:pPr>
                      <a:r>
                        <a:rPr lang="en-US" sz="700" dirty="0">
                          <a:solidFill>
                            <a:srgbClr val="000000"/>
                          </a:solidFill>
                          <a:latin typeface="Times New Roman" pitchFamily="34" charset="0"/>
                          <a:ea typeface="Times New Roman" pitchFamily="34" charset="-122"/>
                          <a:cs typeface="Times New Roman" pitchFamily="34" charset="-120"/>
                        </a:rPr>
                        <a:t>53,693</a:t>
                      </a:r>
                      <a:endParaRPr lang="en-US" sz="700" dirty="0">
                        <a:latin typeface="Times New Roman" charset="0"/>
                        <a:ea typeface="Times New Roman" charset="0"/>
                        <a:cs typeface="Times New Roman" charset="0"/>
                      </a:endParaRPr>
                    </a:p>
                  </a:txBody>
                  <a:tcPr marL="41148" marR="41148" marT="13716" marB="13716"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4"/>
                  </a:ext>
                </a:extLst>
              </a:tr>
              <a:tr h="171450">
                <a:tc>
                  <a:txBody>
                    <a:bodyPr/>
                    <a:lstStyle/>
                    <a:p>
                      <a:pPr marL="0" indent="0">
                        <a:buNone/>
                      </a:pPr>
                      <a:r>
                        <a:rPr lang="en-US" sz="700" b="1" dirty="0">
                          <a:solidFill>
                            <a:srgbClr val="000000"/>
                          </a:solidFill>
                          <a:latin typeface="Times New Roman" pitchFamily="34" charset="0"/>
                          <a:ea typeface="Times New Roman" pitchFamily="34" charset="-122"/>
                          <a:cs typeface="Times New Roman" pitchFamily="34" charset="-120"/>
                        </a:rPr>
                        <a:t>Validation images</a:t>
                      </a:r>
                      <a:endParaRPr lang="en-US" sz="700" dirty="0">
                        <a:latin typeface="Times New Roman" charset="0"/>
                        <a:ea typeface="Times New Roman" charset="0"/>
                        <a:cs typeface="Times New Roman" charset="0"/>
                      </a:endParaRPr>
                    </a:p>
                  </a:txBody>
                  <a:tcPr marL="41148" marR="41148" marT="13716" marB="13716"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marL="0" indent="0">
                        <a:buNone/>
                      </a:pPr>
                      <a:r>
                        <a:rPr lang="en-US" sz="700" dirty="0">
                          <a:solidFill>
                            <a:srgbClr val="000000"/>
                          </a:solidFill>
                          <a:latin typeface="Times New Roman" pitchFamily="34" charset="0"/>
                          <a:ea typeface="Times New Roman" pitchFamily="34" charset="-122"/>
                          <a:cs typeface="Times New Roman" pitchFamily="34" charset="-120"/>
                        </a:rPr>
                        <a:t>12,067</a:t>
                      </a:r>
                      <a:endParaRPr lang="en-US" sz="700" dirty="0">
                        <a:latin typeface="Times New Roman" charset="0"/>
                        <a:ea typeface="Times New Roman" charset="0"/>
                        <a:cs typeface="Times New Roman" charset="0"/>
                      </a:endParaRPr>
                    </a:p>
                  </a:txBody>
                  <a:tcPr marL="41148" marR="41148" marT="13716" marB="13716"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5"/>
                  </a:ext>
                </a:extLst>
              </a:tr>
              <a:tr h="171450">
                <a:tc>
                  <a:txBody>
                    <a:bodyPr/>
                    <a:lstStyle/>
                    <a:p>
                      <a:pPr marL="0" indent="0">
                        <a:buNone/>
                      </a:pPr>
                      <a:r>
                        <a:rPr lang="en-US" sz="700" b="1" dirty="0">
                          <a:solidFill>
                            <a:srgbClr val="000000"/>
                          </a:solidFill>
                          <a:latin typeface="Times New Roman" pitchFamily="34" charset="0"/>
                          <a:ea typeface="Times New Roman" pitchFamily="34" charset="-122"/>
                          <a:cs typeface="Times New Roman" pitchFamily="34" charset="-120"/>
                        </a:rPr>
                        <a:t>Test images</a:t>
                      </a:r>
                      <a:endParaRPr lang="en-US" sz="700" dirty="0">
                        <a:latin typeface="Times New Roman" charset="0"/>
                        <a:ea typeface="Times New Roman" charset="0"/>
                        <a:cs typeface="Times New Roman" charset="0"/>
                      </a:endParaRPr>
                    </a:p>
                  </a:txBody>
                  <a:tcPr marL="41148" marR="41148" marT="13716" marB="13716"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marL="0" indent="0">
                        <a:buNone/>
                      </a:pPr>
                      <a:r>
                        <a:rPr lang="en-US" sz="700" dirty="0">
                          <a:solidFill>
                            <a:srgbClr val="000000"/>
                          </a:solidFill>
                          <a:latin typeface="Times New Roman" pitchFamily="34" charset="0"/>
                          <a:ea typeface="Times New Roman" pitchFamily="34" charset="-122"/>
                          <a:cs typeface="Times New Roman" pitchFamily="34" charset="-120"/>
                        </a:rPr>
                        <a:t>1,358</a:t>
                      </a:r>
                      <a:endParaRPr lang="en-US" sz="700" dirty="0">
                        <a:latin typeface="Times New Roman" charset="0"/>
                        <a:ea typeface="Times New Roman" charset="0"/>
                        <a:cs typeface="Times New Roman" charset="0"/>
                      </a:endParaRPr>
                    </a:p>
                  </a:txBody>
                  <a:tcPr marL="41148" marR="41148" marT="13716" marB="13716"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6"/>
                  </a:ext>
                </a:extLst>
              </a:tr>
              <a:tr h="171450">
                <a:tc>
                  <a:txBody>
                    <a:bodyPr/>
                    <a:lstStyle/>
                    <a:p>
                      <a:pPr marL="0" indent="0">
                        <a:buNone/>
                      </a:pPr>
                      <a:r>
                        <a:rPr lang="en-US" sz="700" b="1" dirty="0">
                          <a:solidFill>
                            <a:srgbClr val="000000"/>
                          </a:solidFill>
                          <a:latin typeface="Times New Roman" pitchFamily="34" charset="0"/>
                          <a:ea typeface="Times New Roman" pitchFamily="34" charset="-122"/>
                          <a:cs typeface="Times New Roman" pitchFamily="34" charset="-120"/>
                        </a:rPr>
                        <a:t>Input image size</a:t>
                      </a:r>
                      <a:endParaRPr lang="en-US" sz="700" dirty="0">
                        <a:latin typeface="Times New Roman" charset="0"/>
                        <a:ea typeface="Times New Roman" charset="0"/>
                        <a:cs typeface="Times New Roman" charset="0"/>
                      </a:endParaRPr>
                    </a:p>
                  </a:txBody>
                  <a:tcPr marL="41148" marR="41148" marT="13716" marB="13716"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marL="0" indent="0">
                        <a:buNone/>
                      </a:pPr>
                      <a:r>
                        <a:rPr lang="en-US" sz="700" dirty="0">
                          <a:solidFill>
                            <a:srgbClr val="000000"/>
                          </a:solidFill>
                          <a:latin typeface="Times New Roman" pitchFamily="34" charset="0"/>
                          <a:ea typeface="Times New Roman" pitchFamily="34" charset="-122"/>
                          <a:cs typeface="Times New Roman" pitchFamily="34" charset="-120"/>
                        </a:rPr>
                        <a:t>224 × 224 pixels</a:t>
                      </a:r>
                      <a:endParaRPr lang="en-US" sz="700" dirty="0">
                        <a:latin typeface="Times New Roman" charset="0"/>
                        <a:ea typeface="Times New Roman" charset="0"/>
                        <a:cs typeface="Times New Roman" charset="0"/>
                      </a:endParaRPr>
                    </a:p>
                  </a:txBody>
                  <a:tcPr marL="41148" marR="41148" marT="13716" marB="13716"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7"/>
                  </a:ext>
                </a:extLst>
              </a:tr>
              <a:tr h="171450">
                <a:tc>
                  <a:txBody>
                    <a:bodyPr/>
                    <a:lstStyle/>
                    <a:p>
                      <a:pPr marL="0" indent="0">
                        <a:buNone/>
                      </a:pPr>
                      <a:r>
                        <a:rPr lang="en-US" sz="700" b="1" dirty="0">
                          <a:solidFill>
                            <a:srgbClr val="000000"/>
                          </a:solidFill>
                          <a:latin typeface="Times New Roman" pitchFamily="34" charset="0"/>
                          <a:ea typeface="Times New Roman" pitchFamily="34" charset="-122"/>
                          <a:cs typeface="Times New Roman" pitchFamily="34" charset="-120"/>
                        </a:rPr>
                        <a:t>Image validation</a:t>
                      </a:r>
                      <a:endParaRPr lang="en-US" sz="700" dirty="0">
                        <a:latin typeface="Times New Roman" charset="0"/>
                        <a:ea typeface="Times New Roman" charset="0"/>
                        <a:cs typeface="Times New Roman" charset="0"/>
                      </a:endParaRPr>
                    </a:p>
                  </a:txBody>
                  <a:tcPr marL="41148" marR="41148" marT="13716" marB="13716"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marL="0" indent="0">
                        <a:buNone/>
                      </a:pPr>
                      <a:r>
                        <a:rPr lang="en-US" sz="700" dirty="0">
                          <a:solidFill>
                            <a:srgbClr val="000000"/>
                          </a:solidFill>
                          <a:latin typeface="Times New Roman" pitchFamily="34" charset="0"/>
                          <a:ea typeface="Times New Roman" pitchFamily="34" charset="-122"/>
                          <a:cs typeface="Times New Roman" pitchFamily="34" charset="-120"/>
                        </a:rPr>
                        <a:t>File-open check; zero corrupted images found</a:t>
                      </a:r>
                      <a:endParaRPr lang="en-US" sz="700" dirty="0">
                        <a:latin typeface="Times New Roman" charset="0"/>
                        <a:ea typeface="Times New Roman" charset="0"/>
                        <a:cs typeface="Times New Roman" charset="0"/>
                      </a:endParaRPr>
                    </a:p>
                  </a:txBody>
                  <a:tcPr marL="41148" marR="41148" marT="13716" marB="13716"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8"/>
                  </a:ext>
                </a:extLst>
              </a:tr>
              <a:tr h="171450">
                <a:tc>
                  <a:txBody>
                    <a:bodyPr/>
                    <a:lstStyle/>
                    <a:p>
                      <a:pPr marL="0" indent="0">
                        <a:buNone/>
                      </a:pPr>
                      <a:r>
                        <a:rPr lang="en-US" sz="700" b="1" dirty="0">
                          <a:solidFill>
                            <a:srgbClr val="000000"/>
                          </a:solidFill>
                          <a:latin typeface="Times New Roman" pitchFamily="34" charset="0"/>
                          <a:ea typeface="Times New Roman" pitchFamily="34" charset="-122"/>
                          <a:cs typeface="Times New Roman" pitchFamily="34" charset="-120"/>
                        </a:rPr>
                        <a:t>Augmentation</a:t>
                      </a:r>
                      <a:endParaRPr lang="en-US" sz="700" dirty="0">
                        <a:latin typeface="Times New Roman" charset="0"/>
                        <a:ea typeface="Times New Roman" charset="0"/>
                        <a:cs typeface="Times New Roman" charset="0"/>
                      </a:endParaRPr>
                    </a:p>
                  </a:txBody>
                  <a:tcPr marL="41148" marR="41148" marT="13716" marB="13716"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marL="0" indent="0">
                        <a:buNone/>
                      </a:pPr>
                      <a:r>
                        <a:rPr lang="en-US" sz="700" dirty="0">
                          <a:solidFill>
                            <a:srgbClr val="000000"/>
                          </a:solidFill>
                          <a:latin typeface="Times New Roman" pitchFamily="34" charset="0"/>
                          <a:ea typeface="Times New Roman" pitchFamily="34" charset="-122"/>
                          <a:cs typeface="Times New Roman" pitchFamily="34" charset="-120"/>
                        </a:rPr>
                        <a:t>Training split only, where configured</a:t>
                      </a:r>
                      <a:endParaRPr lang="en-US" sz="700" dirty="0">
                        <a:latin typeface="Times New Roman" charset="0"/>
                        <a:ea typeface="Times New Roman" charset="0"/>
                        <a:cs typeface="Times New Roman" charset="0"/>
                      </a:endParaRPr>
                    </a:p>
                  </a:txBody>
                  <a:tcPr marL="41148" marR="41148" marT="13716" marB="13716"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9"/>
                  </a:ext>
                </a:extLst>
              </a:tr>
            </a:tbl>
          </a:graphicData>
        </a:graphic>
      </p:graphicFrame>
      <p:sp>
        <p:nvSpPr>
          <p:cNvPr id="5" name="Text 2"/>
          <p:cNvSpPr txBox="1"/>
          <p:nvPr/>
        </p:nvSpPr>
        <p:spPr>
          <a:xfrm>
            <a:off x="4649724" y="1543050"/>
            <a:ext cx="4149090" cy="192024"/>
          </a:xfrm>
          <a:prstGeom prst="rect">
            <a:avLst/>
          </a:prstGeom>
          <a:noFill/>
          <a:ln/>
        </p:spPr>
        <p:txBody>
          <a:bodyPr wrap="square" lIns="0" tIns="0" rIns="0" bIns="0" rtlCol="0" anchor="ctr"/>
          <a:lstStyle/>
          <a:p>
            <a:pPr algn="ctr"/>
            <a:r>
              <a:rPr lang="en-US" sz="900" dirty="0">
                <a:solidFill>
                  <a:srgbClr val="000000"/>
                </a:solidFill>
                <a:latin typeface="Times New Roman" pitchFamily="34" charset="0"/>
                <a:ea typeface="Times New Roman" pitchFamily="34" charset="-122"/>
                <a:cs typeface="Times New Roman" pitchFamily="34" charset="-120"/>
              </a:rPr>
              <a:t>Table 2. Experimental Environment and Tools</a:t>
            </a:r>
            <a:endParaRPr lang="en-US" sz="900" dirty="0"/>
          </a:p>
        </p:txBody>
      </p:sp>
      <p:graphicFrame>
        <p:nvGraphicFramePr>
          <p:cNvPr id="11" name="Table 1"/>
          <p:cNvGraphicFramePr>
            <a:graphicFrameLocks noGrp="1"/>
          </p:cNvGraphicFramePr>
          <p:nvPr/>
        </p:nvGraphicFramePr>
        <p:xfrm>
          <a:off x="4649724" y="1748790"/>
          <a:ext cx="4149090" cy="1543050"/>
        </p:xfrm>
        <a:graphic>
          <a:graphicData uri="http://schemas.openxmlformats.org/drawingml/2006/table">
            <a:tbl>
              <a:tblPr/>
              <a:tblGrid>
                <a:gridCol w="925830">
                  <a:extLst>
                    <a:ext uri="{9D8B030D-6E8A-4147-A177-3AD203B41FA5}">
                      <a16:colId xmlns:a16="http://schemas.microsoft.com/office/drawing/2014/main" val="20000"/>
                    </a:ext>
                  </a:extLst>
                </a:gridCol>
                <a:gridCol w="1577340">
                  <a:extLst>
                    <a:ext uri="{9D8B030D-6E8A-4147-A177-3AD203B41FA5}">
                      <a16:colId xmlns:a16="http://schemas.microsoft.com/office/drawing/2014/main" val="20001"/>
                    </a:ext>
                  </a:extLst>
                </a:gridCol>
                <a:gridCol w="1645920">
                  <a:extLst>
                    <a:ext uri="{9D8B030D-6E8A-4147-A177-3AD203B41FA5}">
                      <a16:colId xmlns:a16="http://schemas.microsoft.com/office/drawing/2014/main" val="20002"/>
                    </a:ext>
                  </a:extLst>
                </a:gridCol>
              </a:tblGrid>
              <a:tr h="171450">
                <a:tc>
                  <a:txBody>
                    <a:bodyPr/>
                    <a:lstStyle/>
                    <a:p>
                      <a:pPr marL="0" indent="0" algn="ctr">
                        <a:buNone/>
                      </a:pPr>
                      <a:r>
                        <a:rPr lang="en-US" sz="800" b="1" dirty="0">
                          <a:solidFill>
                            <a:srgbClr val="1A1A1A"/>
                          </a:solidFill>
                          <a:latin typeface="Times New Roman" pitchFamily="34" charset="0"/>
                          <a:ea typeface="Times New Roman" pitchFamily="34" charset="-122"/>
                          <a:cs typeface="Times New Roman" pitchFamily="34" charset="-120"/>
                        </a:rPr>
                        <a:t>Component</a:t>
                      </a:r>
                      <a:endParaRPr lang="en-US" sz="800" dirty="0">
                        <a:latin typeface="Times New Roman" charset="0"/>
                        <a:ea typeface="Times New Roman" charset="0"/>
                        <a:cs typeface="Times New Roman" charset="0"/>
                      </a:endParaRPr>
                    </a:p>
                  </a:txBody>
                  <a:tcPr marL="34290" marR="34290" marT="13716" marB="13716"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D9E2F3"/>
                    </a:solidFill>
                  </a:tcPr>
                </a:tc>
                <a:tc>
                  <a:txBody>
                    <a:bodyPr/>
                    <a:lstStyle/>
                    <a:p>
                      <a:pPr marL="0" indent="0" algn="ctr">
                        <a:buNone/>
                      </a:pPr>
                      <a:r>
                        <a:rPr lang="en-US" sz="800" b="1" dirty="0">
                          <a:solidFill>
                            <a:srgbClr val="1A1A1A"/>
                          </a:solidFill>
                          <a:latin typeface="Times New Roman" pitchFamily="34" charset="0"/>
                          <a:ea typeface="Times New Roman" pitchFamily="34" charset="-122"/>
                          <a:cs typeface="Times New Roman" pitchFamily="34" charset="-120"/>
                        </a:rPr>
                        <a:t>Tool / configuration</a:t>
                      </a:r>
                      <a:endParaRPr lang="en-US" sz="800" dirty="0">
                        <a:latin typeface="Times New Roman" charset="0"/>
                        <a:ea typeface="Times New Roman" charset="0"/>
                        <a:cs typeface="Times New Roman" charset="0"/>
                      </a:endParaRPr>
                    </a:p>
                  </a:txBody>
                  <a:tcPr marL="34290" marR="34290" marT="13716" marB="13716"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D9E2F3"/>
                    </a:solidFill>
                  </a:tcPr>
                </a:tc>
                <a:tc>
                  <a:txBody>
                    <a:bodyPr/>
                    <a:lstStyle/>
                    <a:p>
                      <a:pPr marL="0" indent="0" algn="ctr">
                        <a:buNone/>
                      </a:pPr>
                      <a:r>
                        <a:rPr lang="en-US" sz="800" b="1" dirty="0">
                          <a:solidFill>
                            <a:srgbClr val="1A1A1A"/>
                          </a:solidFill>
                          <a:latin typeface="Times New Roman" pitchFamily="34" charset="0"/>
                          <a:ea typeface="Times New Roman" pitchFamily="34" charset="-122"/>
                          <a:cs typeface="Times New Roman" pitchFamily="34" charset="-120"/>
                        </a:rPr>
                        <a:t>Purpose</a:t>
                      </a:r>
                      <a:endParaRPr lang="en-US" sz="800" dirty="0">
                        <a:latin typeface="Times New Roman" charset="0"/>
                        <a:ea typeface="Times New Roman" charset="0"/>
                        <a:cs typeface="Times New Roman" charset="0"/>
                      </a:endParaRPr>
                    </a:p>
                  </a:txBody>
                  <a:tcPr marL="34290" marR="34290" marT="13716" marB="13716"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D9E2F3"/>
                    </a:solidFill>
                  </a:tcPr>
                </a:tc>
                <a:extLst>
                  <a:ext uri="{0D108BD9-81ED-4DB2-BD59-A6C34878D82A}">
                    <a16:rowId xmlns:a16="http://schemas.microsoft.com/office/drawing/2014/main" val="10000"/>
                  </a:ext>
                </a:extLst>
              </a:tr>
              <a:tr h="171450">
                <a:tc>
                  <a:txBody>
                    <a:bodyPr/>
                    <a:lstStyle/>
                    <a:p>
                      <a:pPr marL="0" indent="0">
                        <a:buNone/>
                      </a:pPr>
                      <a:r>
                        <a:rPr lang="en-US" sz="700" b="1" dirty="0">
                          <a:solidFill>
                            <a:srgbClr val="000000"/>
                          </a:solidFill>
                          <a:latin typeface="Times New Roman" pitchFamily="34" charset="0"/>
                          <a:ea typeface="Times New Roman" pitchFamily="34" charset="-122"/>
                          <a:cs typeface="Times New Roman" pitchFamily="34" charset="-120"/>
                        </a:rPr>
                        <a:t>Language</a:t>
                      </a:r>
                      <a:endParaRPr lang="en-US" sz="700" dirty="0">
                        <a:latin typeface="Times New Roman" charset="0"/>
                        <a:ea typeface="Times New Roman" charset="0"/>
                        <a:cs typeface="Times New Roman" charset="0"/>
                      </a:endParaRPr>
                    </a:p>
                  </a:txBody>
                  <a:tcPr marL="41148" marR="41148" marT="13716" marB="13716"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marL="0" indent="0">
                        <a:buNone/>
                      </a:pPr>
                      <a:r>
                        <a:rPr lang="en-US" sz="700" dirty="0">
                          <a:solidFill>
                            <a:srgbClr val="000000"/>
                          </a:solidFill>
                          <a:latin typeface="Times New Roman" pitchFamily="34" charset="0"/>
                          <a:ea typeface="Times New Roman" pitchFamily="34" charset="-122"/>
                          <a:cs typeface="Times New Roman" pitchFamily="34" charset="-120"/>
                        </a:rPr>
                        <a:t>Not specified</a:t>
                      </a:r>
                      <a:endParaRPr lang="en-US" sz="700" dirty="0">
                        <a:latin typeface="Times New Roman" charset="0"/>
                        <a:ea typeface="Times New Roman" charset="0"/>
                        <a:cs typeface="Times New Roman" charset="0"/>
                      </a:endParaRPr>
                    </a:p>
                  </a:txBody>
                  <a:tcPr marL="41148" marR="41148" marT="13716" marB="13716"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marL="0" indent="0">
                        <a:buNone/>
                      </a:pPr>
                      <a:r>
                        <a:rPr lang="en-US" sz="700" dirty="0">
                          <a:solidFill>
                            <a:srgbClr val="000000"/>
                          </a:solidFill>
                          <a:latin typeface="Times New Roman" pitchFamily="34" charset="0"/>
                          <a:ea typeface="Times New Roman" pitchFamily="34" charset="-122"/>
                          <a:cs typeface="Times New Roman" pitchFamily="34" charset="-120"/>
                        </a:rPr>
                        <a:t>—</a:t>
                      </a:r>
                      <a:endParaRPr lang="en-US" sz="700" dirty="0">
                        <a:latin typeface="Times New Roman" charset="0"/>
                        <a:ea typeface="Times New Roman" charset="0"/>
                        <a:cs typeface="Times New Roman" charset="0"/>
                      </a:endParaRPr>
                    </a:p>
                  </a:txBody>
                  <a:tcPr marL="41148" marR="41148" marT="13716" marB="13716"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1"/>
                  </a:ext>
                </a:extLst>
              </a:tr>
              <a:tr h="171450">
                <a:tc>
                  <a:txBody>
                    <a:bodyPr/>
                    <a:lstStyle/>
                    <a:p>
                      <a:pPr marL="0" indent="0">
                        <a:buNone/>
                      </a:pPr>
                      <a:r>
                        <a:rPr lang="en-US" sz="700" b="1" dirty="0">
                          <a:solidFill>
                            <a:srgbClr val="000000"/>
                          </a:solidFill>
                          <a:latin typeface="Times New Roman" pitchFamily="34" charset="0"/>
                          <a:ea typeface="Times New Roman" pitchFamily="34" charset="-122"/>
                          <a:cs typeface="Times New Roman" pitchFamily="34" charset="-120"/>
                        </a:rPr>
                        <a:t>DL framework</a:t>
                      </a:r>
                      <a:endParaRPr lang="en-US" sz="700" dirty="0">
                        <a:latin typeface="Times New Roman" charset="0"/>
                        <a:ea typeface="Times New Roman" charset="0"/>
                        <a:cs typeface="Times New Roman" charset="0"/>
                      </a:endParaRPr>
                    </a:p>
                  </a:txBody>
                  <a:tcPr marL="41148" marR="41148" marT="13716" marB="13716"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marL="0" indent="0">
                        <a:buNone/>
                      </a:pPr>
                      <a:r>
                        <a:rPr lang="en-US" sz="700" dirty="0">
                          <a:solidFill>
                            <a:srgbClr val="000000"/>
                          </a:solidFill>
                          <a:latin typeface="Times New Roman" pitchFamily="34" charset="0"/>
                          <a:ea typeface="Times New Roman" pitchFamily="34" charset="-122"/>
                          <a:cs typeface="Times New Roman" pitchFamily="34" charset="-120"/>
                        </a:rPr>
                        <a:t>Not specified</a:t>
                      </a:r>
                      <a:endParaRPr lang="en-US" sz="700" dirty="0">
                        <a:latin typeface="Times New Roman" charset="0"/>
                        <a:ea typeface="Times New Roman" charset="0"/>
                        <a:cs typeface="Times New Roman" charset="0"/>
                      </a:endParaRPr>
                    </a:p>
                  </a:txBody>
                  <a:tcPr marL="41148" marR="41148" marT="13716" marB="13716"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marL="0" indent="0">
                        <a:buNone/>
                      </a:pPr>
                      <a:r>
                        <a:rPr lang="en-US" sz="700" dirty="0">
                          <a:solidFill>
                            <a:srgbClr val="000000"/>
                          </a:solidFill>
                          <a:latin typeface="Times New Roman" pitchFamily="34" charset="0"/>
                          <a:ea typeface="Times New Roman" pitchFamily="34" charset="-122"/>
                          <a:cs typeface="Times New Roman" pitchFamily="34" charset="-120"/>
                        </a:rPr>
                        <a:t>—</a:t>
                      </a:r>
                      <a:endParaRPr lang="en-US" sz="700" dirty="0">
                        <a:latin typeface="Times New Roman" charset="0"/>
                        <a:ea typeface="Times New Roman" charset="0"/>
                        <a:cs typeface="Times New Roman" charset="0"/>
                      </a:endParaRPr>
                    </a:p>
                  </a:txBody>
                  <a:tcPr marL="41148" marR="41148" marT="13716" marB="13716"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2"/>
                  </a:ext>
                </a:extLst>
              </a:tr>
              <a:tr h="171450">
                <a:tc>
                  <a:txBody>
                    <a:bodyPr/>
                    <a:lstStyle/>
                    <a:p>
                      <a:pPr marL="0" indent="0">
                        <a:buNone/>
                      </a:pPr>
                      <a:r>
                        <a:rPr lang="en-US" sz="700" b="1" dirty="0">
                          <a:solidFill>
                            <a:srgbClr val="000000"/>
                          </a:solidFill>
                          <a:latin typeface="Times New Roman" pitchFamily="34" charset="0"/>
                          <a:ea typeface="Times New Roman" pitchFamily="34" charset="-122"/>
                          <a:cs typeface="Times New Roman" pitchFamily="34" charset="-120"/>
                        </a:rPr>
                        <a:t>Dataset source</a:t>
                      </a:r>
                      <a:endParaRPr lang="en-US" sz="700" dirty="0">
                        <a:latin typeface="Times New Roman" charset="0"/>
                        <a:ea typeface="Times New Roman" charset="0"/>
                        <a:cs typeface="Times New Roman" charset="0"/>
                      </a:endParaRPr>
                    </a:p>
                  </a:txBody>
                  <a:tcPr marL="41148" marR="41148" marT="13716" marB="13716"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marL="0" indent="0">
                        <a:buNone/>
                      </a:pPr>
                      <a:r>
                        <a:rPr lang="en-US" sz="700" dirty="0">
                          <a:solidFill>
                            <a:srgbClr val="000000"/>
                          </a:solidFill>
                          <a:latin typeface="Times New Roman" pitchFamily="34" charset="0"/>
                          <a:ea typeface="Times New Roman" pitchFamily="34" charset="-122"/>
                          <a:cs typeface="Times New Roman" pitchFamily="34" charset="-120"/>
                        </a:rPr>
                        <a:t>Kaggle</a:t>
                      </a:r>
                      <a:endParaRPr lang="en-US" sz="700" dirty="0">
                        <a:latin typeface="Times New Roman" charset="0"/>
                        <a:ea typeface="Times New Roman" charset="0"/>
                        <a:cs typeface="Times New Roman" charset="0"/>
                      </a:endParaRPr>
                    </a:p>
                  </a:txBody>
                  <a:tcPr marL="41148" marR="41148" marT="13716" marB="13716"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marL="0" indent="0">
                        <a:buNone/>
                      </a:pPr>
                      <a:r>
                        <a:rPr lang="en-US" sz="700" dirty="0">
                          <a:solidFill>
                            <a:srgbClr val="000000"/>
                          </a:solidFill>
                          <a:latin typeface="Times New Roman" pitchFamily="34" charset="0"/>
                          <a:ea typeface="Times New Roman" pitchFamily="34" charset="-122"/>
                          <a:cs typeface="Times New Roman" pitchFamily="34" charset="-120"/>
                        </a:rPr>
                        <a:t>Image data</a:t>
                      </a:r>
                      <a:endParaRPr lang="en-US" sz="700" dirty="0">
                        <a:latin typeface="Times New Roman" charset="0"/>
                        <a:ea typeface="Times New Roman" charset="0"/>
                        <a:cs typeface="Times New Roman" charset="0"/>
                      </a:endParaRPr>
                    </a:p>
                  </a:txBody>
                  <a:tcPr marL="41148" marR="41148" marT="13716" marB="13716"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3"/>
                  </a:ext>
                </a:extLst>
              </a:tr>
              <a:tr h="171450">
                <a:tc>
                  <a:txBody>
                    <a:bodyPr/>
                    <a:lstStyle/>
                    <a:p>
                      <a:pPr marL="0" indent="0">
                        <a:buNone/>
                      </a:pPr>
                      <a:r>
                        <a:rPr lang="en-US" sz="700" b="1" dirty="0">
                          <a:solidFill>
                            <a:srgbClr val="000000"/>
                          </a:solidFill>
                          <a:latin typeface="Times New Roman" pitchFamily="34" charset="0"/>
                          <a:ea typeface="Times New Roman" pitchFamily="34" charset="-122"/>
                          <a:cs typeface="Times New Roman" pitchFamily="34" charset="-120"/>
                        </a:rPr>
                        <a:t>Environment</a:t>
                      </a:r>
                      <a:endParaRPr lang="en-US" sz="700" dirty="0">
                        <a:latin typeface="Times New Roman" charset="0"/>
                        <a:ea typeface="Times New Roman" charset="0"/>
                        <a:cs typeface="Times New Roman" charset="0"/>
                      </a:endParaRPr>
                    </a:p>
                  </a:txBody>
                  <a:tcPr marL="41148" marR="41148" marT="13716" marB="13716"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marL="0" indent="0">
                        <a:buNone/>
                      </a:pPr>
                      <a:r>
                        <a:rPr lang="en-US" sz="700" dirty="0">
                          <a:solidFill>
                            <a:srgbClr val="000000"/>
                          </a:solidFill>
                          <a:latin typeface="Times New Roman" pitchFamily="34" charset="0"/>
                          <a:ea typeface="Times New Roman" pitchFamily="34" charset="-122"/>
                          <a:cs typeface="Times New Roman" pitchFamily="34" charset="-120"/>
                        </a:rPr>
                        <a:t>Google Colab*</a:t>
                      </a:r>
                      <a:endParaRPr lang="en-US" sz="700" dirty="0">
                        <a:latin typeface="Times New Roman" charset="0"/>
                        <a:ea typeface="Times New Roman" charset="0"/>
                        <a:cs typeface="Times New Roman" charset="0"/>
                      </a:endParaRPr>
                    </a:p>
                  </a:txBody>
                  <a:tcPr marL="41148" marR="41148" marT="13716" marB="13716"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marL="0" indent="0">
                        <a:buNone/>
                      </a:pPr>
                      <a:r>
                        <a:rPr lang="en-US" sz="700" dirty="0">
                          <a:solidFill>
                            <a:srgbClr val="000000"/>
                          </a:solidFill>
                          <a:latin typeface="Times New Roman" pitchFamily="34" charset="0"/>
                          <a:ea typeface="Times New Roman" pitchFamily="34" charset="-122"/>
                          <a:cs typeface="Times New Roman" pitchFamily="34" charset="-120"/>
                        </a:rPr>
                        <a:t>Training / experiments</a:t>
                      </a:r>
                      <a:endParaRPr lang="en-US" sz="700" dirty="0">
                        <a:latin typeface="Times New Roman" charset="0"/>
                        <a:ea typeface="Times New Roman" charset="0"/>
                        <a:cs typeface="Times New Roman" charset="0"/>
                      </a:endParaRPr>
                    </a:p>
                  </a:txBody>
                  <a:tcPr marL="41148" marR="41148" marT="13716" marB="13716"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4"/>
                  </a:ext>
                </a:extLst>
              </a:tr>
              <a:tr h="171450">
                <a:tc>
                  <a:txBody>
                    <a:bodyPr/>
                    <a:lstStyle/>
                    <a:p>
                      <a:pPr marL="0" indent="0">
                        <a:buNone/>
                      </a:pPr>
                      <a:r>
                        <a:rPr lang="en-US" sz="700" b="1" dirty="0">
                          <a:solidFill>
                            <a:srgbClr val="000000"/>
                          </a:solidFill>
                          <a:latin typeface="Times New Roman" pitchFamily="34" charset="0"/>
                          <a:ea typeface="Times New Roman" pitchFamily="34" charset="-122"/>
                          <a:cs typeface="Times New Roman" pitchFamily="34" charset="-120"/>
                        </a:rPr>
                        <a:t>GPU</a:t>
                      </a:r>
                      <a:endParaRPr lang="en-US" sz="700" dirty="0">
                        <a:latin typeface="Times New Roman" charset="0"/>
                        <a:ea typeface="Times New Roman" charset="0"/>
                        <a:cs typeface="Times New Roman" charset="0"/>
                      </a:endParaRPr>
                    </a:p>
                  </a:txBody>
                  <a:tcPr marL="41148" marR="41148" marT="13716" marB="13716"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marL="0" indent="0">
                        <a:buNone/>
                      </a:pPr>
                      <a:r>
                        <a:rPr lang="en-US" sz="700" dirty="0">
                          <a:solidFill>
                            <a:srgbClr val="000000"/>
                          </a:solidFill>
                          <a:latin typeface="Times New Roman" pitchFamily="34" charset="0"/>
                          <a:ea typeface="Times New Roman" pitchFamily="34" charset="-122"/>
                          <a:cs typeface="Times New Roman" pitchFamily="34" charset="-120"/>
                        </a:rPr>
                        <a:t>T4 GPU (Colab)*</a:t>
                      </a:r>
                      <a:endParaRPr lang="en-US" sz="700" dirty="0">
                        <a:latin typeface="Times New Roman" charset="0"/>
                        <a:ea typeface="Times New Roman" charset="0"/>
                        <a:cs typeface="Times New Roman" charset="0"/>
                      </a:endParaRPr>
                    </a:p>
                  </a:txBody>
                  <a:tcPr marL="41148" marR="41148" marT="13716" marB="13716"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marL="0" indent="0">
                        <a:buNone/>
                      </a:pPr>
                      <a:r>
                        <a:rPr lang="en-US" sz="700" dirty="0">
                          <a:solidFill>
                            <a:srgbClr val="000000"/>
                          </a:solidFill>
                          <a:latin typeface="Times New Roman" pitchFamily="34" charset="0"/>
                          <a:ea typeface="Times New Roman" pitchFamily="34" charset="-122"/>
                          <a:cs typeface="Times New Roman" pitchFamily="34" charset="-120"/>
                        </a:rPr>
                        <a:t>Model training</a:t>
                      </a:r>
                      <a:endParaRPr lang="en-US" sz="700" dirty="0">
                        <a:latin typeface="Times New Roman" charset="0"/>
                        <a:ea typeface="Times New Roman" charset="0"/>
                        <a:cs typeface="Times New Roman" charset="0"/>
                      </a:endParaRPr>
                    </a:p>
                  </a:txBody>
                  <a:tcPr marL="41148" marR="41148" marT="13716" marB="13716"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5"/>
                  </a:ext>
                </a:extLst>
              </a:tr>
              <a:tr h="171450">
                <a:tc>
                  <a:txBody>
                    <a:bodyPr/>
                    <a:lstStyle/>
                    <a:p>
                      <a:pPr marL="0" indent="0">
                        <a:buNone/>
                      </a:pPr>
                      <a:r>
                        <a:rPr lang="en-US" sz="700" b="1" dirty="0">
                          <a:solidFill>
                            <a:srgbClr val="000000"/>
                          </a:solidFill>
                          <a:latin typeface="Times New Roman" pitchFamily="34" charset="0"/>
                          <a:ea typeface="Times New Roman" pitchFamily="34" charset="-122"/>
                          <a:cs typeface="Times New Roman" pitchFamily="34" charset="-120"/>
                        </a:rPr>
                        <a:t>CPU / RAM</a:t>
                      </a:r>
                      <a:endParaRPr lang="en-US" sz="700" dirty="0">
                        <a:latin typeface="Times New Roman" charset="0"/>
                        <a:ea typeface="Times New Roman" charset="0"/>
                        <a:cs typeface="Times New Roman" charset="0"/>
                      </a:endParaRPr>
                    </a:p>
                  </a:txBody>
                  <a:tcPr marL="41148" marR="41148" marT="13716" marB="13716"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marL="0" indent="0">
                        <a:buNone/>
                      </a:pPr>
                      <a:r>
                        <a:rPr lang="en-US" sz="700" dirty="0">
                          <a:solidFill>
                            <a:srgbClr val="000000"/>
                          </a:solidFill>
                          <a:latin typeface="Times New Roman" pitchFamily="34" charset="0"/>
                          <a:ea typeface="Times New Roman" pitchFamily="34" charset="-122"/>
                          <a:cs typeface="Times New Roman" pitchFamily="34" charset="-120"/>
                        </a:rPr>
                        <a:t>Not specified</a:t>
                      </a:r>
                      <a:endParaRPr lang="en-US" sz="700" dirty="0">
                        <a:latin typeface="Times New Roman" charset="0"/>
                        <a:ea typeface="Times New Roman" charset="0"/>
                        <a:cs typeface="Times New Roman" charset="0"/>
                      </a:endParaRPr>
                    </a:p>
                  </a:txBody>
                  <a:tcPr marL="41148" marR="41148" marT="13716" marB="13716"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marL="0" indent="0">
                        <a:buNone/>
                      </a:pPr>
                      <a:r>
                        <a:rPr lang="en-US" sz="700" dirty="0">
                          <a:solidFill>
                            <a:srgbClr val="000000"/>
                          </a:solidFill>
                          <a:latin typeface="Times New Roman" pitchFamily="34" charset="0"/>
                          <a:ea typeface="Times New Roman" pitchFamily="34" charset="-122"/>
                          <a:cs typeface="Times New Roman" pitchFamily="34" charset="-120"/>
                        </a:rPr>
                        <a:t>—</a:t>
                      </a:r>
                      <a:endParaRPr lang="en-US" sz="700" dirty="0">
                        <a:latin typeface="Times New Roman" charset="0"/>
                        <a:ea typeface="Times New Roman" charset="0"/>
                        <a:cs typeface="Times New Roman" charset="0"/>
                      </a:endParaRPr>
                    </a:p>
                  </a:txBody>
                  <a:tcPr marL="41148" marR="41148" marT="13716" marB="13716"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6"/>
                  </a:ext>
                </a:extLst>
              </a:tr>
              <a:tr h="171450">
                <a:tc>
                  <a:txBody>
                    <a:bodyPr/>
                    <a:lstStyle/>
                    <a:p>
                      <a:pPr marL="0" indent="0">
                        <a:buNone/>
                      </a:pPr>
                      <a:r>
                        <a:rPr lang="en-US" sz="700" b="1" dirty="0">
                          <a:solidFill>
                            <a:srgbClr val="000000"/>
                          </a:solidFill>
                          <a:latin typeface="Times New Roman" pitchFamily="34" charset="0"/>
                          <a:ea typeface="Times New Roman" pitchFamily="34" charset="-122"/>
                          <a:cs typeface="Times New Roman" pitchFamily="34" charset="-120"/>
                        </a:rPr>
                        <a:t>Batch size, optimizer</a:t>
                      </a:r>
                      <a:endParaRPr lang="en-US" sz="700" dirty="0">
                        <a:latin typeface="Times New Roman" charset="0"/>
                        <a:ea typeface="Times New Roman" charset="0"/>
                        <a:cs typeface="Times New Roman" charset="0"/>
                      </a:endParaRPr>
                    </a:p>
                  </a:txBody>
                  <a:tcPr marL="41148" marR="41148" marT="13716" marB="13716"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marL="0" indent="0">
                        <a:buNone/>
                      </a:pPr>
                      <a:r>
                        <a:rPr lang="en-US" sz="700" dirty="0">
                          <a:solidFill>
                            <a:srgbClr val="000000"/>
                          </a:solidFill>
                          <a:latin typeface="Times New Roman" pitchFamily="34" charset="0"/>
                          <a:ea typeface="Times New Roman" pitchFamily="34" charset="-122"/>
                          <a:cs typeface="Times New Roman" pitchFamily="34" charset="-120"/>
                        </a:rPr>
                        <a:t>Not specified</a:t>
                      </a:r>
                      <a:endParaRPr lang="en-US" sz="700" dirty="0">
                        <a:latin typeface="Times New Roman" charset="0"/>
                        <a:ea typeface="Times New Roman" charset="0"/>
                        <a:cs typeface="Times New Roman" charset="0"/>
                      </a:endParaRPr>
                    </a:p>
                  </a:txBody>
                  <a:tcPr marL="41148" marR="41148" marT="13716" marB="13716"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marL="0" indent="0">
                        <a:buNone/>
                      </a:pPr>
                      <a:r>
                        <a:rPr lang="en-US" sz="700" dirty="0">
                          <a:solidFill>
                            <a:srgbClr val="000000"/>
                          </a:solidFill>
                          <a:latin typeface="Times New Roman" pitchFamily="34" charset="0"/>
                          <a:ea typeface="Times New Roman" pitchFamily="34" charset="-122"/>
                          <a:cs typeface="Times New Roman" pitchFamily="34" charset="-120"/>
                        </a:rPr>
                        <a:t>Training settings</a:t>
                      </a:r>
                      <a:endParaRPr lang="en-US" sz="700" dirty="0">
                        <a:latin typeface="Times New Roman" charset="0"/>
                        <a:ea typeface="Times New Roman" charset="0"/>
                        <a:cs typeface="Times New Roman" charset="0"/>
                      </a:endParaRPr>
                    </a:p>
                  </a:txBody>
                  <a:tcPr marL="41148" marR="41148" marT="13716" marB="13716"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7"/>
                  </a:ext>
                </a:extLst>
              </a:tr>
              <a:tr h="171450">
                <a:tc>
                  <a:txBody>
                    <a:bodyPr/>
                    <a:lstStyle/>
                    <a:p>
                      <a:pPr marL="0" indent="0">
                        <a:buNone/>
                      </a:pPr>
                      <a:r>
                        <a:rPr lang="en-US" sz="700" b="1" dirty="0">
                          <a:solidFill>
                            <a:srgbClr val="000000"/>
                          </a:solidFill>
                          <a:latin typeface="Times New Roman" pitchFamily="34" charset="0"/>
                          <a:ea typeface="Times New Roman" pitchFamily="34" charset="-122"/>
                          <a:cs typeface="Times New Roman" pitchFamily="34" charset="-120"/>
                        </a:rPr>
                        <a:t>Learning rate, epochs</a:t>
                      </a:r>
                      <a:endParaRPr lang="en-US" sz="700" dirty="0">
                        <a:latin typeface="Times New Roman" charset="0"/>
                        <a:ea typeface="Times New Roman" charset="0"/>
                        <a:cs typeface="Times New Roman" charset="0"/>
                      </a:endParaRPr>
                    </a:p>
                  </a:txBody>
                  <a:tcPr marL="41148" marR="41148" marT="13716" marB="13716"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marL="0" indent="0">
                        <a:buNone/>
                      </a:pPr>
                      <a:r>
                        <a:rPr lang="en-US" sz="700" dirty="0">
                          <a:solidFill>
                            <a:srgbClr val="000000"/>
                          </a:solidFill>
                          <a:latin typeface="Times New Roman" pitchFamily="34" charset="0"/>
                          <a:ea typeface="Times New Roman" pitchFamily="34" charset="-122"/>
                          <a:cs typeface="Times New Roman" pitchFamily="34" charset="-120"/>
                        </a:rPr>
                        <a:t>Not specified</a:t>
                      </a:r>
                      <a:endParaRPr lang="en-US" sz="700" dirty="0">
                        <a:latin typeface="Times New Roman" charset="0"/>
                        <a:ea typeface="Times New Roman" charset="0"/>
                        <a:cs typeface="Times New Roman" charset="0"/>
                      </a:endParaRPr>
                    </a:p>
                  </a:txBody>
                  <a:tcPr marL="41148" marR="41148" marT="13716" marB="13716"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marL="0" indent="0">
                        <a:buNone/>
                      </a:pPr>
                      <a:r>
                        <a:rPr lang="en-US" sz="700" dirty="0">
                          <a:solidFill>
                            <a:srgbClr val="000000"/>
                          </a:solidFill>
                          <a:latin typeface="Times New Roman" pitchFamily="34" charset="0"/>
                          <a:ea typeface="Times New Roman" pitchFamily="34" charset="-122"/>
                          <a:cs typeface="Times New Roman" pitchFamily="34" charset="-120"/>
                        </a:rPr>
                        <a:t>Training settings</a:t>
                      </a:r>
                      <a:endParaRPr lang="en-US" sz="700" dirty="0">
                        <a:latin typeface="Times New Roman" charset="0"/>
                        <a:ea typeface="Times New Roman" charset="0"/>
                        <a:cs typeface="Times New Roman" charset="0"/>
                      </a:endParaRPr>
                    </a:p>
                  </a:txBody>
                  <a:tcPr marL="41148" marR="41148" marT="13716" marB="13716"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8"/>
                  </a:ext>
                </a:extLst>
              </a:tr>
            </a:tbl>
          </a:graphicData>
        </a:graphic>
      </p:graphicFrame>
      <p:sp>
        <p:nvSpPr>
          <p:cNvPr id="7" name="Text 3"/>
          <p:cNvSpPr txBox="1"/>
          <p:nvPr/>
        </p:nvSpPr>
        <p:spPr>
          <a:xfrm>
            <a:off x="4649724" y="3380994"/>
            <a:ext cx="4149090" cy="137160"/>
          </a:xfrm>
          <a:prstGeom prst="rect">
            <a:avLst/>
          </a:prstGeom>
          <a:noFill/>
          <a:ln/>
        </p:spPr>
        <p:txBody>
          <a:bodyPr wrap="square" lIns="0" tIns="0" rIns="0" bIns="0" rtlCol="0" anchor="ctr"/>
          <a:lstStyle/>
          <a:p>
            <a:r>
              <a:rPr lang="en-US" sz="675" dirty="0">
                <a:solidFill>
                  <a:srgbClr val="333333"/>
                </a:solidFill>
                <a:latin typeface="Times New Roman" pitchFamily="34" charset="0"/>
                <a:ea typeface="Times New Roman" pitchFamily="34" charset="-122"/>
                <a:cs typeface="Times New Roman" pitchFamily="34" charset="-120"/>
              </a:rPr>
              <a:t>* used in at least one training session; not assumed for all experiments</a:t>
            </a:r>
            <a:endParaRPr lang="en-US" sz="675" dirty="0"/>
          </a:p>
        </p:txBody>
      </p:sp>
      <p:sp>
        <p:nvSpPr>
          <p:cNvPr id="8" name="Text 4"/>
          <p:cNvSpPr txBox="1"/>
          <p:nvPr/>
        </p:nvSpPr>
        <p:spPr>
          <a:xfrm>
            <a:off x="342900" y="3737610"/>
            <a:ext cx="4149090" cy="192024"/>
          </a:xfrm>
          <a:prstGeom prst="rect">
            <a:avLst/>
          </a:prstGeom>
          <a:noFill/>
          <a:ln/>
        </p:spPr>
        <p:txBody>
          <a:bodyPr wrap="square" lIns="0" tIns="0" rIns="0" bIns="0" rtlCol="0" anchor="ctr"/>
          <a:lstStyle/>
          <a:p>
            <a:pPr algn="ctr"/>
            <a:r>
              <a:rPr lang="en-US" sz="900" dirty="0">
                <a:solidFill>
                  <a:srgbClr val="000000"/>
                </a:solidFill>
                <a:latin typeface="Times New Roman" pitchFamily="34" charset="0"/>
                <a:ea typeface="Times New Roman" pitchFamily="34" charset="-122"/>
                <a:cs typeface="Times New Roman" pitchFamily="34" charset="-120"/>
              </a:rPr>
              <a:t>Table 3. Evaluation Metrics and Validation Strategy</a:t>
            </a:r>
            <a:endParaRPr lang="en-US" sz="900" dirty="0"/>
          </a:p>
        </p:txBody>
      </p:sp>
      <p:graphicFrame>
        <p:nvGraphicFramePr>
          <p:cNvPr id="16" name="Table 2"/>
          <p:cNvGraphicFramePr>
            <a:graphicFrameLocks noGrp="1"/>
          </p:cNvGraphicFramePr>
          <p:nvPr/>
        </p:nvGraphicFramePr>
        <p:xfrm>
          <a:off x="342900" y="3943350"/>
          <a:ext cx="4149090" cy="1543050"/>
        </p:xfrm>
        <a:graphic>
          <a:graphicData uri="http://schemas.openxmlformats.org/drawingml/2006/table">
            <a:tbl>
              <a:tblPr/>
              <a:tblGrid>
                <a:gridCol w="1577340">
                  <a:extLst>
                    <a:ext uri="{9D8B030D-6E8A-4147-A177-3AD203B41FA5}">
                      <a16:colId xmlns:a16="http://schemas.microsoft.com/office/drawing/2014/main" val="20000"/>
                    </a:ext>
                  </a:extLst>
                </a:gridCol>
                <a:gridCol w="2571750">
                  <a:extLst>
                    <a:ext uri="{9D8B030D-6E8A-4147-A177-3AD203B41FA5}">
                      <a16:colId xmlns:a16="http://schemas.microsoft.com/office/drawing/2014/main" val="20001"/>
                    </a:ext>
                  </a:extLst>
                </a:gridCol>
              </a:tblGrid>
              <a:tr h="171450">
                <a:tc>
                  <a:txBody>
                    <a:bodyPr/>
                    <a:lstStyle/>
                    <a:p>
                      <a:pPr marL="0" indent="0" algn="ctr">
                        <a:buNone/>
                      </a:pPr>
                      <a:r>
                        <a:rPr lang="en-US" sz="800" b="1" dirty="0">
                          <a:solidFill>
                            <a:srgbClr val="1A1A1A"/>
                          </a:solidFill>
                          <a:latin typeface="Times New Roman" pitchFamily="34" charset="0"/>
                          <a:ea typeface="Times New Roman" pitchFamily="34" charset="-122"/>
                          <a:cs typeface="Times New Roman" pitchFamily="34" charset="-120"/>
                        </a:rPr>
                        <a:t>Metric / method</a:t>
                      </a:r>
                      <a:endParaRPr lang="en-US" sz="800" dirty="0">
                        <a:latin typeface="Times New Roman" charset="0"/>
                        <a:ea typeface="Times New Roman" charset="0"/>
                        <a:cs typeface="Times New Roman" charset="0"/>
                      </a:endParaRPr>
                    </a:p>
                  </a:txBody>
                  <a:tcPr marL="34290" marR="34290" marT="13716" marB="13716"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D9E2F3"/>
                    </a:solidFill>
                  </a:tcPr>
                </a:tc>
                <a:tc>
                  <a:txBody>
                    <a:bodyPr/>
                    <a:lstStyle/>
                    <a:p>
                      <a:pPr marL="0" indent="0" algn="ctr">
                        <a:buNone/>
                      </a:pPr>
                      <a:r>
                        <a:rPr lang="en-US" sz="800" b="1" dirty="0">
                          <a:solidFill>
                            <a:srgbClr val="1A1A1A"/>
                          </a:solidFill>
                          <a:latin typeface="Times New Roman" pitchFamily="34" charset="0"/>
                          <a:ea typeface="Times New Roman" pitchFamily="34" charset="-122"/>
                          <a:cs typeface="Times New Roman" pitchFamily="34" charset="-120"/>
                        </a:rPr>
                        <a:t>Purpose</a:t>
                      </a:r>
                      <a:endParaRPr lang="en-US" sz="800" dirty="0">
                        <a:latin typeface="Times New Roman" charset="0"/>
                        <a:ea typeface="Times New Roman" charset="0"/>
                        <a:cs typeface="Times New Roman" charset="0"/>
                      </a:endParaRPr>
                    </a:p>
                  </a:txBody>
                  <a:tcPr marL="34290" marR="34290" marT="13716" marB="13716"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D9E2F3"/>
                    </a:solidFill>
                  </a:tcPr>
                </a:tc>
                <a:extLst>
                  <a:ext uri="{0D108BD9-81ED-4DB2-BD59-A6C34878D82A}">
                    <a16:rowId xmlns:a16="http://schemas.microsoft.com/office/drawing/2014/main" val="10000"/>
                  </a:ext>
                </a:extLst>
              </a:tr>
              <a:tr h="171450">
                <a:tc>
                  <a:txBody>
                    <a:bodyPr/>
                    <a:lstStyle/>
                    <a:p>
                      <a:pPr marL="0" indent="0">
                        <a:buNone/>
                      </a:pPr>
                      <a:r>
                        <a:rPr lang="en-US" sz="700" b="1" dirty="0">
                          <a:solidFill>
                            <a:srgbClr val="000000"/>
                          </a:solidFill>
                          <a:latin typeface="Times New Roman" pitchFamily="34" charset="0"/>
                          <a:ea typeface="Times New Roman" pitchFamily="34" charset="-122"/>
                          <a:cs typeface="Times New Roman" pitchFamily="34" charset="-120"/>
                        </a:rPr>
                        <a:t>Accuracy</a:t>
                      </a:r>
                      <a:endParaRPr lang="en-US" sz="700" dirty="0">
                        <a:latin typeface="Times New Roman" charset="0"/>
                        <a:ea typeface="Times New Roman" charset="0"/>
                        <a:cs typeface="Times New Roman" charset="0"/>
                      </a:endParaRPr>
                    </a:p>
                  </a:txBody>
                  <a:tcPr marL="41148" marR="41148" marT="13716" marB="13716"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marL="0" indent="0">
                        <a:buNone/>
                      </a:pPr>
                      <a:r>
                        <a:rPr lang="en-US" sz="700" dirty="0">
                          <a:solidFill>
                            <a:srgbClr val="000000"/>
                          </a:solidFill>
                          <a:latin typeface="Times New Roman" pitchFamily="34" charset="0"/>
                          <a:ea typeface="Times New Roman" pitchFamily="34" charset="-122"/>
                          <a:cs typeface="Times New Roman" pitchFamily="34" charset="-120"/>
                        </a:rPr>
                        <a:t>Overall correct-classification rate</a:t>
                      </a:r>
                      <a:endParaRPr lang="en-US" sz="700" dirty="0">
                        <a:latin typeface="Times New Roman" charset="0"/>
                        <a:ea typeface="Times New Roman" charset="0"/>
                        <a:cs typeface="Times New Roman" charset="0"/>
                      </a:endParaRPr>
                    </a:p>
                  </a:txBody>
                  <a:tcPr marL="41148" marR="41148" marT="13716" marB="13716"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1"/>
                  </a:ext>
                </a:extLst>
              </a:tr>
              <a:tr h="171450">
                <a:tc>
                  <a:txBody>
                    <a:bodyPr/>
                    <a:lstStyle/>
                    <a:p>
                      <a:pPr marL="0" indent="0">
                        <a:buNone/>
                      </a:pPr>
                      <a:r>
                        <a:rPr lang="en-US" sz="700" b="1" dirty="0">
                          <a:solidFill>
                            <a:srgbClr val="000000"/>
                          </a:solidFill>
                          <a:latin typeface="Times New Roman" pitchFamily="34" charset="0"/>
                          <a:ea typeface="Times New Roman" pitchFamily="34" charset="-122"/>
                          <a:cs typeface="Times New Roman" pitchFamily="34" charset="-120"/>
                        </a:rPr>
                        <a:t>Precision, Recall, F1-score</a:t>
                      </a:r>
                      <a:endParaRPr lang="en-US" sz="700" dirty="0">
                        <a:latin typeface="Times New Roman" charset="0"/>
                        <a:ea typeface="Times New Roman" charset="0"/>
                        <a:cs typeface="Times New Roman" charset="0"/>
                      </a:endParaRPr>
                    </a:p>
                  </a:txBody>
                  <a:tcPr marL="41148" marR="41148" marT="13716" marB="13716"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marL="0" indent="0">
                        <a:buNone/>
                      </a:pPr>
                      <a:r>
                        <a:rPr lang="en-US" sz="700" dirty="0">
                          <a:solidFill>
                            <a:srgbClr val="000000"/>
                          </a:solidFill>
                          <a:latin typeface="Times New Roman" pitchFamily="34" charset="0"/>
                          <a:ea typeface="Times New Roman" pitchFamily="34" charset="-122"/>
                          <a:cs typeface="Times New Roman" pitchFamily="34" charset="-120"/>
                        </a:rPr>
                        <a:t>Per-class classification quality</a:t>
                      </a:r>
                      <a:endParaRPr lang="en-US" sz="700" dirty="0">
                        <a:latin typeface="Times New Roman" charset="0"/>
                        <a:ea typeface="Times New Roman" charset="0"/>
                        <a:cs typeface="Times New Roman" charset="0"/>
                      </a:endParaRPr>
                    </a:p>
                  </a:txBody>
                  <a:tcPr marL="41148" marR="41148" marT="13716" marB="13716"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2"/>
                  </a:ext>
                </a:extLst>
              </a:tr>
              <a:tr h="171450">
                <a:tc>
                  <a:txBody>
                    <a:bodyPr/>
                    <a:lstStyle/>
                    <a:p>
                      <a:pPr marL="0" indent="0">
                        <a:buNone/>
                      </a:pPr>
                      <a:r>
                        <a:rPr lang="en-US" sz="700" b="1" dirty="0">
                          <a:solidFill>
                            <a:srgbClr val="000000"/>
                          </a:solidFill>
                          <a:latin typeface="Times New Roman" pitchFamily="34" charset="0"/>
                          <a:ea typeface="Times New Roman" pitchFamily="34" charset="-122"/>
                          <a:cs typeface="Times New Roman" pitchFamily="34" charset="-120"/>
                        </a:rPr>
                        <a:t>Confusion matrix</a:t>
                      </a:r>
                      <a:endParaRPr lang="en-US" sz="700" dirty="0">
                        <a:latin typeface="Times New Roman" charset="0"/>
                        <a:ea typeface="Times New Roman" charset="0"/>
                        <a:cs typeface="Times New Roman" charset="0"/>
                      </a:endParaRPr>
                    </a:p>
                  </a:txBody>
                  <a:tcPr marL="41148" marR="41148" marT="13716" marB="13716"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marL="0" indent="0">
                        <a:buNone/>
                      </a:pPr>
                      <a:r>
                        <a:rPr lang="en-US" sz="700" dirty="0">
                          <a:solidFill>
                            <a:srgbClr val="000000"/>
                          </a:solidFill>
                          <a:latin typeface="Times New Roman" pitchFamily="34" charset="0"/>
                          <a:ea typeface="Times New Roman" pitchFamily="34" charset="-122"/>
                          <a:cs typeface="Times New Roman" pitchFamily="34" charset="-120"/>
                        </a:rPr>
                        <a:t>Class-wise error analysis</a:t>
                      </a:r>
                      <a:endParaRPr lang="en-US" sz="700" dirty="0">
                        <a:latin typeface="Times New Roman" charset="0"/>
                        <a:ea typeface="Times New Roman" charset="0"/>
                        <a:cs typeface="Times New Roman" charset="0"/>
                      </a:endParaRPr>
                    </a:p>
                  </a:txBody>
                  <a:tcPr marL="41148" marR="41148" marT="13716" marB="13716"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3"/>
                  </a:ext>
                </a:extLst>
              </a:tr>
              <a:tr h="171450">
                <a:tc>
                  <a:txBody>
                    <a:bodyPr/>
                    <a:lstStyle/>
                    <a:p>
                      <a:pPr marL="0" indent="0">
                        <a:buNone/>
                      </a:pPr>
                      <a:r>
                        <a:rPr lang="en-US" sz="700" b="1" dirty="0">
                          <a:solidFill>
                            <a:srgbClr val="000000"/>
                          </a:solidFill>
                          <a:latin typeface="Times New Roman" pitchFamily="34" charset="0"/>
                          <a:ea typeface="Times New Roman" pitchFamily="34" charset="-122"/>
                          <a:cs typeface="Times New Roman" pitchFamily="34" charset="-120"/>
                        </a:rPr>
                        <a:t>Model agreement</a:t>
                      </a:r>
                      <a:endParaRPr lang="en-US" sz="700" dirty="0">
                        <a:latin typeface="Times New Roman" charset="0"/>
                        <a:ea typeface="Times New Roman" charset="0"/>
                        <a:cs typeface="Times New Roman" charset="0"/>
                      </a:endParaRPr>
                    </a:p>
                  </a:txBody>
                  <a:tcPr marL="41148" marR="41148" marT="13716" marB="13716"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marL="0" indent="0">
                        <a:buNone/>
                      </a:pPr>
                      <a:r>
                        <a:rPr lang="en-US" sz="700" dirty="0">
                          <a:solidFill>
                            <a:srgbClr val="000000"/>
                          </a:solidFill>
                          <a:latin typeface="Times New Roman" pitchFamily="34" charset="0"/>
                          <a:ea typeface="Times New Roman" pitchFamily="34" charset="-122"/>
                          <a:cs typeface="Times New Roman" pitchFamily="34" charset="-120"/>
                        </a:rPr>
                        <a:t>Consistency among selected models</a:t>
                      </a:r>
                      <a:endParaRPr lang="en-US" sz="700" dirty="0">
                        <a:latin typeface="Times New Roman" charset="0"/>
                        <a:ea typeface="Times New Roman" charset="0"/>
                        <a:cs typeface="Times New Roman" charset="0"/>
                      </a:endParaRPr>
                    </a:p>
                  </a:txBody>
                  <a:tcPr marL="41148" marR="41148" marT="13716" marB="13716"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4"/>
                  </a:ext>
                </a:extLst>
              </a:tr>
              <a:tr h="171450">
                <a:tc>
                  <a:txBody>
                    <a:bodyPr/>
                    <a:lstStyle/>
                    <a:p>
                      <a:pPr marL="0" indent="0">
                        <a:buNone/>
                      </a:pPr>
                      <a:r>
                        <a:rPr lang="en-US" sz="700" b="1" dirty="0">
                          <a:solidFill>
                            <a:srgbClr val="000000"/>
                          </a:solidFill>
                          <a:latin typeface="Times New Roman" pitchFamily="34" charset="0"/>
                          <a:ea typeface="Times New Roman" pitchFamily="34" charset="-122"/>
                          <a:cs typeface="Times New Roman" pitchFamily="34" charset="-120"/>
                        </a:rPr>
                        <a:t>Abstention measures (proposed)</a:t>
                      </a:r>
                      <a:endParaRPr lang="en-US" sz="700" dirty="0">
                        <a:latin typeface="Times New Roman" charset="0"/>
                        <a:ea typeface="Times New Roman" charset="0"/>
                        <a:cs typeface="Times New Roman" charset="0"/>
                      </a:endParaRPr>
                    </a:p>
                  </a:txBody>
                  <a:tcPr marL="41148" marR="41148" marT="13716" marB="13716"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marL="0" indent="0">
                        <a:buNone/>
                      </a:pPr>
                      <a:r>
                        <a:rPr lang="en-US" sz="700" dirty="0">
                          <a:solidFill>
                            <a:srgbClr val="000000"/>
                          </a:solidFill>
                          <a:latin typeface="Times New Roman" pitchFamily="34" charset="0"/>
                          <a:ea typeface="Times New Roman" pitchFamily="34" charset="-122"/>
                          <a:cs typeface="Times New Roman" pitchFamily="34" charset="-120"/>
                        </a:rPr>
                        <a:t>Reliability-aware selective prediction</a:t>
                      </a:r>
                      <a:endParaRPr lang="en-US" sz="700" dirty="0">
                        <a:latin typeface="Times New Roman" charset="0"/>
                        <a:ea typeface="Times New Roman" charset="0"/>
                        <a:cs typeface="Times New Roman" charset="0"/>
                      </a:endParaRPr>
                    </a:p>
                  </a:txBody>
                  <a:tcPr marL="41148" marR="41148" marT="13716" marB="13716"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5"/>
                  </a:ext>
                </a:extLst>
              </a:tr>
              <a:tr h="171450">
                <a:tc>
                  <a:txBody>
                    <a:bodyPr/>
                    <a:lstStyle/>
                    <a:p>
                      <a:pPr marL="0" indent="0">
                        <a:buNone/>
                      </a:pPr>
                      <a:r>
                        <a:rPr lang="en-US" sz="700" b="1" dirty="0">
                          <a:solidFill>
                            <a:srgbClr val="000000"/>
                          </a:solidFill>
                          <a:latin typeface="Times New Roman" pitchFamily="34" charset="0"/>
                          <a:ea typeface="Times New Roman" pitchFamily="34" charset="-122"/>
                          <a:cs typeface="Times New Roman" pitchFamily="34" charset="-120"/>
                        </a:rPr>
                        <a:t>Training split</a:t>
                      </a:r>
                      <a:endParaRPr lang="en-US" sz="700" dirty="0">
                        <a:latin typeface="Times New Roman" charset="0"/>
                        <a:ea typeface="Times New Roman" charset="0"/>
                        <a:cs typeface="Times New Roman" charset="0"/>
                      </a:endParaRPr>
                    </a:p>
                  </a:txBody>
                  <a:tcPr marL="41148" marR="41148" marT="13716" marB="13716"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marL="0" indent="0">
                        <a:buNone/>
                      </a:pPr>
                      <a:r>
                        <a:rPr lang="en-US" sz="700" dirty="0">
                          <a:solidFill>
                            <a:srgbClr val="000000"/>
                          </a:solidFill>
                          <a:latin typeface="Times New Roman" pitchFamily="34" charset="0"/>
                          <a:ea typeface="Times New Roman" pitchFamily="34" charset="-122"/>
                          <a:cs typeface="Times New Roman" pitchFamily="34" charset="-120"/>
                        </a:rPr>
                        <a:t>Update model parameters</a:t>
                      </a:r>
                      <a:endParaRPr lang="en-US" sz="700" dirty="0">
                        <a:latin typeface="Times New Roman" charset="0"/>
                        <a:ea typeface="Times New Roman" charset="0"/>
                        <a:cs typeface="Times New Roman" charset="0"/>
                      </a:endParaRPr>
                    </a:p>
                  </a:txBody>
                  <a:tcPr marL="41148" marR="41148" marT="13716" marB="13716"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6"/>
                  </a:ext>
                </a:extLst>
              </a:tr>
              <a:tr h="171450">
                <a:tc>
                  <a:txBody>
                    <a:bodyPr/>
                    <a:lstStyle/>
                    <a:p>
                      <a:pPr marL="0" indent="0">
                        <a:buNone/>
                      </a:pPr>
                      <a:r>
                        <a:rPr lang="en-US" sz="700" b="1" dirty="0">
                          <a:solidFill>
                            <a:srgbClr val="000000"/>
                          </a:solidFill>
                          <a:latin typeface="Times New Roman" pitchFamily="34" charset="0"/>
                          <a:ea typeface="Times New Roman" pitchFamily="34" charset="-122"/>
                          <a:cs typeface="Times New Roman" pitchFamily="34" charset="-120"/>
                        </a:rPr>
                        <a:t>Validation split</a:t>
                      </a:r>
                      <a:endParaRPr lang="en-US" sz="700" dirty="0">
                        <a:latin typeface="Times New Roman" charset="0"/>
                        <a:ea typeface="Times New Roman" charset="0"/>
                        <a:cs typeface="Times New Roman" charset="0"/>
                      </a:endParaRPr>
                    </a:p>
                  </a:txBody>
                  <a:tcPr marL="41148" marR="41148" marT="13716" marB="13716"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marL="0" indent="0">
                        <a:buNone/>
                      </a:pPr>
                      <a:r>
                        <a:rPr lang="en-US" sz="700" dirty="0">
                          <a:solidFill>
                            <a:srgbClr val="000000"/>
                          </a:solidFill>
                          <a:latin typeface="Times New Roman" pitchFamily="34" charset="0"/>
                          <a:ea typeface="Times New Roman" pitchFamily="34" charset="-122"/>
                          <a:cs typeface="Times New Roman" pitchFamily="34" charset="-120"/>
                        </a:rPr>
                        <a:t>Model selection and tuning</a:t>
                      </a:r>
                      <a:endParaRPr lang="en-US" sz="700" dirty="0">
                        <a:latin typeface="Times New Roman" charset="0"/>
                        <a:ea typeface="Times New Roman" charset="0"/>
                        <a:cs typeface="Times New Roman" charset="0"/>
                      </a:endParaRPr>
                    </a:p>
                  </a:txBody>
                  <a:tcPr marL="41148" marR="41148" marT="13716" marB="13716"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7"/>
                  </a:ext>
                </a:extLst>
              </a:tr>
              <a:tr h="171450">
                <a:tc>
                  <a:txBody>
                    <a:bodyPr/>
                    <a:lstStyle/>
                    <a:p>
                      <a:pPr marL="0" indent="0">
                        <a:buNone/>
                      </a:pPr>
                      <a:r>
                        <a:rPr lang="en-US" sz="700" b="1" dirty="0">
                          <a:solidFill>
                            <a:srgbClr val="000000"/>
                          </a:solidFill>
                          <a:latin typeface="Times New Roman" pitchFamily="34" charset="0"/>
                          <a:ea typeface="Times New Roman" pitchFamily="34" charset="-122"/>
                          <a:cs typeface="Times New Roman" pitchFamily="34" charset="-120"/>
                        </a:rPr>
                        <a:t>Test split</a:t>
                      </a:r>
                      <a:endParaRPr lang="en-US" sz="700" dirty="0">
                        <a:latin typeface="Times New Roman" charset="0"/>
                        <a:ea typeface="Times New Roman" charset="0"/>
                        <a:cs typeface="Times New Roman" charset="0"/>
                      </a:endParaRPr>
                    </a:p>
                  </a:txBody>
                  <a:tcPr marL="41148" marR="41148" marT="13716" marB="13716"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marL="0" indent="0">
                        <a:buNone/>
                      </a:pPr>
                      <a:r>
                        <a:rPr lang="en-US" sz="700" dirty="0">
                          <a:solidFill>
                            <a:srgbClr val="000000"/>
                          </a:solidFill>
                          <a:latin typeface="Times New Roman" pitchFamily="34" charset="0"/>
                          <a:ea typeface="Times New Roman" pitchFamily="34" charset="-122"/>
                          <a:cs typeface="Times New Roman" pitchFamily="34" charset="-120"/>
                        </a:rPr>
                        <a:t>Final evaluation only</a:t>
                      </a:r>
                      <a:endParaRPr lang="en-US" sz="700" dirty="0">
                        <a:latin typeface="Times New Roman" charset="0"/>
                        <a:ea typeface="Times New Roman" charset="0"/>
                        <a:cs typeface="Times New Roman" charset="0"/>
                      </a:endParaRPr>
                    </a:p>
                  </a:txBody>
                  <a:tcPr marL="41148" marR="41148" marT="13716" marB="13716"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8"/>
                  </a:ext>
                </a:extLst>
              </a:tr>
            </a:tbl>
          </a:graphicData>
        </a:graphic>
      </p:graphicFrame>
      <p:sp>
        <p:nvSpPr>
          <p:cNvPr id="10" name="Text 5"/>
          <p:cNvSpPr txBox="1"/>
          <p:nvPr/>
        </p:nvSpPr>
        <p:spPr>
          <a:xfrm>
            <a:off x="4649724" y="3737610"/>
            <a:ext cx="4149090" cy="192024"/>
          </a:xfrm>
          <a:prstGeom prst="rect">
            <a:avLst/>
          </a:prstGeom>
          <a:noFill/>
          <a:ln/>
        </p:spPr>
        <p:txBody>
          <a:bodyPr wrap="square" lIns="0" tIns="0" rIns="0" bIns="0" rtlCol="0" anchor="ctr"/>
          <a:lstStyle/>
          <a:p>
            <a:pPr algn="ctr"/>
            <a:r>
              <a:rPr lang="en-US" sz="900" dirty="0">
                <a:solidFill>
                  <a:srgbClr val="000000"/>
                </a:solidFill>
                <a:latin typeface="Times New Roman" pitchFamily="34" charset="0"/>
                <a:ea typeface="Times New Roman" pitchFamily="34" charset="-122"/>
                <a:cs typeface="Times New Roman" pitchFamily="34" charset="-120"/>
              </a:rPr>
              <a:t>Table 4. Comparative Models</a:t>
            </a:r>
            <a:endParaRPr lang="en-US" sz="900" dirty="0"/>
          </a:p>
        </p:txBody>
      </p:sp>
      <p:graphicFrame>
        <p:nvGraphicFramePr>
          <p:cNvPr id="21" name="Table 3"/>
          <p:cNvGraphicFramePr>
            <a:graphicFrameLocks noGrp="1"/>
          </p:cNvGraphicFramePr>
          <p:nvPr/>
        </p:nvGraphicFramePr>
        <p:xfrm>
          <a:off x="4649724" y="3943350"/>
          <a:ext cx="4149090" cy="1028700"/>
        </p:xfrm>
        <a:graphic>
          <a:graphicData uri="http://schemas.openxmlformats.org/drawingml/2006/table">
            <a:tbl>
              <a:tblPr/>
              <a:tblGrid>
                <a:gridCol w="1371600">
                  <a:extLst>
                    <a:ext uri="{9D8B030D-6E8A-4147-A177-3AD203B41FA5}">
                      <a16:colId xmlns:a16="http://schemas.microsoft.com/office/drawing/2014/main" val="20000"/>
                    </a:ext>
                  </a:extLst>
                </a:gridCol>
                <a:gridCol w="1405890">
                  <a:extLst>
                    <a:ext uri="{9D8B030D-6E8A-4147-A177-3AD203B41FA5}">
                      <a16:colId xmlns:a16="http://schemas.microsoft.com/office/drawing/2014/main" val="20001"/>
                    </a:ext>
                  </a:extLst>
                </a:gridCol>
                <a:gridCol w="1371600">
                  <a:extLst>
                    <a:ext uri="{9D8B030D-6E8A-4147-A177-3AD203B41FA5}">
                      <a16:colId xmlns:a16="http://schemas.microsoft.com/office/drawing/2014/main" val="20002"/>
                    </a:ext>
                  </a:extLst>
                </a:gridCol>
              </a:tblGrid>
              <a:tr h="171450">
                <a:tc>
                  <a:txBody>
                    <a:bodyPr/>
                    <a:lstStyle/>
                    <a:p>
                      <a:pPr marL="0" indent="0" algn="ctr">
                        <a:buNone/>
                      </a:pPr>
                      <a:r>
                        <a:rPr lang="en-US" sz="800" b="1" dirty="0">
                          <a:solidFill>
                            <a:srgbClr val="1A1A1A"/>
                          </a:solidFill>
                          <a:latin typeface="Times New Roman" pitchFamily="34" charset="0"/>
                          <a:ea typeface="Times New Roman" pitchFamily="34" charset="-122"/>
                          <a:cs typeface="Times New Roman" pitchFamily="34" charset="-120"/>
                        </a:rPr>
                        <a:t>Model</a:t>
                      </a:r>
                      <a:endParaRPr lang="en-US" sz="800" dirty="0">
                        <a:latin typeface="Times New Roman" charset="0"/>
                        <a:ea typeface="Times New Roman" charset="0"/>
                        <a:cs typeface="Times New Roman" charset="0"/>
                      </a:endParaRPr>
                    </a:p>
                  </a:txBody>
                  <a:tcPr marL="34290" marR="34290" marT="13716" marB="13716"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D9E2F3"/>
                    </a:solidFill>
                  </a:tcPr>
                </a:tc>
                <a:tc>
                  <a:txBody>
                    <a:bodyPr/>
                    <a:lstStyle/>
                    <a:p>
                      <a:pPr marL="0" indent="0" algn="ctr">
                        <a:buNone/>
                      </a:pPr>
                      <a:r>
                        <a:rPr lang="en-US" sz="800" b="1" dirty="0">
                          <a:solidFill>
                            <a:srgbClr val="1A1A1A"/>
                          </a:solidFill>
                          <a:latin typeface="Times New Roman" pitchFamily="34" charset="0"/>
                          <a:ea typeface="Times New Roman" pitchFamily="34" charset="-122"/>
                          <a:cs typeface="Times New Roman" pitchFamily="34" charset="-120"/>
                        </a:rPr>
                        <a:t>Role</a:t>
                      </a:r>
                      <a:endParaRPr lang="en-US" sz="800" dirty="0">
                        <a:latin typeface="Times New Roman" charset="0"/>
                        <a:ea typeface="Times New Roman" charset="0"/>
                        <a:cs typeface="Times New Roman" charset="0"/>
                      </a:endParaRPr>
                    </a:p>
                  </a:txBody>
                  <a:tcPr marL="34290" marR="34290" marT="13716" marB="13716"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D9E2F3"/>
                    </a:solidFill>
                  </a:tcPr>
                </a:tc>
                <a:tc>
                  <a:txBody>
                    <a:bodyPr/>
                    <a:lstStyle/>
                    <a:p>
                      <a:pPr marL="0" indent="0" algn="ctr">
                        <a:buNone/>
                      </a:pPr>
                      <a:r>
                        <a:rPr lang="en-US" sz="800" b="1" dirty="0">
                          <a:solidFill>
                            <a:srgbClr val="1A1A1A"/>
                          </a:solidFill>
                          <a:latin typeface="Times New Roman" pitchFamily="34" charset="0"/>
                          <a:ea typeface="Times New Roman" pitchFamily="34" charset="-122"/>
                          <a:cs typeface="Times New Roman" pitchFamily="34" charset="-120"/>
                        </a:rPr>
                        <a:t>Status</a:t>
                      </a:r>
                      <a:endParaRPr lang="en-US" sz="800" dirty="0">
                        <a:latin typeface="Times New Roman" charset="0"/>
                        <a:ea typeface="Times New Roman" charset="0"/>
                        <a:cs typeface="Times New Roman" charset="0"/>
                      </a:endParaRPr>
                    </a:p>
                  </a:txBody>
                  <a:tcPr marL="34290" marR="34290" marT="13716" marB="13716"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D9E2F3"/>
                    </a:solidFill>
                  </a:tcPr>
                </a:tc>
                <a:extLst>
                  <a:ext uri="{0D108BD9-81ED-4DB2-BD59-A6C34878D82A}">
                    <a16:rowId xmlns:a16="http://schemas.microsoft.com/office/drawing/2014/main" val="10000"/>
                  </a:ext>
                </a:extLst>
              </a:tr>
              <a:tr h="171450">
                <a:tc>
                  <a:txBody>
                    <a:bodyPr/>
                    <a:lstStyle/>
                    <a:p>
                      <a:pPr marL="0" indent="0">
                        <a:buNone/>
                      </a:pPr>
                      <a:r>
                        <a:rPr lang="en-US" sz="700" b="1" dirty="0">
                          <a:solidFill>
                            <a:srgbClr val="000000"/>
                          </a:solidFill>
                          <a:latin typeface="Times New Roman" pitchFamily="34" charset="0"/>
                          <a:ea typeface="Times New Roman" pitchFamily="34" charset="-122"/>
                          <a:cs typeface="Times New Roman" pitchFamily="34" charset="-120"/>
                        </a:rPr>
                        <a:t>ConvNeXt</a:t>
                      </a:r>
                      <a:endParaRPr lang="en-US" sz="700" dirty="0">
                        <a:latin typeface="Times New Roman" charset="0"/>
                        <a:ea typeface="Times New Roman" charset="0"/>
                        <a:cs typeface="Times New Roman" charset="0"/>
                      </a:endParaRPr>
                    </a:p>
                  </a:txBody>
                  <a:tcPr marL="41148" marR="41148" marT="13716" marB="13716"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marL="0" indent="0">
                        <a:buNone/>
                      </a:pPr>
                      <a:r>
                        <a:rPr lang="en-US" sz="700" dirty="0">
                          <a:solidFill>
                            <a:srgbClr val="000000"/>
                          </a:solidFill>
                          <a:latin typeface="Times New Roman" pitchFamily="34" charset="0"/>
                          <a:ea typeface="Times New Roman" pitchFamily="34" charset="-122"/>
                          <a:cs typeface="Times New Roman" pitchFamily="34" charset="-120"/>
                        </a:rPr>
                        <a:t>Comparative architecture</a:t>
                      </a:r>
                      <a:endParaRPr lang="en-US" sz="700" dirty="0">
                        <a:latin typeface="Times New Roman" charset="0"/>
                        <a:ea typeface="Times New Roman" charset="0"/>
                        <a:cs typeface="Times New Roman" charset="0"/>
                      </a:endParaRPr>
                    </a:p>
                  </a:txBody>
                  <a:tcPr marL="41148" marR="41148" marT="13716" marB="13716"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marL="0" indent="0">
                        <a:buNone/>
                      </a:pPr>
                      <a:r>
                        <a:rPr lang="en-US" sz="700" dirty="0">
                          <a:solidFill>
                            <a:srgbClr val="000000"/>
                          </a:solidFill>
                          <a:latin typeface="Times New Roman" pitchFamily="34" charset="0"/>
                          <a:ea typeface="Times New Roman" pitchFamily="34" charset="-122"/>
                          <a:cs typeface="Times New Roman" pitchFamily="34" charset="-120"/>
                        </a:rPr>
                        <a:t>Candidate</a:t>
                      </a:r>
                      <a:endParaRPr lang="en-US" sz="700" dirty="0">
                        <a:latin typeface="Times New Roman" charset="0"/>
                        <a:ea typeface="Times New Roman" charset="0"/>
                        <a:cs typeface="Times New Roman" charset="0"/>
                      </a:endParaRPr>
                    </a:p>
                  </a:txBody>
                  <a:tcPr marL="41148" marR="41148" marT="13716" marB="13716"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1"/>
                  </a:ext>
                </a:extLst>
              </a:tr>
              <a:tr h="171450">
                <a:tc>
                  <a:txBody>
                    <a:bodyPr/>
                    <a:lstStyle/>
                    <a:p>
                      <a:pPr marL="0" indent="0">
                        <a:buNone/>
                      </a:pPr>
                      <a:r>
                        <a:rPr lang="en-US" sz="700" b="1" dirty="0">
                          <a:solidFill>
                            <a:srgbClr val="000000"/>
                          </a:solidFill>
                          <a:latin typeface="Times New Roman" pitchFamily="34" charset="0"/>
                          <a:ea typeface="Times New Roman" pitchFamily="34" charset="-122"/>
                          <a:cs typeface="Times New Roman" pitchFamily="34" charset="-120"/>
                        </a:rPr>
                        <a:t>EfficientNet</a:t>
                      </a:r>
                      <a:endParaRPr lang="en-US" sz="700" dirty="0">
                        <a:latin typeface="Times New Roman" charset="0"/>
                        <a:ea typeface="Times New Roman" charset="0"/>
                        <a:cs typeface="Times New Roman" charset="0"/>
                      </a:endParaRPr>
                    </a:p>
                  </a:txBody>
                  <a:tcPr marL="41148" marR="41148" marT="13716" marB="13716"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marL="0" indent="0">
                        <a:buNone/>
                      </a:pPr>
                      <a:r>
                        <a:rPr lang="en-US" sz="700" dirty="0">
                          <a:solidFill>
                            <a:srgbClr val="000000"/>
                          </a:solidFill>
                          <a:latin typeface="Times New Roman" pitchFamily="34" charset="0"/>
                          <a:ea typeface="Times New Roman" pitchFamily="34" charset="-122"/>
                          <a:cs typeface="Times New Roman" pitchFamily="34" charset="-120"/>
                        </a:rPr>
                        <a:t>Comparative architecture</a:t>
                      </a:r>
                      <a:endParaRPr lang="en-US" sz="700" dirty="0">
                        <a:latin typeface="Times New Roman" charset="0"/>
                        <a:ea typeface="Times New Roman" charset="0"/>
                        <a:cs typeface="Times New Roman" charset="0"/>
                      </a:endParaRPr>
                    </a:p>
                  </a:txBody>
                  <a:tcPr marL="41148" marR="41148" marT="13716" marB="13716"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marL="0" indent="0">
                        <a:buNone/>
                      </a:pPr>
                      <a:r>
                        <a:rPr lang="en-US" sz="700" dirty="0">
                          <a:solidFill>
                            <a:srgbClr val="000000"/>
                          </a:solidFill>
                          <a:latin typeface="Times New Roman" pitchFamily="34" charset="0"/>
                          <a:ea typeface="Times New Roman" pitchFamily="34" charset="-122"/>
                          <a:cs typeface="Times New Roman" pitchFamily="34" charset="-120"/>
                        </a:rPr>
                        <a:t>Candidate</a:t>
                      </a:r>
                      <a:endParaRPr lang="en-US" sz="700" dirty="0">
                        <a:latin typeface="Times New Roman" charset="0"/>
                        <a:ea typeface="Times New Roman" charset="0"/>
                        <a:cs typeface="Times New Roman" charset="0"/>
                      </a:endParaRPr>
                    </a:p>
                  </a:txBody>
                  <a:tcPr marL="41148" marR="41148" marT="13716" marB="13716"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2"/>
                  </a:ext>
                </a:extLst>
              </a:tr>
              <a:tr h="171450">
                <a:tc>
                  <a:txBody>
                    <a:bodyPr/>
                    <a:lstStyle/>
                    <a:p>
                      <a:pPr marL="0" indent="0">
                        <a:buNone/>
                      </a:pPr>
                      <a:r>
                        <a:rPr lang="en-US" sz="700" b="1" dirty="0">
                          <a:solidFill>
                            <a:srgbClr val="000000"/>
                          </a:solidFill>
                          <a:latin typeface="Times New Roman" pitchFamily="34" charset="0"/>
                          <a:ea typeface="Times New Roman" pitchFamily="34" charset="-122"/>
                          <a:cs typeface="Times New Roman" pitchFamily="34" charset="-120"/>
                        </a:rPr>
                        <a:t>ResNet</a:t>
                      </a:r>
                      <a:endParaRPr lang="en-US" sz="700" dirty="0">
                        <a:latin typeface="Times New Roman" charset="0"/>
                        <a:ea typeface="Times New Roman" charset="0"/>
                        <a:cs typeface="Times New Roman" charset="0"/>
                      </a:endParaRPr>
                    </a:p>
                  </a:txBody>
                  <a:tcPr marL="41148" marR="41148" marT="13716" marB="13716"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marL="0" indent="0">
                        <a:buNone/>
                      </a:pPr>
                      <a:r>
                        <a:rPr lang="en-US" sz="700" dirty="0">
                          <a:solidFill>
                            <a:srgbClr val="000000"/>
                          </a:solidFill>
                          <a:latin typeface="Times New Roman" pitchFamily="34" charset="0"/>
                          <a:ea typeface="Times New Roman" pitchFamily="34" charset="-122"/>
                          <a:cs typeface="Times New Roman" pitchFamily="34" charset="-120"/>
                        </a:rPr>
                        <a:t>Comparative architecture</a:t>
                      </a:r>
                      <a:endParaRPr lang="en-US" sz="700" dirty="0">
                        <a:latin typeface="Times New Roman" charset="0"/>
                        <a:ea typeface="Times New Roman" charset="0"/>
                        <a:cs typeface="Times New Roman" charset="0"/>
                      </a:endParaRPr>
                    </a:p>
                  </a:txBody>
                  <a:tcPr marL="41148" marR="41148" marT="13716" marB="13716"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marL="0" indent="0">
                        <a:buNone/>
                      </a:pPr>
                      <a:r>
                        <a:rPr lang="en-US" sz="700" dirty="0">
                          <a:solidFill>
                            <a:srgbClr val="000000"/>
                          </a:solidFill>
                          <a:latin typeface="Times New Roman" pitchFamily="34" charset="0"/>
                          <a:ea typeface="Times New Roman" pitchFamily="34" charset="-122"/>
                          <a:cs typeface="Times New Roman" pitchFamily="34" charset="-120"/>
                        </a:rPr>
                        <a:t>Candidate</a:t>
                      </a:r>
                      <a:endParaRPr lang="en-US" sz="700" dirty="0">
                        <a:latin typeface="Times New Roman" charset="0"/>
                        <a:ea typeface="Times New Roman" charset="0"/>
                        <a:cs typeface="Times New Roman" charset="0"/>
                      </a:endParaRPr>
                    </a:p>
                  </a:txBody>
                  <a:tcPr marL="41148" marR="41148" marT="13716" marB="13716"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3"/>
                  </a:ext>
                </a:extLst>
              </a:tr>
              <a:tr h="171450">
                <a:tc>
                  <a:txBody>
                    <a:bodyPr/>
                    <a:lstStyle/>
                    <a:p>
                      <a:pPr marL="0" indent="0">
                        <a:buNone/>
                      </a:pPr>
                      <a:r>
                        <a:rPr lang="en-US" sz="700" b="1" dirty="0">
                          <a:solidFill>
                            <a:srgbClr val="000000"/>
                          </a:solidFill>
                          <a:latin typeface="Times New Roman" pitchFamily="34" charset="0"/>
                          <a:ea typeface="Times New Roman" pitchFamily="34" charset="-122"/>
                          <a:cs typeface="Times New Roman" pitchFamily="34" charset="-120"/>
                        </a:rPr>
                        <a:t>Transformer-based</a:t>
                      </a:r>
                      <a:endParaRPr lang="en-US" sz="700" dirty="0">
                        <a:latin typeface="Times New Roman" charset="0"/>
                        <a:ea typeface="Times New Roman" charset="0"/>
                        <a:cs typeface="Times New Roman" charset="0"/>
                      </a:endParaRPr>
                    </a:p>
                  </a:txBody>
                  <a:tcPr marL="41148" marR="41148" marT="13716" marB="13716"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marL="0" indent="0">
                        <a:buNone/>
                      </a:pPr>
                      <a:r>
                        <a:rPr lang="en-US" sz="700" dirty="0">
                          <a:solidFill>
                            <a:srgbClr val="000000"/>
                          </a:solidFill>
                          <a:latin typeface="Times New Roman" pitchFamily="34" charset="0"/>
                          <a:ea typeface="Times New Roman" pitchFamily="34" charset="-122"/>
                          <a:cs typeface="Times New Roman" pitchFamily="34" charset="-120"/>
                        </a:rPr>
                        <a:t>Candidate architecture</a:t>
                      </a:r>
                      <a:endParaRPr lang="en-US" sz="700" dirty="0">
                        <a:latin typeface="Times New Roman" charset="0"/>
                        <a:ea typeface="Times New Roman" charset="0"/>
                        <a:cs typeface="Times New Roman" charset="0"/>
                      </a:endParaRPr>
                    </a:p>
                  </a:txBody>
                  <a:tcPr marL="41148" marR="41148" marT="13716" marB="13716"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marL="0" indent="0">
                        <a:buNone/>
                      </a:pPr>
                      <a:r>
                        <a:rPr lang="en-US" sz="700" dirty="0">
                          <a:solidFill>
                            <a:srgbClr val="000000"/>
                          </a:solidFill>
                          <a:latin typeface="Times New Roman" pitchFamily="34" charset="0"/>
                          <a:ea typeface="Times New Roman" pitchFamily="34" charset="-122"/>
                          <a:cs typeface="Times New Roman" pitchFamily="34" charset="-120"/>
                        </a:rPr>
                        <a:t>Considered</a:t>
                      </a:r>
                      <a:endParaRPr lang="en-US" sz="700" dirty="0">
                        <a:latin typeface="Times New Roman" charset="0"/>
                        <a:ea typeface="Times New Roman" charset="0"/>
                        <a:cs typeface="Times New Roman" charset="0"/>
                      </a:endParaRPr>
                    </a:p>
                  </a:txBody>
                  <a:tcPr marL="41148" marR="41148" marT="13716" marB="13716"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4"/>
                  </a:ext>
                </a:extLst>
              </a:tr>
              <a:tr h="171450">
                <a:tc>
                  <a:txBody>
                    <a:bodyPr/>
                    <a:lstStyle/>
                    <a:p>
                      <a:pPr marL="0" indent="0">
                        <a:buNone/>
                      </a:pPr>
                      <a:r>
                        <a:rPr lang="en-US" sz="700" b="1" dirty="0">
                          <a:solidFill>
                            <a:srgbClr val="000000"/>
                          </a:solidFill>
                          <a:latin typeface="Times New Roman" pitchFamily="34" charset="0"/>
                          <a:ea typeface="Times New Roman" pitchFamily="34" charset="-122"/>
                          <a:cs typeface="Times New Roman" pitchFamily="34" charset="-120"/>
                        </a:rPr>
                        <a:t>Ensemble of selected models</a:t>
                      </a:r>
                      <a:endParaRPr lang="en-US" sz="700" dirty="0">
                        <a:latin typeface="Times New Roman" charset="0"/>
                        <a:ea typeface="Times New Roman" charset="0"/>
                        <a:cs typeface="Times New Roman" charset="0"/>
                      </a:endParaRPr>
                    </a:p>
                  </a:txBody>
                  <a:tcPr marL="41148" marR="41148" marT="13716" marB="13716"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marL="0" indent="0">
                        <a:buNone/>
                      </a:pPr>
                      <a:r>
                        <a:rPr lang="en-US" sz="700" dirty="0">
                          <a:solidFill>
                            <a:srgbClr val="000000"/>
                          </a:solidFill>
                          <a:latin typeface="Times New Roman" pitchFamily="34" charset="0"/>
                          <a:ea typeface="Times New Roman" pitchFamily="34" charset="-122"/>
                          <a:cs typeface="Times New Roman" pitchFamily="34" charset="-120"/>
                        </a:rPr>
                        <a:t>Proposed model</a:t>
                      </a:r>
                      <a:endParaRPr lang="en-US" sz="700" dirty="0">
                        <a:latin typeface="Times New Roman" charset="0"/>
                        <a:ea typeface="Times New Roman" charset="0"/>
                        <a:cs typeface="Times New Roman" charset="0"/>
                      </a:endParaRPr>
                    </a:p>
                  </a:txBody>
                  <a:tcPr marL="41148" marR="41148" marT="13716" marB="13716"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marL="0" indent="0">
                        <a:buNone/>
                      </a:pPr>
                      <a:r>
                        <a:rPr lang="en-US" sz="700" dirty="0">
                          <a:solidFill>
                            <a:srgbClr val="000000"/>
                          </a:solidFill>
                          <a:latin typeface="Times New Roman" pitchFamily="34" charset="0"/>
                          <a:ea typeface="Times New Roman" pitchFamily="34" charset="-122"/>
                          <a:cs typeface="Times New Roman" pitchFamily="34" charset="-120"/>
                        </a:rPr>
                        <a:t>Proposed</a:t>
                      </a:r>
                      <a:endParaRPr lang="en-US" sz="700" dirty="0">
                        <a:latin typeface="Times New Roman" charset="0"/>
                        <a:ea typeface="Times New Roman" charset="0"/>
                        <a:cs typeface="Times New Roman" charset="0"/>
                      </a:endParaRPr>
                    </a:p>
                  </a:txBody>
                  <a:tcPr marL="41148" marR="41148" marT="13716" marB="13716"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5"/>
                  </a:ext>
                </a:extLst>
              </a:tr>
            </a:tbl>
          </a:graphicData>
        </a:graphic>
      </p:graphicFrame>
    </p:spTree>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2013 - 2022"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 2013 - 2022</Template>
  <TotalTime>1384</TotalTime>
  <Words>6172</Words>
  <Application>Microsoft Office PowerPoint</Application>
  <PresentationFormat>On-screen Show (4:3)</PresentationFormat>
  <Paragraphs>860</Paragraphs>
  <Slides>44</Slides>
  <Notes>14</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44</vt:i4>
      </vt:variant>
    </vt:vector>
  </HeadingPairs>
  <TitlesOfParts>
    <vt:vector size="51" baseType="lpstr">
      <vt:lpstr>Arial</vt:lpstr>
      <vt:lpstr>Calibri</vt:lpstr>
      <vt:lpstr>Calibri Light</vt:lpstr>
      <vt:lpstr>Calisto MT</vt:lpstr>
      <vt:lpstr>Cambria Math</vt:lpstr>
      <vt:lpstr>Times New Roman</vt:lpstr>
      <vt:lpstr>Office Theme</vt:lpstr>
      <vt:lpstr>Abstention-Aware Plant Disease Recognition Using Diverse Deep Ensembles and Agentic Evidence Retrieval</vt:lpstr>
      <vt:lpstr>Abstract</vt:lpstr>
      <vt:lpstr>Keywords:</vt:lpstr>
      <vt:lpstr>1. Research Domain</vt:lpstr>
      <vt:lpstr>2. SDG Categories</vt:lpstr>
      <vt:lpstr>3. Aim and Motivation</vt:lpstr>
      <vt:lpstr>4. Research Questions</vt:lpstr>
      <vt:lpstr>5. Title Justification</vt:lpstr>
      <vt:lpstr>6. Objectives</vt:lpstr>
      <vt:lpstr>7. Scope</vt:lpstr>
      <vt:lpstr>8. Timeline Chart</vt:lpstr>
      <vt:lpstr>9. Project Outcomes</vt:lpstr>
      <vt:lpstr>10.1 Study on Existing Technologies  </vt:lpstr>
      <vt:lpstr>10.2 Study on Existing Technologies  </vt:lpstr>
      <vt:lpstr>10.3 Study on Existing Technologies  </vt:lpstr>
      <vt:lpstr>10.4 Study on Existing Technologies  </vt:lpstr>
      <vt:lpstr>10.5 Study on Existing Technologies  </vt:lpstr>
      <vt:lpstr>10.6 Study on Existing Technologies  </vt:lpstr>
      <vt:lpstr>10.7 Study on Existing Technologies  </vt:lpstr>
      <vt:lpstr>10.8 Study on Existing Technologies  </vt:lpstr>
      <vt:lpstr>10.9 Study on Existing Technologies  </vt:lpstr>
      <vt:lpstr>10.10 Study on Existing Technologies  </vt:lpstr>
      <vt:lpstr>10.11 Study on Existing Technologies  </vt:lpstr>
      <vt:lpstr>10.12 Study on Existing Technologies  </vt:lpstr>
      <vt:lpstr>PowerPoint Presentation</vt:lpstr>
      <vt:lpstr>PowerPoint Presentation</vt:lpstr>
      <vt:lpstr>PowerPoint Presentation</vt:lpstr>
      <vt:lpstr>PowerPoint Presentation</vt:lpstr>
      <vt:lpstr>11. Gap Analysis</vt:lpstr>
      <vt:lpstr>PowerPoint Presentation</vt:lpstr>
      <vt:lpstr>13.1. Use Case Diagram</vt:lpstr>
      <vt:lpstr>13.2. Sequence Diagram</vt:lpstr>
      <vt:lpstr>13.3. Activity Diagram</vt:lpstr>
      <vt:lpstr>PowerPoint Presentation</vt:lpstr>
      <vt:lpstr>PowerPoint Presentation</vt:lpstr>
      <vt:lpstr>PowerPoint Presentation</vt:lpstr>
      <vt:lpstr>16.1 Data Preparation</vt:lpstr>
      <vt:lpstr>16.2 Data Preparation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Title of the Project</dc:title>
  <dc:creator>ashutosh satapathy</dc:creator>
  <cp:lastModifiedBy>Shaik Irfan</cp:lastModifiedBy>
  <cp:revision>369</cp:revision>
  <cp:lastPrinted>2026-08-08T03:45:19Z</cp:lastPrinted>
  <dcterms:created xsi:type="dcterms:W3CDTF">2023-03-25T12:51:43Z</dcterms:created>
  <dcterms:modified xsi:type="dcterms:W3CDTF">2026-09-28T22:49:38Z</dcterms:modified>
</cp:coreProperties>
</file>